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Frame the course in one line: you all have access to ChatGPT Enterprise and Claude — this 20-minute course is the bridge between having access and using AI well on real BJ's work. Say explicitly: this course is NOT about prompt wording. Prompt Engineering Essentials follows it. Today is about the thinking that happens before and after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objectives aloud — they are the contract for the next 20 minutes. Point out that objective 4 is the real one: the first three are steps, the fourth is the habit. The closing slide maps back to these one-to-one.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of the whole course lives on this slide: AI value comes from rethinking the work, not from clever wording. Introduce Maria — club manager, renewals proposal. One deliberate choice: a club-level example, so club teams see themselves in it; the loop applies identically to HQ analyst work. If asked why renewals: it's real, it's cross-functional, and everyone understands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raises the question on purpose and refuses to answer it yet. Ask who has typed something like the left side and been underwhelmed (most hands). Then point at the right side and say the quiet part out loud: 'Right now this looks like magic. Good — hold that. By the end of this course you'll watch her do it step by step, and you'll see there's no trick, just three habits.' Do NOT explain how here; the whole course is the answer, and the full worked example lands on the put-it-together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course — everything that follows is one of these three steps, and it genuinely loops: point at the return arrow and say a failed check isn't the end, it's a trip back to the conversation with what you now know. Note the small gate under 'your task' — before HOW comes WHETHER, and that's the very next slide. Say the subtitle out loud; it's the one sentence to remember if they remember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the start of Step 1: before HOW comes WHETHER. Three tests, ten seconds. Say the Maria line out loud — her proposal clears all three fast, and that's the point: for most everyday tasks the gate is a formality; the three examples on the cards are the tasks where it isn't. This aligns with the Delegation idea in Anthropic's AI Fluency framework — deciding whether, when, and how to engage AI — but keep the framework name in your pocket unless asked; the provenance appendix covers it. On the data test: point people to BJ's data guidance on the AI Hub rather than reciting rules from memory. Important nuance: a yes usually means AI can still help you think, but the task and the decision stay visibly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thirty seconds, before the tool is even open. Emphasize question 3: context is the single biggest driver of output quality, and it's the part only the human has. Emphasize question 5: deciding up front which parts need your judgment is what prevents quietly outsourcing the whole task. These questions work on any task — a report, a schedule, a member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transformation slowly — this is the quiet hero of the course. Nothing has been typed into any AI tool yet, and the task is already ten times better. Point at the card: those four lines ARE the answers to the five questions. Portability line for the room: this works on anything — budgets, schedules, planogram questions,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roles, grouped in three families so they're holdable: see, shape, test. Don't ask the room to memorize seven — ask them to remember the three families and that a menu exists. The teaching point is the bottom line: ‘write it for me’ is one role out of seven, and it's the default people reach for even when the task calls for another. The next two slides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is what most of the room does today — and note it FEELS productive because the output looks polished. That polish is the trap: it's generic and it isn't hers. On the right, Maria picks the generate-options role and feeds it her actual context, so the options are about HER club. She chooses three. Don't cover the pushback here — that's the next slide's move, and the parenthetical on the note line tees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course changes one behavior, make it this one. Ask the room: when did you last ask AI to disagree with you? (Almost never.) The agreeable default is a property of how these tools are built — not a flaw you can prompt away, but one you can counter by explicitly requesting opposition. If someone sharp notes that Maria already mentioned her weekend staffing as context: exactly right — the AI didn't discover the staffing, it connected her stated constraint to the option she liked most. That connection is what pressure-testing produces, and it's the kind of collision that's obvious in hindsight and invisible in enthusiasm.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v1.4 — this closes the story gap between choosing options and 'Maria's draft' appearing on the next slides. Two beats: she acts on the pushback (swaps the staffing-dependent option), then asks AI to write. The teaching point is timing, not prohibition: 'write it for me' isn't a bad move — it's a bad OPENING move. After the thinking, drafting is exactly what AI is for, because the draft is assembled from her thinking, not instead of it. The card is the whole conversation as a thread — useful for anyone who lost the plot. End on 'hold that thought' — it hands off to the confidence trap two slides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checks before anything ships. Check 4 is the one nobody knows: you can literally ask the tool what it assumed, and it will tell you — one of the highest-value questions in all of AI use. Check 5 is the accountability line: AI never owns an outcome at BJ's; a person does. This connects to the responsible-use guidance on the AI Hub — same principle, applied at the moment of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v1.1 and evidence-backed: Lee et al., 2025, Microsoft Research and Carnegie Mellon, 'The Impact of Generative AI on Critical Thinking' — a survey of 319 knowledge workers with 936 real examples. Higher confidence in GenAI predicted less critical thinking; higher self-confidence predicted more. Say the reframe explicitly: this course's biggest beneficiaries are the room's HEAVIEST AI users, not its skeptics. Full citation is in the appendix. If someone asks whether AI makes you worse at thinking: the honest answer is that unscrutinized use is associated with less critical thinking — which is scrutiny's case, not abstinence's.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catches, deliberately different in kind: one is a factual/policy error (the discount), one is a hidden assumption (auto-renewal) that silently reshaped the whole answer. Key line to say aloud since it's no longer on the slide: no prompt, however well written, would have caught these — so the next course won't fix them either; only the human check does. Then the loop-back is now ON the slide in her own words — point at it and connect it to the return arrow on the loop map: this is that arrow, happening. Then read the standard on the card; it's the course's ethical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promise made on the problem slide — say so explicitly: 'Remember the slide that looked like magic? This is her doing it, step by step. No trick.' Assemble the whole running example end to end. The loop must feel lighter than the work it saves. If running live with time to spare, this is the slide to pause on and take a volunteer's real task through the three steps verbally.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card back to the objectives slide explicitly — the loop is closed. Screenshot moment: tell the room this slide plus the loop slide are the two to keep. Both live on the AI Hub with the self-read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assignment, deliberately small: one task, one loop, this week. The write-it-down moment is live practice — give the room 90 seconds of actual silence to write; a task named on paper is far more likely to get the rep than a good intention. If self-read, the instruction works as-is. Trail the next course: this one taught judgment (where AI fits); Prompt Engineering Essentials teaches execution (how to phrase it). Close with pointers: the AI Hub for the self-read deck and the loop card; your AI Champion for help picking a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 skip live. The single page behind it exists for credibility: it shows the course's structure and key claims trace to published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Self-read provenance page — skip live unless someone challenges the course's grounding, in which case this is your answer: the structure maps to Anthropic's published framework and the key claim is peer-reviewed research, with links learners can check themselves. The AI Fluency course is also the recommended deeper path for AI Champions.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BJ'S AI ENABLEMENT · CORE COURSE</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Thinking with AI</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How to decide where and how AI fits into your work — before the prompting starts. For ChatGPT and Claude, on real BJ's 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Decide if and how AI fits a task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Three quick tests, then five questions that make the task clear.</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Choose the role AI should play</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Seven roles — and why that choice matters more than the wording.</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Check AI's output before you act on it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Five checks to run before anything ships.</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Run the full loop on your own work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Think → Partner → Decide, in about two minutes.</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OBJECTIVES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COURSE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AI value doesn't come from typing better prompts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Having access to ChatGPT and Claude is not the same as knowing how to use them on real BJ's work.</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value comes from rethinking the work itself: getting clear on the outcome, deciding what AI should help with, and applying your own judgment before anything ships.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Research backs this up: in a large study of AI users at work, the more people trusted the AI, the less critical thinking they applied to its output. This course is the countermeasure. Prompt wording matters too — and it has its own course next.</a:t>
            </a:r>
            <a:endParaRPr lang="en-US" sz="1650" dirty="0"/>
          </a:p>
        </p:txBody>
      </p:sp>
      <p:sp>
        <p:nvSpPr>
          <p:cNvPr id="7" name="Shape 4"/>
          <p:cNvSpPr/>
          <p:nvPr/>
        </p:nvSpPr>
        <p:spPr>
          <a:xfrm>
            <a:off x="7269480" y="2103120"/>
            <a:ext cx="4251960" cy="3200400"/>
          </a:xfrm>
          <a:prstGeom prst="roundRect">
            <a:avLst>
              <a:gd name="adj" fmla="val 2571"/>
            </a:avLst>
          </a:prstGeom>
          <a:solidFill>
            <a:srgbClr val="FCE4EA"/>
          </a:solidFill>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OUR RUNNING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Maria manages a BJ's club. Her regional manager asked her to propose how her club can improve membership renewals.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One real task — we'll follow it through the whole course.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WHY IT MATTERS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PROBLEM — AND WHERE WE'RE GOING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Two people, same tool, same task — different results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TYPE FIRST, THINK NEVER</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“Give me ideas to improve membership renewals.”</a:t>
            </a:r>
            <a:endParaRPr lang="en-US" sz="1300" dirty="0"/>
          </a:p>
        </p:txBody>
      </p:sp>
      <p:sp>
        <p:nvSpPr>
          <p:cNvPr id="9" name="Text 6"/>
          <p:cNvSpPr/>
          <p:nvPr/>
        </p:nvSpPr>
        <p:spPr>
          <a:xfrm>
            <a:off x="914400" y="32918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Five generic bullets any retailer could get: better service, reminder emails, loyalty rewards…</a:t>
            </a:r>
            <a:endParaRPr lang="en-US" sz="140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Nothing about her club, her members, or what's already been tried.</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THE SAME PERSON, AFTER THIS COURSE</a:t>
            </a:r>
            <a:endParaRPr lang="en-US" sz="1100" dirty="0"/>
          </a:p>
        </p:txBody>
      </p:sp>
      <p:sp>
        <p:nvSpPr>
          <p:cNvPr id="14" name="Text 11"/>
          <p:cNvSpPr/>
          <p:nvPr/>
        </p:nvSpPr>
        <p:spPr>
          <a:xfrm>
            <a:off x="649224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Same task — but she clarified the outcome, chose AI's role, and checked the output.</a:t>
            </a:r>
            <a:endParaRPr lang="en-US" sz="1300" dirty="0"/>
          </a:p>
        </p:txBody>
      </p:sp>
      <p:sp>
        <p:nvSpPr>
          <p:cNvPr id="15" name="Text 12"/>
          <p:cNvSpPr/>
          <p:nvPr/>
        </p:nvSpPr>
        <p:spPr>
          <a:xfrm>
            <a:off x="6492240" y="32918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6" name="Text 13"/>
          <p:cNvSpPr/>
          <p:nvPr/>
        </p:nvSpPr>
        <p:spPr>
          <a:xfrm>
            <a:off x="649224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Three specific actions for her club's next 90 days — with the weak spots already found.</a:t>
            </a:r>
            <a:endParaRPr lang="en-US" sz="1400" dirty="0"/>
          </a:p>
        </p:txBody>
      </p:sp>
      <p:sp>
        <p:nvSpPr>
          <p:cNvPr id="17" name="Text 14"/>
          <p:cNvSpPr/>
          <p:nvPr/>
        </p:nvSpPr>
        <p:spPr>
          <a:xfrm>
            <a:off x="6492240" y="502920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How? That's the next 25 minutes — three steps, nothing magic.</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THE PROBLEM</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HABIT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AI Thinking Loop</a:t>
            </a:r>
            <a:endParaRPr lang="en-US" sz="3000" dirty="0"/>
          </a:p>
        </p:txBody>
      </p:sp>
      <p:sp>
        <p:nvSpPr>
          <p:cNvPr id="6" name="Shape 3"/>
          <p:cNvSpPr/>
          <p:nvPr/>
        </p:nvSpPr>
        <p:spPr>
          <a:xfrm>
            <a:off x="640080" y="2743200"/>
            <a:ext cx="1737360" cy="1371600"/>
          </a:xfrm>
          <a:prstGeom prst="roundRect">
            <a:avLst>
              <a:gd name="adj" fmla="val 6000"/>
            </a:avLst>
          </a:prstGeom>
          <a:solidFill>
            <a:srgbClr val="F5F6F8"/>
          </a:solidFill>
          <a:ln w="12700">
            <a:solidFill>
              <a:srgbClr val="E7E9EE"/>
            </a:solidFill>
            <a:prstDash val="solid"/>
          </a:ln>
        </p:spPr>
      </p:sp>
      <p:sp>
        <p:nvSpPr>
          <p:cNvPr id="7" name="Text 4"/>
          <p:cNvSpPr/>
          <p:nvPr/>
        </p:nvSpPr>
        <p:spPr>
          <a:xfrm>
            <a:off x="640080" y="2743200"/>
            <a:ext cx="1737360" cy="1371600"/>
          </a:xfrm>
          <a:prstGeom prst="rect">
            <a:avLst/>
          </a:prstGeom>
          <a:noFill/>
          <a:ln/>
        </p:spPr>
        <p:txBody>
          <a:bodyPr wrap="square" lIns="0" tIns="0" rIns="0" bIns="0" rtlCol="0" anchor="ctr"/>
          <a:lstStyle/>
          <a:p>
            <a:pPr algn="ctr" indent="0" marL="0">
              <a:buNone/>
            </a:pPr>
            <a:r>
              <a:rPr lang="en-US" sz="1300" b="1" dirty="0">
                <a:solidFill>
                  <a:srgbClr val="3A4452"/>
                </a:solidFill>
                <a:latin typeface="Arial" pitchFamily="34" charset="0"/>
                <a:ea typeface="Arial" pitchFamily="34" charset="-122"/>
                <a:cs typeface="Arial" pitchFamily="34" charset="-120"/>
              </a:rPr>
              <a:t>YOUR TASK</a:t>
            </a:r>
            <a:endParaRPr lang="en-US" sz="1300" dirty="0"/>
          </a:p>
        </p:txBody>
      </p:sp>
      <p:sp>
        <p:nvSpPr>
          <p:cNvPr id="8" name="Shape 5"/>
          <p:cNvSpPr/>
          <p:nvPr/>
        </p:nvSpPr>
        <p:spPr>
          <a:xfrm>
            <a:off x="10058400" y="2743200"/>
            <a:ext cx="1508760" cy="1371600"/>
          </a:xfrm>
          <a:prstGeom prst="roundRect">
            <a:avLst>
              <a:gd name="adj" fmla="val 6000"/>
            </a:avLst>
          </a:prstGeom>
          <a:solidFill>
            <a:srgbClr val="DCFCE7"/>
          </a:solidFill>
          <a:ln/>
        </p:spPr>
      </p:sp>
      <p:sp>
        <p:nvSpPr>
          <p:cNvPr id="9" name="Text 6"/>
          <p:cNvSpPr/>
          <p:nvPr/>
        </p:nvSpPr>
        <p:spPr>
          <a:xfrm>
            <a:off x="10058400" y="2743200"/>
            <a:ext cx="1508760" cy="1371600"/>
          </a:xfrm>
          <a:prstGeom prst="rect">
            <a:avLst/>
          </a:prstGeom>
          <a:noFill/>
          <a:ln/>
        </p:spPr>
        <p:txBody>
          <a:bodyPr wrap="square" lIns="0" tIns="0" rIns="0" bIns="0" rtlCol="0" anchor="ctr"/>
          <a:lstStyle/>
          <a:p>
            <a:pPr algn="ctr" indent="0" marL="0">
              <a:lnSpc>
                <a:spcPct val="105000"/>
              </a:lnSpc>
              <a:buNone/>
            </a:pPr>
            <a:r>
              <a:rPr lang="en-US" sz="1250" b="1" dirty="0">
                <a:solidFill>
                  <a:srgbClr val="15803D"/>
                </a:solidFill>
                <a:latin typeface="Arial" pitchFamily="34" charset="0"/>
                <a:ea typeface="Arial" pitchFamily="34" charset="-122"/>
                <a:cs typeface="Arial" pitchFamily="34" charset="-120"/>
              </a:rPr>
              <a:t>BETTER</a:t>
            </a:r>
            <a:endParaRPr lang="en-US" sz="1250" dirty="0"/>
          </a:p>
          <a:p>
            <a:pPr algn="ctr" indent="0" marL="0">
              <a:lnSpc>
                <a:spcPct val="105000"/>
              </a:lnSpc>
              <a:buNone/>
            </a:pPr>
            <a:r>
              <a:rPr lang="en-US" sz="1250" b="1" dirty="0">
                <a:solidFill>
                  <a:srgbClr val="15803D"/>
                </a:solidFill>
                <a:latin typeface="Arial" pitchFamily="34" charset="0"/>
                <a:ea typeface="Arial" pitchFamily="34" charset="-122"/>
                <a:cs typeface="Arial" pitchFamily="34" charset="-120"/>
              </a:rPr>
              <a:t>OUTCOME</a:t>
            </a:r>
            <a:endParaRPr lang="en-US" sz="1250" dirty="0"/>
          </a:p>
        </p:txBody>
      </p:sp>
      <p:sp>
        <p:nvSpPr>
          <p:cNvPr id="10" name="Shape 7"/>
          <p:cNvSpPr/>
          <p:nvPr/>
        </p:nvSpPr>
        <p:spPr>
          <a:xfrm>
            <a:off x="278892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1" name="Text 8"/>
          <p:cNvSpPr/>
          <p:nvPr/>
        </p:nvSpPr>
        <p:spPr>
          <a:xfrm>
            <a:off x="278892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1. THINK</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Get clear on</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the task</a:t>
            </a:r>
            <a:endParaRPr lang="en-US" sz="1600" dirty="0"/>
          </a:p>
        </p:txBody>
      </p:sp>
      <p:sp>
        <p:nvSpPr>
          <p:cNvPr id="12" name="Shape 9"/>
          <p:cNvSpPr/>
          <p:nvPr/>
        </p:nvSpPr>
        <p:spPr>
          <a:xfrm>
            <a:off x="534924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3" name="Text 10"/>
          <p:cNvSpPr/>
          <p:nvPr/>
        </p:nvSpPr>
        <p:spPr>
          <a:xfrm>
            <a:off x="534924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2. PARTNER</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Choose the role</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AI plays</a:t>
            </a:r>
            <a:endParaRPr lang="en-US" sz="1600" dirty="0"/>
          </a:p>
        </p:txBody>
      </p:sp>
      <p:sp>
        <p:nvSpPr>
          <p:cNvPr id="14" name="Shape 11"/>
          <p:cNvSpPr/>
          <p:nvPr/>
        </p:nvSpPr>
        <p:spPr>
          <a:xfrm>
            <a:off x="790956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5" name="Text 12"/>
          <p:cNvSpPr/>
          <p:nvPr/>
        </p:nvSpPr>
        <p:spPr>
          <a:xfrm>
            <a:off x="790956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3. DECIDE</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Apply your</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judgment</a:t>
            </a:r>
            <a:endParaRPr lang="en-US" sz="1600" dirty="0"/>
          </a:p>
        </p:txBody>
      </p:sp>
      <p:sp>
        <p:nvSpPr>
          <p:cNvPr id="16" name="Shape 13"/>
          <p:cNvSpPr/>
          <p:nvPr/>
        </p:nvSpPr>
        <p:spPr>
          <a:xfrm>
            <a:off x="2395728" y="3429000"/>
            <a:ext cx="374904" cy="0"/>
          </a:xfrm>
          <a:prstGeom prst="line">
            <a:avLst/>
          </a:prstGeom>
          <a:noFill/>
          <a:ln w="28575">
            <a:solidFill>
              <a:srgbClr val="3A4452"/>
            </a:solidFill>
            <a:prstDash val="solid"/>
            <a:tailEnd type="triangle"/>
          </a:ln>
        </p:spPr>
      </p:sp>
      <p:sp>
        <p:nvSpPr>
          <p:cNvPr id="17" name="Shape 14"/>
          <p:cNvSpPr/>
          <p:nvPr/>
        </p:nvSpPr>
        <p:spPr>
          <a:xfrm>
            <a:off x="4873752" y="3429000"/>
            <a:ext cx="457200" cy="0"/>
          </a:xfrm>
          <a:prstGeom prst="line">
            <a:avLst/>
          </a:prstGeom>
          <a:noFill/>
          <a:ln w="28575">
            <a:solidFill>
              <a:srgbClr val="3A4452"/>
            </a:solidFill>
            <a:prstDash val="solid"/>
            <a:tailEnd type="triangle"/>
          </a:ln>
        </p:spPr>
      </p:sp>
      <p:sp>
        <p:nvSpPr>
          <p:cNvPr id="18" name="Shape 15"/>
          <p:cNvSpPr/>
          <p:nvPr/>
        </p:nvSpPr>
        <p:spPr>
          <a:xfrm>
            <a:off x="7434072" y="3429000"/>
            <a:ext cx="457200" cy="0"/>
          </a:xfrm>
          <a:prstGeom prst="line">
            <a:avLst/>
          </a:prstGeom>
          <a:noFill/>
          <a:ln w="28575">
            <a:solidFill>
              <a:srgbClr val="3A4452"/>
            </a:solidFill>
            <a:prstDash val="solid"/>
            <a:tailEnd type="triangle"/>
          </a:ln>
        </p:spPr>
      </p:sp>
      <p:sp>
        <p:nvSpPr>
          <p:cNvPr id="19" name="Shape 16"/>
          <p:cNvSpPr/>
          <p:nvPr/>
        </p:nvSpPr>
        <p:spPr>
          <a:xfrm>
            <a:off x="9994392" y="3429000"/>
            <a:ext cx="347472" cy="0"/>
          </a:xfrm>
          <a:prstGeom prst="line">
            <a:avLst/>
          </a:prstGeom>
          <a:noFill/>
          <a:ln w="28575">
            <a:solidFill>
              <a:srgbClr val="3A4452"/>
            </a:solidFill>
            <a:prstDash val="solid"/>
            <a:tailEnd type="triangle"/>
          </a:ln>
        </p:spPr>
      </p:sp>
      <p:sp>
        <p:nvSpPr>
          <p:cNvPr id="20" name="Text 17"/>
          <p:cNvSpPr/>
          <p:nvPr/>
        </p:nvSpPr>
        <p:spPr>
          <a:xfrm>
            <a:off x="365760" y="4224528"/>
            <a:ext cx="2286000" cy="548640"/>
          </a:xfrm>
          <a:prstGeom prst="rect">
            <a:avLst/>
          </a:prstGeom>
          <a:noFill/>
          <a:ln/>
        </p:spPr>
        <p:txBody>
          <a:bodyPr wrap="square" lIns="0" tIns="0" rIns="0" bIns="0" rtlCol="0" anchor="ctr"/>
          <a:lstStyle/>
          <a:p>
            <a:pPr algn="ctr" indent="0" marL="0">
              <a:lnSpc>
                <a:spcPct val="110000"/>
              </a:lnSpc>
              <a:buNone/>
            </a:pPr>
            <a:r>
              <a:rPr lang="en-US" sz="1050" i="1" dirty="0">
                <a:solidFill>
                  <a:srgbClr val="5E6A78"/>
                </a:solidFill>
                <a:latin typeface="Arial" pitchFamily="34" charset="0"/>
                <a:ea typeface="Arial" pitchFamily="34" charset="-122"/>
                <a:cs typeface="Arial" pitchFamily="34" charset="-120"/>
              </a:rPr>
              <a:t>Step 1 starts here:</a:t>
            </a:r>
            <a:endParaRPr lang="en-US" sz="1050" dirty="0"/>
          </a:p>
          <a:p>
            <a:pPr algn="ctr" indent="0" marL="0">
              <a:lnSpc>
                <a:spcPct val="110000"/>
              </a:lnSpc>
              <a:buNone/>
            </a:pPr>
            <a:r>
              <a:rPr lang="en-US" sz="1050" i="1" dirty="0">
                <a:solidFill>
                  <a:srgbClr val="5E6A78"/>
                </a:solidFill>
                <a:latin typeface="Arial" pitchFamily="34" charset="0"/>
                <a:ea typeface="Arial" pitchFamily="34" charset="-122"/>
                <a:cs typeface="Arial" pitchFamily="34" charset="-120"/>
              </a:rPr>
              <a:t>should AI touch it at all?</a:t>
            </a:r>
            <a:endParaRPr lang="en-US" sz="1050" dirty="0"/>
          </a:p>
        </p:txBody>
      </p:sp>
      <p:sp>
        <p:nvSpPr>
          <p:cNvPr id="21" name="Shape 18"/>
          <p:cNvSpPr/>
          <p:nvPr/>
        </p:nvSpPr>
        <p:spPr>
          <a:xfrm>
            <a:off x="8942832" y="4553712"/>
            <a:ext cx="0" cy="329184"/>
          </a:xfrm>
          <a:prstGeom prst="line">
            <a:avLst/>
          </a:prstGeom>
          <a:noFill/>
          <a:ln w="22225">
            <a:solidFill>
              <a:srgbClr val="5E6A78"/>
            </a:solidFill>
            <a:prstDash val="solid"/>
          </a:ln>
        </p:spPr>
      </p:sp>
      <p:sp>
        <p:nvSpPr>
          <p:cNvPr id="22" name="Shape 19"/>
          <p:cNvSpPr/>
          <p:nvPr/>
        </p:nvSpPr>
        <p:spPr>
          <a:xfrm>
            <a:off x="6382512" y="4882896"/>
            <a:ext cx="2560320" cy="0"/>
          </a:xfrm>
          <a:prstGeom prst="line">
            <a:avLst/>
          </a:prstGeom>
          <a:noFill/>
          <a:ln w="22225">
            <a:solidFill>
              <a:srgbClr val="5E6A78"/>
            </a:solidFill>
            <a:prstDash val="solid"/>
          </a:ln>
        </p:spPr>
      </p:sp>
      <p:sp>
        <p:nvSpPr>
          <p:cNvPr id="23" name="Shape 20"/>
          <p:cNvSpPr/>
          <p:nvPr/>
        </p:nvSpPr>
        <p:spPr>
          <a:xfrm>
            <a:off x="6382512" y="4553712"/>
            <a:ext cx="0" cy="329184"/>
          </a:xfrm>
          <a:prstGeom prst="line">
            <a:avLst/>
          </a:prstGeom>
          <a:noFill/>
          <a:ln w="22225">
            <a:solidFill>
              <a:srgbClr val="5E6A78"/>
            </a:solidFill>
            <a:prstDash val="solid"/>
            <a:headEnd type="triangle"/>
          </a:ln>
        </p:spPr>
      </p:sp>
      <p:sp>
        <p:nvSpPr>
          <p:cNvPr id="24" name="Text 21"/>
          <p:cNvSpPr/>
          <p:nvPr/>
        </p:nvSpPr>
        <p:spPr>
          <a:xfrm>
            <a:off x="6035040" y="4956048"/>
            <a:ext cx="3246120" cy="274320"/>
          </a:xfrm>
          <a:prstGeom prst="rect">
            <a:avLst/>
          </a:prstGeom>
          <a:noFill/>
          <a:ln/>
        </p:spPr>
        <p:txBody>
          <a:bodyPr wrap="square" lIns="0" tIns="0" rIns="0" bIns="0" rtlCol="0" anchor="ctr"/>
          <a:lstStyle/>
          <a:p>
            <a:pPr algn="ctr" indent="0" marL="0">
              <a:buNone/>
            </a:pPr>
            <a:r>
              <a:rPr lang="en-US" sz="1050" i="1" dirty="0">
                <a:solidFill>
                  <a:srgbClr val="5E6A78"/>
                </a:solidFill>
                <a:latin typeface="Arial" pitchFamily="34" charset="0"/>
                <a:ea typeface="Arial" pitchFamily="34" charset="-122"/>
                <a:cs typeface="Arial" pitchFamily="34" charset="-120"/>
              </a:rPr>
              <a:t>a failed check loops back to the conversation</a:t>
            </a:r>
            <a:endParaRPr lang="en-US" sz="1050" dirty="0"/>
          </a:p>
        </p:txBody>
      </p:sp>
      <p:sp>
        <p:nvSpPr>
          <p:cNvPr id="25" name="Text 22"/>
          <p:cNvSpPr/>
          <p:nvPr/>
        </p:nvSpPr>
        <p:spPr>
          <a:xfrm>
            <a:off x="640080" y="5440680"/>
            <a:ext cx="10881360" cy="457200"/>
          </a:xfrm>
          <a:prstGeom prst="rect">
            <a:avLst/>
          </a:prstGeom>
          <a:noFill/>
          <a:ln/>
        </p:spPr>
        <p:txBody>
          <a:bodyPr wrap="square" lIns="0" tIns="0" rIns="0" bIns="0" rtlCol="0" anchor="ctr"/>
          <a:lstStyle/>
          <a:p>
            <a:pPr algn="ctr" indent="0" marL="0">
              <a:buNone/>
            </a:pPr>
            <a:r>
              <a:rPr lang="en-US" sz="1500" i="1" dirty="0">
                <a:solidFill>
                  <a:srgbClr val="5E6A78"/>
                </a:solidFill>
                <a:latin typeface="Arial" pitchFamily="34" charset="0"/>
                <a:ea typeface="Arial" pitchFamily="34" charset="-122"/>
                <a:cs typeface="Arial" pitchFamily="34" charset="-120"/>
              </a:rPr>
              <a:t>Prompting starts after you understand the task, the role AI plays, and what stays yours.</a:t>
            </a:r>
            <a:endParaRPr lang="en-US" sz="1500" dirty="0"/>
          </a:p>
        </p:txBody>
      </p:sp>
      <p:sp>
        <p:nvSpPr>
          <p:cNvPr id="26" name="Text 2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THE LOOP</a:t>
            </a:r>
            <a:endParaRPr lang="en-US" sz="850" dirty="0"/>
          </a:p>
        </p:txBody>
      </p:sp>
      <p:sp>
        <p:nvSpPr>
          <p:cNvPr id="27" name="Text 2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THINK — FIRST, WHETHER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Should AI touch this task at all?</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high-stakes and hard to undo?</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termination, a member dispute, a safety call — some decisions are yours alone.</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your judgment the whole point?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If your reasoning and your name are the deliverable, AI can inform it — not make it.</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Does the data have rules?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Member, payroll, or confidential data — know BJ's data guidance before you paste.</a:t>
            </a:r>
            <a:endParaRPr lang="en-US" sz="1550" dirty="0"/>
          </a:p>
        </p:txBody>
      </p:sp>
      <p:sp>
        <p:nvSpPr>
          <p:cNvPr id="18" name="Text 12"/>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19" name="Text 1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0" name="Text 14"/>
          <p:cNvSpPr/>
          <p:nvPr/>
        </p:nvSpPr>
        <p:spPr>
          <a:xfrm>
            <a:off x="640080" y="5257800"/>
            <a:ext cx="10881360" cy="457200"/>
          </a:xfrm>
          <a:prstGeom prst="rect">
            <a:avLst/>
          </a:prstGeom>
          <a:noFill/>
          <a:ln/>
        </p:spPr>
        <p:txBody>
          <a:bodyPr wrap="square" lIns="0" tIns="0" rIns="0" bIns="0" rtlCol="0" anchor="ctr"/>
          <a:lstStyle/>
          <a:p>
            <a:pPr algn="ctr" indent="0" marL="0">
              <a:buNone/>
            </a:pPr>
            <a:r>
              <a:rPr lang="en-US" sz="1450" i="1" dirty="0">
                <a:solidFill>
                  <a:srgbClr val="3A4452"/>
                </a:solidFill>
                <a:latin typeface="Arial" pitchFamily="34" charset="0"/>
                <a:ea typeface="Arial" pitchFamily="34" charset="-122"/>
                <a:cs typeface="Arial" pitchFamily="34" charset="-120"/>
              </a:rPr>
              <a:t>Maria's proposal clears all three in ten seconds. When a test says yes, the task stays yours — for everything else, run the loop.</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THINK</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Get clear on the task — before you open AI</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outcome am I trying to produce?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decision? A proposal? Three options? Name it.</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Who is this for?</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Your regional manager reads differently than your team.</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context matters?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What only you know: your club, your members, what's been tried.</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does good look like?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Specific, doable, defensible — define it before you start.</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Which parts need my judgment?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What must come from you, no matter what AI says.</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Thirty seconds of thinking changed the task</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Maria ran her assignment through the five questions before opening ChatGPT or Claude.</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“Improve membership renewals” became: “Propose three actions my club can take in the next 90 days to lift renewals — for my regional manager, drawing on what I know about my members and what we tried last quarter.”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Vague task in, vague answers out. Clear task in, and everything downstream gets better — no clever wording required.</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TASK, CLARIFIED</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1F2733"/>
                </a:solidFill>
                <a:latin typeface="Arial" pitchFamily="34" charset="0"/>
                <a:ea typeface="Arial" pitchFamily="34" charset="-122"/>
                <a:cs typeface="Arial" pitchFamily="34" charset="-120"/>
              </a:rPr>
              <a:t>Outcome: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3 actions, 90 days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For: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her regional manager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Context: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renewal dip since spring; reminder-call push already tried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Her judgment: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which actions her team can actually run</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PARTNER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Decide what role AI should play</a:t>
            </a:r>
            <a:endParaRPr lang="en-US" sz="3000" dirty="0"/>
          </a:p>
        </p:txBody>
      </p:sp>
      <p:sp>
        <p:nvSpPr>
          <p:cNvPr id="6" name="Shape 3"/>
          <p:cNvSpPr/>
          <p:nvPr/>
        </p:nvSpPr>
        <p:spPr>
          <a:xfrm>
            <a:off x="640080" y="1965960"/>
            <a:ext cx="3566160" cy="3520440"/>
          </a:xfrm>
          <a:prstGeom prst="roundRect">
            <a:avLst>
              <a:gd name="adj" fmla="val 2338"/>
            </a:avLst>
          </a:prstGeom>
          <a:solidFill>
            <a:srgbClr val="F5F6F8"/>
          </a:solidFill>
          <a:ln w="12700">
            <a:solidFill>
              <a:srgbClr val="E7E9EE"/>
            </a:solidFill>
            <a:prstDash val="solid"/>
          </a:ln>
        </p:spPr>
      </p:sp>
      <p:sp>
        <p:nvSpPr>
          <p:cNvPr id="7" name="Text 4"/>
          <p:cNvSpPr/>
          <p:nvPr/>
        </p:nvSpPr>
        <p:spPr>
          <a:xfrm>
            <a:off x="91440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SEE</a:t>
            </a:r>
            <a:endParaRPr lang="en-US" sz="1250" dirty="0"/>
          </a:p>
        </p:txBody>
      </p:sp>
      <p:sp>
        <p:nvSpPr>
          <p:cNvPr id="8" name="Text 5"/>
          <p:cNvSpPr/>
          <p:nvPr/>
        </p:nvSpPr>
        <p:spPr>
          <a:xfrm>
            <a:off x="91440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Organize information</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Turn scattered notes into structure.</a:t>
            </a:r>
            <a:endParaRPr lang="en-US" sz="1400" dirty="0"/>
          </a:p>
        </p:txBody>
      </p:sp>
      <p:sp>
        <p:nvSpPr>
          <p:cNvPr id="9" name="Text 6"/>
          <p:cNvSpPr/>
          <p:nvPr/>
        </p:nvSpPr>
        <p:spPr>
          <a:xfrm>
            <a:off x="91440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Analyze patterns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What's changed? What stands out?</a:t>
            </a:r>
            <a:endParaRPr lang="en-US" sz="1400" dirty="0"/>
          </a:p>
        </p:txBody>
      </p:sp>
      <p:sp>
        <p:nvSpPr>
          <p:cNvPr id="10" name="Shape 7"/>
          <p:cNvSpPr/>
          <p:nvPr/>
        </p:nvSpPr>
        <p:spPr>
          <a:xfrm>
            <a:off x="4389120" y="1965960"/>
            <a:ext cx="3566160" cy="3520440"/>
          </a:xfrm>
          <a:prstGeom prst="roundRect">
            <a:avLst>
              <a:gd name="adj" fmla="val 2338"/>
            </a:avLst>
          </a:prstGeom>
          <a:solidFill>
            <a:srgbClr val="F5F6F8"/>
          </a:solidFill>
          <a:ln w="12700">
            <a:solidFill>
              <a:srgbClr val="E7E9EE"/>
            </a:solidFill>
            <a:prstDash val="solid"/>
          </a:ln>
        </p:spPr>
      </p:sp>
      <p:sp>
        <p:nvSpPr>
          <p:cNvPr id="11" name="Text 8"/>
          <p:cNvSpPr/>
          <p:nvPr/>
        </p:nvSpPr>
        <p:spPr>
          <a:xfrm>
            <a:off x="466344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SHAPE</a:t>
            </a:r>
            <a:endParaRPr lang="en-US" sz="1250" dirty="0"/>
          </a:p>
        </p:txBody>
      </p:sp>
      <p:sp>
        <p:nvSpPr>
          <p:cNvPr id="12" name="Text 9"/>
          <p:cNvSpPr/>
          <p:nvPr/>
        </p:nvSpPr>
        <p:spPr>
          <a:xfrm>
            <a:off x="466344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Clarify the problem</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“Ask me questions before you answer.”</a:t>
            </a:r>
            <a:endParaRPr lang="en-US" sz="1400" dirty="0"/>
          </a:p>
        </p:txBody>
      </p:sp>
      <p:sp>
        <p:nvSpPr>
          <p:cNvPr id="13" name="Text 10"/>
          <p:cNvSpPr/>
          <p:nvPr/>
        </p:nvSpPr>
        <p:spPr>
          <a:xfrm>
            <a:off x="466344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Generate options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Eight ideas beat one first draft.</a:t>
            </a:r>
            <a:endParaRPr lang="en-US" sz="1400" dirty="0"/>
          </a:p>
        </p:txBody>
      </p:sp>
      <p:sp>
        <p:nvSpPr>
          <p:cNvPr id="14" name="Text 11"/>
          <p:cNvSpPr/>
          <p:nvPr/>
        </p:nvSpPr>
        <p:spPr>
          <a:xfrm>
            <a:off x="4663440" y="4517136"/>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Improve a draft</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Tighten what you wrote — keep it yours.</a:t>
            </a:r>
            <a:endParaRPr lang="en-US" sz="1400" dirty="0"/>
          </a:p>
        </p:txBody>
      </p:sp>
      <p:sp>
        <p:nvSpPr>
          <p:cNvPr id="15" name="Shape 12"/>
          <p:cNvSpPr/>
          <p:nvPr/>
        </p:nvSpPr>
        <p:spPr>
          <a:xfrm>
            <a:off x="8138160" y="1965960"/>
            <a:ext cx="3566160" cy="3520440"/>
          </a:xfrm>
          <a:prstGeom prst="roundRect">
            <a:avLst>
              <a:gd name="adj" fmla="val 2338"/>
            </a:avLst>
          </a:prstGeom>
          <a:solidFill>
            <a:srgbClr val="F5F6F8"/>
          </a:solidFill>
          <a:ln w="12700">
            <a:solidFill>
              <a:srgbClr val="E7E9EE"/>
            </a:solidFill>
            <a:prstDash val="solid"/>
          </a:ln>
        </p:spPr>
      </p:sp>
      <p:sp>
        <p:nvSpPr>
          <p:cNvPr id="16" name="Text 13"/>
          <p:cNvSpPr/>
          <p:nvPr/>
        </p:nvSpPr>
        <p:spPr>
          <a:xfrm>
            <a:off x="841248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TEST</a:t>
            </a:r>
            <a:endParaRPr lang="en-US" sz="1250" dirty="0"/>
          </a:p>
        </p:txBody>
      </p:sp>
      <p:sp>
        <p:nvSpPr>
          <p:cNvPr id="17" name="Text 14"/>
          <p:cNvSpPr/>
          <p:nvPr/>
        </p:nvSpPr>
        <p:spPr>
          <a:xfrm>
            <a:off x="841248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Challenge assumptions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“Where does this plan fall apart?”</a:t>
            </a:r>
            <a:endParaRPr lang="en-US" sz="1400" dirty="0"/>
          </a:p>
        </p:txBody>
      </p:sp>
      <p:sp>
        <p:nvSpPr>
          <p:cNvPr id="18" name="Text 15"/>
          <p:cNvSpPr/>
          <p:nvPr/>
        </p:nvSpPr>
        <p:spPr>
          <a:xfrm>
            <a:off x="841248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Simulate a stakeholder</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“Read this as my regional manager.”</a:t>
            </a:r>
            <a:endParaRPr lang="en-US" sz="1400" dirty="0"/>
          </a:p>
        </p:txBody>
      </p:sp>
      <p:sp>
        <p:nvSpPr>
          <p:cNvPr id="19" name="Text 16"/>
          <p:cNvSpPr/>
          <p:nvPr/>
        </p:nvSpPr>
        <p:spPr>
          <a:xfrm>
            <a:off x="640080" y="5715000"/>
            <a:ext cx="10881360" cy="502920"/>
          </a:xfrm>
          <a:prstGeom prst="rect">
            <a:avLst/>
          </a:prstGeom>
          <a:noFill/>
          <a:ln/>
        </p:spPr>
        <p:txBody>
          <a:bodyPr wrap="square" lIns="0" tIns="0" rIns="0" bIns="0" rtlCol="0" anchor="t"/>
          <a:lstStyle/>
          <a:p>
            <a:pPr algn="ctr" indent="0" marL="0">
              <a:buNone/>
            </a:pPr>
            <a:r>
              <a:rPr lang="en-US" sz="1400" i="1" dirty="0">
                <a:solidFill>
                  <a:srgbClr val="3A4452"/>
                </a:solidFill>
                <a:latin typeface="Arial" pitchFamily="34" charset="0"/>
                <a:ea typeface="Arial" pitchFamily="34" charset="-122"/>
                <a:cs typeface="Arial" pitchFamily="34" charset="-120"/>
              </a:rPr>
              <a:t>Most people jump straight to “write it for me.” Often the task needs a different role entirely — and choosing the role is the step that matters most.</a:t>
            </a:r>
            <a:endParaRPr lang="en-US" sz="140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Same task — the role choice made the difference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WRONG ROLE: “WRITE IT FOR ME”</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“Write a proposal to improve my club's membership renewals.”</a:t>
            </a:r>
            <a:endParaRPr lang="en-US" sz="1300" dirty="0"/>
          </a:p>
        </p:txBody>
      </p:sp>
      <p:sp>
        <p:nvSpPr>
          <p:cNvPr id="9" name="Text 6"/>
          <p:cNvSpPr/>
          <p:nvPr/>
        </p:nvSpPr>
        <p:spPr>
          <a:xfrm>
            <a:off x="914400" y="32918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A polished-sounding proposal built on guesses — it doesn't know her club, so it invents.</a:t>
            </a:r>
            <a:endParaRPr lang="en-US" sz="140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Sounds finished. Isn't hers.</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RIGHT ROLE: GENERATE OPTIONS</a:t>
            </a:r>
            <a:endParaRPr lang="en-US" sz="1100" dirty="0"/>
          </a:p>
        </p:txBody>
      </p:sp>
      <p:sp>
        <p:nvSpPr>
          <p:cNvPr id="14" name="Text 11"/>
          <p:cNvSpPr/>
          <p:nvPr/>
        </p:nvSpPr>
        <p:spPr>
          <a:xfrm>
            <a:off x="649224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“Here's my situation — the renewal dip, what we've tried, my weekend staffing. Give me eight options for the next 90 days.”</a:t>
            </a:r>
            <a:endParaRPr lang="en-US" sz="1300" dirty="0"/>
          </a:p>
        </p:txBody>
      </p:sp>
      <p:sp>
        <p:nvSpPr>
          <p:cNvPr id="15" name="Text 12"/>
          <p:cNvSpPr/>
          <p:nvPr/>
        </p:nvSpPr>
        <p:spPr>
          <a:xfrm>
            <a:off x="6492240" y="32918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6" name="Text 13"/>
          <p:cNvSpPr/>
          <p:nvPr/>
        </p:nvSpPr>
        <p:spPr>
          <a:xfrm>
            <a:off x="649224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Options grounded in her club's reality — she picked three worth taking further.</a:t>
            </a:r>
            <a:endParaRPr lang="en-US" sz="1400" dirty="0"/>
          </a:p>
        </p:txBody>
      </p:sp>
      <p:sp>
        <p:nvSpPr>
          <p:cNvPr id="17" name="Text 14"/>
          <p:cNvSpPr/>
          <p:nvPr/>
        </p:nvSpPr>
        <p:spPr>
          <a:xfrm>
            <a:off x="6492240" y="502920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AI helped her think. She did the choosing. (The pressure test comes next.)</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THE ROLES NOBODY USES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AI agrees with you by default — make it push back</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two most valuable roles are the two people use least: challenge assumptions and simulate a stakeholder.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ChatGPT and Claude are built to be agreeable. Left alone, they will tell you your plan is great. Real opposition only shows up when you ask for it — and that is exactly when a plan gets stronger.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One sentence turns it on. Use it before your work goes to anyone whose opinion matters.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MARIA'S MOVE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i="1" dirty="0">
                <a:solidFill>
                  <a:srgbClr val="1F2733"/>
                </a:solidFill>
                <a:latin typeface="Arial" pitchFamily="34" charset="0"/>
                <a:ea typeface="Arial" pitchFamily="34" charset="-122"/>
                <a:cs typeface="Arial" pitchFamily="34" charset="-120"/>
              </a:rPr>
              <a:t>“Act as my skeptical regional manager. Where does this plan fall apart?”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It flagged that her strongest action depends on weekend front-desk staffing she doesn't have.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Better to find out now than in the meeting.</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IN ACTION — THE DRAFT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Now — and only now — she asks it to write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pushback did its job: Maria swapped the staffing-dependent option for another from her eight.</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Then — and only then — the role most people start with: “Turn my three options into a one-page proposal draft for my regional manager.”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“Write it for me” was the wrong opening move earlier. After the thinking, it's the right closing one — this draft is built from her options, her context, her constraints.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It comes back reading clean, confident, and finished. Hold that thought.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CONVERSATION SO FAR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1F2733"/>
                </a:solidFill>
                <a:latin typeface="Arial" pitchFamily="34" charset="0"/>
                <a:ea typeface="Arial" pitchFamily="34" charset="-122"/>
                <a:cs typeface="Arial" pitchFamily="34" charset="-120"/>
              </a:rPr>
              <a:t>1.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Context + “give me eight options”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2.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Picked three worth taking further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3.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“Where does this fall apart?” → swapped one
</a:t>
            </a:r>
            <a:pPr indent="0" marL="0">
              <a:lnSpc>
                <a:spcPct val="115000"/>
              </a:lnSpc>
              <a:buNone/>
            </a:pPr>
            <a:r>
              <a:rPr lang="en-US" sz="1450" b="1" dirty="0">
                <a:solidFill>
                  <a:srgbClr val="1F2733"/>
                </a:solidFill>
                <a:latin typeface="Arial" pitchFamily="34" charset="0"/>
                <a:ea typeface="Arial" pitchFamily="34" charset="-122"/>
                <a:cs typeface="Arial" pitchFamily="34" charset="-120"/>
              </a:rPr>
              <a:t>4.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“Turn them into a one-page draft”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DECIDE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Judgment before action — check the output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accurate?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Verify names, numbers, claims. AI states guesses confidently.</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complete?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What did it leave out that you would be accountable for?</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right for BJ's?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Our members, our tone, our policies — not generic retail.</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did AI assume?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Ask it directly: “What assumptions did you make?”</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do I own?</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call, the numbers, the name on it — those are yours.</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THE CONFIDENCE TRAP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more you trust AI, the less you check it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Researchers at Microsoft and Carnegie Mellon surveyed 319 professionals who use AI at work. The finding: the more confident people were in the AI, the less critical thinking they applied to its output. Confidence in their own expertise had the opposite effect — more scrutiny, better results.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So the risk isn't beginners. It's experienced users on their hundredth task, when checking starts to feel unnecessary.</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That's why the five checks are a rule, not a mood. Run them especially on the days you're sure you don't need to.</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TRAP IN ONE LINE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As trust in the tool goes up, scrutiny goes down.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The checks matter most exactly when they feel least necessary.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Maria's draft is about to be exactly this moment.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It looked shippable — the checks said otherwise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Maria's draft read clean and confident. Two of the five checks caught problems anyway.</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Is it accurate? One option offered a renewal discount — not a club-level call. Plausible, confident, wrong.</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What did AI assume? Asked directly: that most members auto-renew. At her club, most don't — which changes which actions matter.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loop-back: “Drop the discount — clubs can't set membership pricing. Assume most members do not auto-renew. Rework it.” One more pass, one more check — clean.</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STANDARD</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The output isn't done when AI stops typing. It's done when you can defend it.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If you can't defend it, don't ship it.
</a:t>
            </a:r>
            <a:pPr indent="0" marL="0">
              <a:lnSpc>
                <a:spcPct val="115000"/>
              </a:lnSpc>
              <a:buNone/>
            </a:pPr>
            <a:r>
              <a:rPr lang="en-US" sz="1450" i="1" dirty="0">
                <a:solidFill>
                  <a:srgbClr val="1F2733"/>
                </a:solidFill>
                <a:latin typeface="Arial" pitchFamily="34" charset="0"/>
                <a:ea typeface="Arial" pitchFamily="34" charset="-122"/>
                <a:cs typeface="Arial" pitchFamily="34" charset="-120"/>
              </a:rPr>
              <a:t>And a failed check isn't the end — take it back to the conversation with what you now know.</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FULL LOOP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whole habit on one real task — about two minutes</a:t>
            </a:r>
            <a:endParaRPr lang="en-US" sz="3000" dirty="0"/>
          </a:p>
        </p:txBody>
      </p:sp>
      <p:sp>
        <p:nvSpPr>
          <p:cNvPr id="6" name="Shape 3"/>
          <p:cNvSpPr/>
          <p:nvPr/>
        </p:nvSpPr>
        <p:spPr>
          <a:xfrm>
            <a:off x="640080" y="1965960"/>
            <a:ext cx="10881360" cy="1060704"/>
          </a:xfrm>
          <a:prstGeom prst="roundRect">
            <a:avLst>
              <a:gd name="adj" fmla="val 7759"/>
            </a:avLst>
          </a:prstGeom>
          <a:solidFill>
            <a:srgbClr val="F5F6F8"/>
          </a:solidFill>
          <a:ln w="12700">
            <a:solidFill>
              <a:srgbClr val="E7E9EE"/>
            </a:solidFill>
            <a:prstDash val="solid"/>
          </a:ln>
        </p:spPr>
      </p:sp>
      <p:sp>
        <p:nvSpPr>
          <p:cNvPr id="7" name="Shape 4"/>
          <p:cNvSpPr/>
          <p:nvPr/>
        </p:nvSpPr>
        <p:spPr>
          <a:xfrm>
            <a:off x="896112" y="2240280"/>
            <a:ext cx="512064" cy="512064"/>
          </a:xfrm>
          <a:prstGeom prst="ellipse">
            <a:avLst/>
          </a:prstGeom>
          <a:solidFill>
            <a:srgbClr val="D31242"/>
          </a:solidFill>
          <a:ln/>
        </p:spPr>
      </p:sp>
      <p:sp>
        <p:nvSpPr>
          <p:cNvPr id="8" name="Text 5"/>
          <p:cNvSpPr/>
          <p:nvPr/>
        </p:nvSpPr>
        <p:spPr>
          <a:xfrm>
            <a:off x="896112" y="2240280"/>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9" name="Text 6"/>
          <p:cNvSpPr/>
          <p:nvPr/>
        </p:nvSpPr>
        <p:spPr>
          <a:xfrm>
            <a:off x="1645920" y="2093976"/>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1. THINK — 30 seconds</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Outcome: 3 actions, 90 days. For: her regional manager. Context: renewal dip; reminder calls already tried. Hers: the final call.</a:t>
            </a:r>
            <a:endParaRPr lang="en-US" sz="1450" dirty="0"/>
          </a:p>
        </p:txBody>
      </p:sp>
      <p:sp>
        <p:nvSpPr>
          <p:cNvPr id="10" name="Shape 7"/>
          <p:cNvSpPr/>
          <p:nvPr/>
        </p:nvSpPr>
        <p:spPr>
          <a:xfrm>
            <a:off x="640080" y="3172968"/>
            <a:ext cx="10881360" cy="1060704"/>
          </a:xfrm>
          <a:prstGeom prst="roundRect">
            <a:avLst>
              <a:gd name="adj" fmla="val 7759"/>
            </a:avLst>
          </a:prstGeom>
          <a:solidFill>
            <a:srgbClr val="F5F6F8"/>
          </a:solidFill>
          <a:ln w="12700">
            <a:solidFill>
              <a:srgbClr val="E7E9EE"/>
            </a:solidFill>
            <a:prstDash val="solid"/>
          </a:ln>
        </p:spPr>
      </p:sp>
      <p:sp>
        <p:nvSpPr>
          <p:cNvPr id="11" name="Shape 8"/>
          <p:cNvSpPr/>
          <p:nvPr/>
        </p:nvSpPr>
        <p:spPr>
          <a:xfrm>
            <a:off x="896112" y="3447288"/>
            <a:ext cx="512064" cy="512064"/>
          </a:xfrm>
          <a:prstGeom prst="ellipse">
            <a:avLst/>
          </a:prstGeom>
          <a:solidFill>
            <a:srgbClr val="D31242"/>
          </a:solidFill>
          <a:ln/>
        </p:spPr>
      </p:sp>
      <p:sp>
        <p:nvSpPr>
          <p:cNvPr id="12" name="Text 9"/>
          <p:cNvSpPr/>
          <p:nvPr/>
        </p:nvSpPr>
        <p:spPr>
          <a:xfrm>
            <a:off x="896112" y="3447288"/>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3" name="Text 10"/>
          <p:cNvSpPr/>
          <p:nvPr/>
        </p:nvSpPr>
        <p:spPr>
          <a:xfrm>
            <a:off x="1645920" y="3300984"/>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2. PARTNER — 1 minute</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Generate options (“give me eight”) → pressure-test with her skeptical regional manager → swap one option → turn the three into a one-page draft.</a:t>
            </a:r>
            <a:endParaRPr lang="en-US" sz="1450" dirty="0"/>
          </a:p>
        </p:txBody>
      </p:sp>
      <p:sp>
        <p:nvSpPr>
          <p:cNvPr id="14" name="Shape 11"/>
          <p:cNvSpPr/>
          <p:nvPr/>
        </p:nvSpPr>
        <p:spPr>
          <a:xfrm>
            <a:off x="640080" y="4379976"/>
            <a:ext cx="10881360" cy="1060704"/>
          </a:xfrm>
          <a:prstGeom prst="roundRect">
            <a:avLst>
              <a:gd name="adj" fmla="val 7759"/>
            </a:avLst>
          </a:prstGeom>
          <a:solidFill>
            <a:srgbClr val="F5F6F8"/>
          </a:solidFill>
          <a:ln w="12700">
            <a:solidFill>
              <a:srgbClr val="E7E9EE"/>
            </a:solidFill>
            <a:prstDash val="solid"/>
          </a:ln>
        </p:spPr>
      </p:sp>
      <p:sp>
        <p:nvSpPr>
          <p:cNvPr id="15" name="Shape 12"/>
          <p:cNvSpPr/>
          <p:nvPr/>
        </p:nvSpPr>
        <p:spPr>
          <a:xfrm>
            <a:off x="896112" y="4654296"/>
            <a:ext cx="512064" cy="512064"/>
          </a:xfrm>
          <a:prstGeom prst="ellipse">
            <a:avLst/>
          </a:prstGeom>
          <a:solidFill>
            <a:srgbClr val="D31242"/>
          </a:solidFill>
          <a:ln/>
        </p:spPr>
      </p:sp>
      <p:sp>
        <p:nvSpPr>
          <p:cNvPr id="16" name="Text 13"/>
          <p:cNvSpPr/>
          <p:nvPr/>
        </p:nvSpPr>
        <p:spPr>
          <a:xfrm>
            <a:off x="896112" y="4654296"/>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7" name="Text 14"/>
          <p:cNvSpPr/>
          <p:nvPr/>
        </p:nvSpPr>
        <p:spPr>
          <a:xfrm>
            <a:off x="1645920" y="4507992"/>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3. DECIDE — 30 seconds, plus one loop back</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Caught the discount error and the auto-renew assumption — took both back to the conversation, reworked, re-checked. Kept three actions she can defend.</a:t>
            </a:r>
            <a:endParaRPr lang="en-US" sz="1450" dirty="0"/>
          </a:p>
        </p:txBody>
      </p:sp>
      <p:sp>
        <p:nvSpPr>
          <p:cNvPr id="18" name="Shape 15"/>
          <p:cNvSpPr/>
          <p:nvPr/>
        </p:nvSpPr>
        <p:spPr>
          <a:xfrm>
            <a:off x="640080" y="5669280"/>
            <a:ext cx="10881360" cy="566928"/>
          </a:xfrm>
          <a:prstGeom prst="roundRect">
            <a:avLst>
              <a:gd name="adj" fmla="val 14516"/>
            </a:avLst>
          </a:prstGeom>
          <a:solidFill>
            <a:srgbClr val="DCFCE7"/>
          </a:solidFill>
          <a:ln/>
        </p:spPr>
      </p:sp>
      <p:sp>
        <p:nvSpPr>
          <p:cNvPr id="19" name="Text 16"/>
          <p:cNvSpPr/>
          <p:nvPr/>
        </p:nvSpPr>
        <p:spPr>
          <a:xfrm>
            <a:off x="914400" y="5669280"/>
            <a:ext cx="10332720" cy="566928"/>
          </a:xfrm>
          <a:prstGeom prst="rect">
            <a:avLst/>
          </a:prstGeom>
          <a:noFill/>
          <a:ln/>
        </p:spPr>
        <p:txBody>
          <a:bodyPr wrap="square" lIns="0" tIns="0" rIns="0" bIns="0" rtlCol="0" anchor="ctr"/>
          <a:lstStyle/>
          <a:p>
            <a:pPr indent="0" marL="0">
              <a:buNone/>
            </a:pPr>
            <a:r>
              <a:rPr lang="en-US" sz="1450" b="1" dirty="0">
                <a:solidFill>
                  <a:srgbClr val="15803D"/>
                </a:solidFill>
                <a:latin typeface="Arial" pitchFamily="34" charset="0"/>
                <a:ea typeface="Arial" pitchFamily="34" charset="-122"/>
                <a:cs typeface="Arial" pitchFamily="34" charset="-120"/>
              </a:rPr>
              <a:t>Result: a proposal that is specific to her club, tested against pushback, and genuinely hers.</a:t>
            </a:r>
            <a:endParaRPr lang="en-US" sz="14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PUT IT TOGETHER</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You decide if AI fits, then clarify</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Three quick tests, five questions — before AI is involved at all.</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You choose AI's role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See, shape, or test — not just “write it for me.”</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You check before you act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Five checks. If you can't defend it, don't ship it.</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You can run the loop</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Think → Partner → Decide, on any task, in about two minutes.</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TAKEAWAYS</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YOUR TURN</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One task this week</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Before you leave: write down one real task from this week — then which gate test or which of the five questions it fails today. That's your first rep. Then join us for Prompt Engineering Essentials: now that you know where AI fits, learn how to get the most from every exchange.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One optional page — where this course comes from, for anyone who wants to check our work.</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Where this course comes from</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structure of this course follows published work; the specific questions, roles, and checks were built at BJ's on that foundation.</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three steps align with the AI Fluency framework published by Anthropic with University College Cork and Ringling College: Delegation (our Think), Discernment and Diligence (our Decide). Their fourth competency — Description, the wording of prompts — is our next course.</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confidence trap and the three-phase picture of critical thinking with AI come from a 2025 Microsoft Research and Carnegie Mellon survey of 319 knowledge workers.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GO DEEPER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AI Fluency: Framework &amp; Foundations — free, about 3 hours
</a:t>
            </a:r>
            <a:pPr indent="0" marL="0">
              <a:lnSpc>
                <a:spcPct val="115000"/>
              </a:lnSpc>
              <a:buNone/>
            </a:pPr>
            <a:r>
              <a:rPr lang="en-US" sz="1450" dirty="0">
                <a:solidFill>
                  <a:srgbClr val="5E6A78"/>
                </a:solidFill>
                <a:latin typeface="Arial" pitchFamily="34" charset="0"/>
                <a:ea typeface="Arial" pitchFamily="34" charset="-122"/>
                <a:cs typeface="Arial" pitchFamily="34" charset="-120"/>
              </a:rPr>
              <a:t>anthropic.com/ai-fluency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“The Impact of Generative AI on Critical Thinking” (Lee et al., 2025)
</a:t>
            </a:r>
            <a:pPr indent="0" marL="0">
              <a:lnSpc>
                <a:spcPct val="115000"/>
              </a:lnSpc>
              <a:buNone/>
            </a:pPr>
            <a:r>
              <a:rPr lang="en-US" sz="1450" dirty="0">
                <a:solidFill>
                  <a:srgbClr val="5E6A78"/>
                </a:solidFill>
                <a:latin typeface="Arial" pitchFamily="34" charset="0"/>
                <a:ea typeface="Arial" pitchFamily="34" charset="-122"/>
                <a:cs typeface="Arial" pitchFamily="34" charset="-120"/>
              </a:rPr>
              <a:t>microsoft.com/research</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Thinking with AI</dc:title>
  <dc:subject>PptxGenJS Presentation</dc:subject>
  <dc:creator>BJ's AI Enablement</dc:creator>
  <cp:lastModifiedBy>BJ's AI Enablement</cp:lastModifiedBy>
  <cp:revision>1</cp:revision>
  <dcterms:created xsi:type="dcterms:W3CDTF">2026-07-13T23:01:16Z</dcterms:created>
  <dcterms:modified xsi:type="dcterms:W3CDTF">2026-07-13T23:01:16Z</dcterms:modified>
</cp:coreProperties>
</file>