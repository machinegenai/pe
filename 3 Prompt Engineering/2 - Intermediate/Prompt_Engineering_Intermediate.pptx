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This level builds directly on Beginner — everyone here should already be comfortable with CO-STAR and the Refine loop; if not, point them to the Beginner deck first. Runs ~45 minutes live. Today's theme: you stop just asking and start directing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journey slide from Beginner — but you are now at Stage 3, Directing. Call out that they've completed Composing. Everything today is about steering the model, not just asking it. Next stop after this level is Designing.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with the room: who's used CO-STAR since the last session? This slide is a bridge, not new content — keep it to a minute. The key framing word for today is 'directing.'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as promises. The closing 'What you can now do' slide maps one-to-one back to these five. Objective 4 carries the data-safety point — flag it now so it isn't a surprise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running example is one batch of member feedback (~30 comments across five themes: checkout waits, produce quality, fresh food, app issues, gas pump) used on every slide today. Representative comments to paste live: 'Waited 22 min at checkout, only 3 lanes open' / 'Rotisserie chicken is always fresh, love it' / 'The app froze when I clipped the gas coupon' / 'Gas pump 4 is down again' / 'Wilted spinach and moldy berries in produce' — plus more of the same. These are illustrative — use real club feedback when you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term for the notes, not the slide: 'few-shot' or 'multishot' prompting. Ask the room: how would you describe the format you want in words? Then show how much faster two examples is. Anthropic ranks examples among the most effective techniques.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answers are shown as the real output, not a description. The point that lands: the model didn't get smarter — you gave it a pattern to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term (notes only): 'chain-of-thought.' Live demo option: run the same escalation question with and without the 'reason first' line and compare. Watch it catch the safety issue only when asked to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reasoning is the value — a manager can defend the ranking because the 'why' is visible. Escalating a one-off safety issue over a high-volume annoyance is exactly the kind of call reasoning-first gets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terms (notes only): 'delimiters' / 'XML tags.' Any clear marker works — ###, ALL-CAPS labels, or tags like &lt;task&gt;…&lt;/task&gt;. The habit is separation, not a specific symbol.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is most visible on genuinely long inputs. If you demo it live, paste a long list so the 'blob' version visibly stumbles.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terms (notes only): 'grounding' / 'retrieval.' The data-safety line is a built-in placeholder — SWAP IT for BJ's official responsible-AI / data-handling policy when one exists. This is the first module where real BJ's material enters a prompt, so the safety note belongs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'Traceable to the source' is the phrase to leave them with. Quoting is what makes a grounded answer checkable — they can verify it in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this back explicitly to the Beginner Refine loop — same move, now deliberate. Ask the room for a recent output that missed and diagnose it together in one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Closes the teaching arc: the same feedback pile, now genuinely useful. Point back to slide 5 — this is what 'something a club manager can act on'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Live-runnable: paste the prompt and the weekend comments into Claude. The output shown is a realistic example. The point: an undirected ask gives you a paragraph you still can't do anything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feedback, now directed — this one prompt combines today's moves: two examples (show, don't tell), a clear structure with labelled sections, and 'reason first' before it ranks. Run it right after the BEFORE slide so the room sees the jump. Results illustrative — use real club feedback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five map one-to-one to the Learning Objectives — say so. The sixth is the pull into Advanced. Ask each person to pick the one move they'll try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one-card takeaway to screenshot. This is what a Champion pins up and teaches their team from. Encourage them to keep it beside the Beginner CO-STAR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concrete: they leave with one real task, not a concept. Invite them to bring the result to the next session or share it with their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Self-read only — not covered live unless time allows. It also seeds Advanced, where reusable templates are the main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slide of the appendix pair (muted grey accent). The worked example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slide of the appendix pair. Leaves them with a concrete reason to save prompts — and a natural on-ramp to the Advanced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slideLayout" Target="../slideLayouts/slideLayout1.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14884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LEVEL 2 · INTERMEDIATE</a:t>
            </a:r>
            <a:endParaRPr lang="en-US" sz="1500" dirty="0"/>
          </a:p>
        </p:txBody>
      </p:sp>
      <p:sp>
        <p:nvSpPr>
          <p:cNvPr id="6" name="Text 4"/>
          <p:cNvSpPr/>
          <p:nvPr/>
        </p:nvSpPr>
        <p:spPr>
          <a:xfrm>
            <a:off x="621792" y="2606040"/>
            <a:ext cx="10881360" cy="1097280"/>
          </a:xfrm>
          <a:prstGeom prst="rect">
            <a:avLst/>
          </a:prstGeom>
          <a:noFill/>
          <a:ln/>
        </p:spPr>
        <p:txBody>
          <a:bodyPr wrap="square" lIns="0" tIns="0" rIns="0" bIns="0" rtlCol="0" anchor="ctr"/>
          <a:lstStyle/>
          <a:p>
            <a:pPr indent="0" marL="0">
              <a:buNone/>
            </a:pPr>
            <a:r>
              <a:rPr lang="en-US" sz="4400" b="1" spc="-50" kern="0" dirty="0">
                <a:solidFill>
                  <a:srgbClr val="FFFFFF"/>
                </a:solidFill>
                <a:latin typeface="Arial" pitchFamily="34" charset="0"/>
                <a:ea typeface="Arial" pitchFamily="34" charset="-122"/>
                <a:cs typeface="Arial" pitchFamily="34" charset="-120"/>
              </a:rPr>
              <a:t>Prompt Engineering: From Composing to Directing</a:t>
            </a:r>
            <a:endParaRPr lang="en-US" sz="4400" dirty="0"/>
          </a:p>
        </p:txBody>
      </p:sp>
      <p:sp>
        <p:nvSpPr>
          <p:cNvPr id="7" name="Text 5"/>
          <p:cNvSpPr/>
          <p:nvPr/>
        </p:nvSpPr>
        <p:spPr>
          <a:xfrm>
            <a:off x="658368" y="4069080"/>
            <a:ext cx="9692640" cy="100584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You can already build a strong prompt. Now learn to steer it — with examples, reasoning, structure, and your own documents.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YOUR LEARNING JOURNEY</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From asking to designing — what each level of the program builds</a:t>
            </a:r>
            <a:endParaRPr lang="en-US" sz="3000" dirty="0"/>
          </a:p>
        </p:txBody>
      </p:sp>
      <p:sp>
        <p:nvSpPr>
          <p:cNvPr id="6" name="Shape 3"/>
          <p:cNvSpPr/>
          <p:nvPr/>
        </p:nvSpPr>
        <p:spPr>
          <a:xfrm>
            <a:off x="640080" y="2514600"/>
            <a:ext cx="2532888" cy="3063240"/>
          </a:xfrm>
          <a:prstGeom prst="roundRect">
            <a:avLst>
              <a:gd name="adj" fmla="val 3249"/>
            </a:avLst>
          </a:prstGeom>
          <a:solidFill>
            <a:srgbClr val="F5F6F8"/>
          </a:solidFill>
          <a:ln w="12700">
            <a:solidFill>
              <a:srgbClr val="E7E9EE"/>
            </a:solidFill>
            <a:prstDash val="solid"/>
          </a:ln>
        </p:spPr>
      </p:sp>
      <p:sp>
        <p:nvSpPr>
          <p:cNvPr id="7" name="Shape 4"/>
          <p:cNvSpPr/>
          <p:nvPr/>
        </p:nvSpPr>
        <p:spPr>
          <a:xfrm>
            <a:off x="1613916" y="2788920"/>
            <a:ext cx="585216" cy="585216"/>
          </a:xfrm>
          <a:prstGeom prst="ellipse">
            <a:avLst/>
          </a:prstGeom>
          <a:solidFill>
            <a:srgbClr val="D31242"/>
          </a:solidFill>
          <a:ln/>
        </p:spPr>
      </p:sp>
      <p:sp>
        <p:nvSpPr>
          <p:cNvPr id="8" name="Text 5"/>
          <p:cNvSpPr/>
          <p:nvPr/>
        </p:nvSpPr>
        <p:spPr>
          <a:xfrm>
            <a:off x="1613916" y="2788920"/>
            <a:ext cx="585216" cy="585216"/>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9" name="Text 6"/>
          <p:cNvSpPr/>
          <p:nvPr/>
        </p:nvSpPr>
        <p:spPr>
          <a:xfrm>
            <a:off x="749808" y="3502152"/>
            <a:ext cx="2313432" cy="274320"/>
          </a:xfrm>
          <a:prstGeom prst="rect">
            <a:avLst/>
          </a:prstGeom>
          <a:noFill/>
          <a:ln/>
        </p:spPr>
        <p:txBody>
          <a:bodyPr wrap="square" lIns="0" tIns="0" rIns="0" bIns="0" rtlCol="0" anchor="ctr"/>
          <a:lstStyle/>
          <a:p>
            <a:pPr algn="ctr" indent="0" marL="0">
              <a:buNone/>
            </a:pPr>
            <a:r>
              <a:rPr lang="en-US" sz="1050" b="1" spc="100" kern="0" dirty="0">
                <a:solidFill>
                  <a:srgbClr val="D31242"/>
                </a:solidFill>
                <a:latin typeface="Arial" pitchFamily="34" charset="0"/>
                <a:ea typeface="Arial" pitchFamily="34" charset="-122"/>
                <a:cs typeface="Arial" pitchFamily="34" charset="-120"/>
              </a:rPr>
              <a:t>STAGE 1</a:t>
            </a:r>
            <a:endParaRPr lang="en-US" sz="1050" dirty="0"/>
          </a:p>
        </p:txBody>
      </p:sp>
      <p:sp>
        <p:nvSpPr>
          <p:cNvPr id="10" name="Text 7"/>
          <p:cNvSpPr/>
          <p:nvPr/>
        </p:nvSpPr>
        <p:spPr>
          <a:xfrm>
            <a:off x="749808" y="3794760"/>
            <a:ext cx="2313432" cy="457200"/>
          </a:xfrm>
          <a:prstGeom prst="rect">
            <a:avLst/>
          </a:prstGeom>
          <a:noFill/>
          <a:ln/>
        </p:spPr>
        <p:txBody>
          <a:bodyPr wrap="square" lIns="0" tIns="0" rIns="0" bIns="0" rtlCol="0" anchor="ctr"/>
          <a:lstStyle/>
          <a:p>
            <a:pPr algn="ctr" indent="0" marL="0">
              <a:buNone/>
            </a:pPr>
            <a:r>
              <a:rPr lang="en-US" sz="1800" b="1" dirty="0">
                <a:solidFill>
                  <a:srgbClr val="1F2733"/>
                </a:solidFill>
                <a:latin typeface="Arial" pitchFamily="34" charset="0"/>
                <a:ea typeface="Arial" pitchFamily="34" charset="-122"/>
                <a:cs typeface="Arial" pitchFamily="34" charset="-120"/>
              </a:rPr>
              <a:t>Asking</a:t>
            </a:r>
            <a:endParaRPr lang="en-US" sz="1800" dirty="0"/>
          </a:p>
        </p:txBody>
      </p:sp>
      <p:sp>
        <p:nvSpPr>
          <p:cNvPr id="11" name="Text 8"/>
          <p:cNvSpPr/>
          <p:nvPr/>
        </p:nvSpPr>
        <p:spPr>
          <a:xfrm>
            <a:off x="804672" y="4325112"/>
            <a:ext cx="2203704" cy="1143000"/>
          </a:xfrm>
          <a:prstGeom prst="rect">
            <a:avLst/>
          </a:prstGeom>
          <a:noFill/>
          <a:ln/>
        </p:spPr>
        <p:txBody>
          <a:bodyPr wrap="square" lIns="0" tIns="0" rIns="0" bIns="0" rtlCol="0" anchor="t"/>
          <a:lstStyle/>
          <a:p>
            <a:pPr algn="ctr" indent="0" marL="0">
              <a:lnSpc>
                <a:spcPct val="105000"/>
              </a:lnSpc>
              <a:buNone/>
            </a:pPr>
            <a:r>
              <a:rPr lang="en-US" sz="1000" dirty="0">
                <a:solidFill>
                  <a:srgbClr val="5E6A78"/>
                </a:solidFill>
                <a:latin typeface="Arial" pitchFamily="34" charset="0"/>
                <a:ea typeface="Arial" pitchFamily="34" charset="-122"/>
                <a:cs typeface="Arial" pitchFamily="34" charset="-120"/>
              </a:rPr>
              <a:t>One-line requests, hit or miss. The everyday habit this program upgrades.</a:t>
            </a:r>
            <a:endParaRPr lang="en-US" sz="1000" dirty="0"/>
          </a:p>
        </p:txBody>
      </p:sp>
      <p:sp>
        <p:nvSpPr>
          <p:cNvPr id="12" name="Text 9"/>
          <p:cNvSpPr/>
          <p:nvPr/>
        </p:nvSpPr>
        <p:spPr>
          <a:xfrm>
            <a:off x="3145536" y="3813048"/>
            <a:ext cx="310896" cy="457200"/>
          </a:xfrm>
          <a:prstGeom prst="rect">
            <a:avLst/>
          </a:prstGeom>
          <a:noFill/>
          <a:ln/>
        </p:spPr>
        <p:txBody>
          <a:bodyPr wrap="square" lIns="0" tIns="0" rIns="0" bIns="0" rtlCol="0" anchor="ctr"/>
          <a:lstStyle/>
          <a:p>
            <a:pPr algn="ctr" indent="0" marL="0">
              <a:buNone/>
            </a:pPr>
            <a:r>
              <a:rPr lang="en-US" sz="2000" b="1" dirty="0">
                <a:solidFill>
                  <a:srgbClr val="8A93A0"/>
                </a:solidFill>
                <a:latin typeface="Arial" pitchFamily="34" charset="0"/>
                <a:ea typeface="Arial" pitchFamily="34" charset="-122"/>
                <a:cs typeface="Arial" pitchFamily="34" charset="-120"/>
              </a:rPr>
              <a:t>→</a:t>
            </a:r>
            <a:endParaRPr lang="en-US" sz="2000" dirty="0"/>
          </a:p>
        </p:txBody>
      </p:sp>
      <p:sp>
        <p:nvSpPr>
          <p:cNvPr id="13" name="Shape 10"/>
          <p:cNvSpPr/>
          <p:nvPr/>
        </p:nvSpPr>
        <p:spPr>
          <a:xfrm>
            <a:off x="3429000" y="2514600"/>
            <a:ext cx="2532888" cy="3063240"/>
          </a:xfrm>
          <a:prstGeom prst="roundRect">
            <a:avLst>
              <a:gd name="adj" fmla="val 3249"/>
            </a:avLst>
          </a:prstGeom>
          <a:solidFill>
            <a:srgbClr val="F5F6F8"/>
          </a:solidFill>
          <a:ln w="12700">
            <a:solidFill>
              <a:srgbClr val="E7E9EE"/>
            </a:solidFill>
            <a:prstDash val="solid"/>
          </a:ln>
        </p:spPr>
      </p:sp>
      <p:sp>
        <p:nvSpPr>
          <p:cNvPr id="14" name="Shape 11"/>
          <p:cNvSpPr/>
          <p:nvPr/>
        </p:nvSpPr>
        <p:spPr>
          <a:xfrm>
            <a:off x="4402836" y="2788920"/>
            <a:ext cx="585216" cy="585216"/>
          </a:xfrm>
          <a:prstGeom prst="ellipse">
            <a:avLst/>
          </a:prstGeom>
          <a:solidFill>
            <a:srgbClr val="D31242"/>
          </a:solidFill>
          <a:ln/>
        </p:spPr>
      </p:sp>
      <p:sp>
        <p:nvSpPr>
          <p:cNvPr id="15" name="Text 12"/>
          <p:cNvSpPr/>
          <p:nvPr/>
        </p:nvSpPr>
        <p:spPr>
          <a:xfrm>
            <a:off x="4402836" y="2788920"/>
            <a:ext cx="585216" cy="585216"/>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6" name="Text 13"/>
          <p:cNvSpPr/>
          <p:nvPr/>
        </p:nvSpPr>
        <p:spPr>
          <a:xfrm>
            <a:off x="3538728" y="3502152"/>
            <a:ext cx="2313432" cy="274320"/>
          </a:xfrm>
          <a:prstGeom prst="rect">
            <a:avLst/>
          </a:prstGeom>
          <a:noFill/>
          <a:ln/>
        </p:spPr>
        <p:txBody>
          <a:bodyPr wrap="square" lIns="0" tIns="0" rIns="0" bIns="0" rtlCol="0" anchor="ctr"/>
          <a:lstStyle/>
          <a:p>
            <a:pPr algn="ctr" indent="0" marL="0">
              <a:buNone/>
            </a:pPr>
            <a:r>
              <a:rPr lang="en-US" sz="1050" b="1" spc="100" kern="0" dirty="0">
                <a:solidFill>
                  <a:srgbClr val="D31242"/>
                </a:solidFill>
                <a:latin typeface="Arial" pitchFamily="34" charset="0"/>
                <a:ea typeface="Arial" pitchFamily="34" charset="-122"/>
                <a:cs typeface="Arial" pitchFamily="34" charset="-120"/>
              </a:rPr>
              <a:t>STAGE 2 · DONE</a:t>
            </a:r>
            <a:endParaRPr lang="en-US" sz="1050" dirty="0"/>
          </a:p>
        </p:txBody>
      </p:sp>
      <p:sp>
        <p:nvSpPr>
          <p:cNvPr id="17" name="Text 14"/>
          <p:cNvSpPr/>
          <p:nvPr/>
        </p:nvSpPr>
        <p:spPr>
          <a:xfrm>
            <a:off x="3538728" y="3794760"/>
            <a:ext cx="2313432" cy="457200"/>
          </a:xfrm>
          <a:prstGeom prst="rect">
            <a:avLst/>
          </a:prstGeom>
          <a:noFill/>
          <a:ln/>
        </p:spPr>
        <p:txBody>
          <a:bodyPr wrap="square" lIns="0" tIns="0" rIns="0" bIns="0" rtlCol="0" anchor="ctr"/>
          <a:lstStyle/>
          <a:p>
            <a:pPr algn="ctr" indent="0" marL="0">
              <a:buNone/>
            </a:pPr>
            <a:r>
              <a:rPr lang="en-US" sz="1800" b="1" dirty="0">
                <a:solidFill>
                  <a:srgbClr val="1F2733"/>
                </a:solidFill>
                <a:latin typeface="Arial" pitchFamily="34" charset="0"/>
                <a:ea typeface="Arial" pitchFamily="34" charset="-122"/>
                <a:cs typeface="Arial" pitchFamily="34" charset="-120"/>
              </a:rPr>
              <a:t>Composing</a:t>
            </a:r>
            <a:endParaRPr lang="en-US" sz="1800" dirty="0"/>
          </a:p>
        </p:txBody>
      </p:sp>
      <p:sp>
        <p:nvSpPr>
          <p:cNvPr id="18" name="Text 15"/>
          <p:cNvSpPr/>
          <p:nvPr/>
        </p:nvSpPr>
        <p:spPr>
          <a:xfrm>
            <a:off x="3593592" y="4325112"/>
            <a:ext cx="2203704" cy="1143000"/>
          </a:xfrm>
          <a:prstGeom prst="rect">
            <a:avLst/>
          </a:prstGeom>
          <a:noFill/>
          <a:ln/>
        </p:spPr>
        <p:txBody>
          <a:bodyPr wrap="square" lIns="0" tIns="0" rIns="0" bIns="0" rtlCol="0" anchor="t"/>
          <a:lstStyle/>
          <a:p>
            <a:pPr algn="ctr" indent="0" marL="0">
              <a:lnSpc>
                <a:spcPct val="105000"/>
              </a:lnSpc>
              <a:buNone/>
            </a:pPr>
            <a:r>
              <a:rPr lang="en-US" sz="1000" dirty="0">
                <a:solidFill>
                  <a:srgbClr val="5E6A78"/>
                </a:solidFill>
                <a:latin typeface="Arial" pitchFamily="34" charset="0"/>
                <a:ea typeface="Arial" pitchFamily="34" charset="-122"/>
                <a:cs typeface="Arial" pitchFamily="34" charset="-120"/>
              </a:rPr>
              <a:t>CO-STAR to build strong prompts on purpose — then the Refine loop to improve them in one follow-up.</a:t>
            </a:r>
            <a:endParaRPr lang="en-US" sz="1000" dirty="0"/>
          </a:p>
        </p:txBody>
      </p:sp>
      <p:sp>
        <p:nvSpPr>
          <p:cNvPr id="19" name="Text 16"/>
          <p:cNvSpPr/>
          <p:nvPr/>
        </p:nvSpPr>
        <p:spPr>
          <a:xfrm>
            <a:off x="5934456" y="3813048"/>
            <a:ext cx="310896" cy="457200"/>
          </a:xfrm>
          <a:prstGeom prst="rect">
            <a:avLst/>
          </a:prstGeom>
          <a:noFill/>
          <a:ln/>
        </p:spPr>
        <p:txBody>
          <a:bodyPr wrap="square" lIns="0" tIns="0" rIns="0" bIns="0" rtlCol="0" anchor="ctr"/>
          <a:lstStyle/>
          <a:p>
            <a:pPr algn="ctr" indent="0" marL="0">
              <a:buNone/>
            </a:pPr>
            <a:r>
              <a:rPr lang="en-US" sz="2000" b="1" dirty="0">
                <a:solidFill>
                  <a:srgbClr val="8A93A0"/>
                </a:solidFill>
                <a:latin typeface="Arial" pitchFamily="34" charset="0"/>
                <a:ea typeface="Arial" pitchFamily="34" charset="-122"/>
                <a:cs typeface="Arial" pitchFamily="34" charset="-120"/>
              </a:rPr>
              <a:t>→</a:t>
            </a:r>
            <a:endParaRPr lang="en-US" sz="2000" dirty="0"/>
          </a:p>
        </p:txBody>
      </p:sp>
      <p:sp>
        <p:nvSpPr>
          <p:cNvPr id="20" name="Shape 17"/>
          <p:cNvSpPr/>
          <p:nvPr/>
        </p:nvSpPr>
        <p:spPr>
          <a:xfrm>
            <a:off x="6217920" y="2514600"/>
            <a:ext cx="2532888" cy="3063240"/>
          </a:xfrm>
          <a:prstGeom prst="roundRect">
            <a:avLst>
              <a:gd name="adj" fmla="val 3249"/>
            </a:avLst>
          </a:prstGeom>
          <a:solidFill>
            <a:srgbClr val="D31242"/>
          </a:solidFill>
          <a:ln/>
          <a:effectLst>
            <a:outerShdw sx="100000" sy="100000" kx="0" ky="0" algn="bl" rotWithShape="0" blurRad="88900" dist="38100" dir="5400000">
              <a:srgbClr val="1F2733">
                <a:alpha val="10000"/>
              </a:srgbClr>
            </a:outerShdw>
          </a:effectLst>
        </p:spPr>
      </p:sp>
      <p:sp>
        <p:nvSpPr>
          <p:cNvPr id="21" name="Shape 18"/>
          <p:cNvSpPr/>
          <p:nvPr/>
        </p:nvSpPr>
        <p:spPr>
          <a:xfrm>
            <a:off x="6569964" y="2057400"/>
            <a:ext cx="1828800" cy="402336"/>
          </a:xfrm>
          <a:prstGeom prst="roundRect">
            <a:avLst>
              <a:gd name="adj" fmla="val 22727"/>
            </a:avLst>
          </a:prstGeom>
          <a:solidFill>
            <a:srgbClr val="7E0A27"/>
          </a:solidFill>
          <a:ln/>
        </p:spPr>
      </p:sp>
      <p:sp>
        <p:nvSpPr>
          <p:cNvPr id="22" name="Text 19"/>
          <p:cNvSpPr/>
          <p:nvPr/>
        </p:nvSpPr>
        <p:spPr>
          <a:xfrm>
            <a:off x="6569964" y="2057400"/>
            <a:ext cx="1828800" cy="40233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YOU ARE HERE</a:t>
            </a:r>
            <a:endParaRPr lang="en-US" sz="1000" dirty="0"/>
          </a:p>
        </p:txBody>
      </p:sp>
      <p:sp>
        <p:nvSpPr>
          <p:cNvPr id="23" name="Shape 20"/>
          <p:cNvSpPr/>
          <p:nvPr/>
        </p:nvSpPr>
        <p:spPr>
          <a:xfrm>
            <a:off x="7191756" y="2788920"/>
            <a:ext cx="585216" cy="585216"/>
          </a:xfrm>
          <a:prstGeom prst="ellipse">
            <a:avLst/>
          </a:prstGeom>
          <a:solidFill>
            <a:srgbClr val="FFFFFF"/>
          </a:solidFill>
          <a:ln/>
        </p:spPr>
      </p:sp>
      <p:sp>
        <p:nvSpPr>
          <p:cNvPr id="24" name="Text 21"/>
          <p:cNvSpPr/>
          <p:nvPr/>
        </p:nvSpPr>
        <p:spPr>
          <a:xfrm>
            <a:off x="7191756" y="2788920"/>
            <a:ext cx="585216" cy="585216"/>
          </a:xfrm>
          <a:prstGeom prst="rect">
            <a:avLst/>
          </a:prstGeom>
          <a:noFill/>
          <a:ln/>
        </p:spPr>
        <p:txBody>
          <a:bodyPr wrap="square" lIns="0" tIns="0" rIns="0" bIns="0" rtlCol="0" anchor="ctr"/>
          <a:lstStyle/>
          <a:p>
            <a:pPr algn="ctr" indent="0" marL="0">
              <a:buNone/>
            </a:pPr>
            <a:r>
              <a:rPr lang="en-US" sz="2200" b="1" dirty="0">
                <a:solidFill>
                  <a:srgbClr val="D31242"/>
                </a:solidFill>
                <a:latin typeface="Arial" pitchFamily="34" charset="0"/>
                <a:ea typeface="Arial" pitchFamily="34" charset="-122"/>
                <a:cs typeface="Arial" pitchFamily="34" charset="-120"/>
              </a:rPr>
              <a:t>3</a:t>
            </a:r>
            <a:endParaRPr lang="en-US" sz="2200" dirty="0"/>
          </a:p>
        </p:txBody>
      </p:sp>
      <p:sp>
        <p:nvSpPr>
          <p:cNvPr id="25" name="Text 22"/>
          <p:cNvSpPr/>
          <p:nvPr/>
        </p:nvSpPr>
        <p:spPr>
          <a:xfrm>
            <a:off x="6327648" y="3502152"/>
            <a:ext cx="2313432" cy="274320"/>
          </a:xfrm>
          <a:prstGeom prst="rect">
            <a:avLst/>
          </a:prstGeom>
          <a:noFill/>
          <a:ln/>
        </p:spPr>
        <p:txBody>
          <a:bodyPr wrap="square" lIns="0" tIns="0" rIns="0" bIns="0" rtlCol="0" anchor="ctr"/>
          <a:lstStyle/>
          <a:p>
            <a:pPr algn="ctr" indent="0" marL="0">
              <a:buNone/>
            </a:pPr>
            <a:r>
              <a:rPr lang="en-US" sz="1050" b="1" spc="100" kern="0" dirty="0">
                <a:solidFill>
                  <a:srgbClr val="FCE4EA"/>
                </a:solidFill>
                <a:latin typeface="Arial" pitchFamily="34" charset="0"/>
                <a:ea typeface="Arial" pitchFamily="34" charset="-122"/>
                <a:cs typeface="Arial" pitchFamily="34" charset="-120"/>
              </a:rPr>
              <a:t>STAGE 3 · INTERMEDIATE</a:t>
            </a:r>
            <a:endParaRPr lang="en-US" sz="1050" dirty="0"/>
          </a:p>
        </p:txBody>
      </p:sp>
      <p:sp>
        <p:nvSpPr>
          <p:cNvPr id="26" name="Text 23"/>
          <p:cNvSpPr/>
          <p:nvPr/>
        </p:nvSpPr>
        <p:spPr>
          <a:xfrm>
            <a:off x="6327648" y="3794760"/>
            <a:ext cx="2313432"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Directing</a:t>
            </a:r>
            <a:endParaRPr lang="en-US" sz="1800" dirty="0"/>
          </a:p>
        </p:txBody>
      </p:sp>
      <p:sp>
        <p:nvSpPr>
          <p:cNvPr id="27" name="Text 24"/>
          <p:cNvSpPr/>
          <p:nvPr/>
        </p:nvSpPr>
        <p:spPr>
          <a:xfrm>
            <a:off x="6382512" y="4325112"/>
            <a:ext cx="2203704" cy="1143000"/>
          </a:xfrm>
          <a:prstGeom prst="rect">
            <a:avLst/>
          </a:prstGeom>
          <a:noFill/>
          <a:ln/>
        </p:spPr>
        <p:txBody>
          <a:bodyPr wrap="square" lIns="0" tIns="0" rIns="0" bIns="0" rtlCol="0" anchor="t"/>
          <a:lstStyle/>
          <a:p>
            <a:pPr algn="ctr" indent="0" marL="0">
              <a:lnSpc>
                <a:spcPct val="105000"/>
              </a:lnSpc>
              <a:buNone/>
            </a:pPr>
            <a:r>
              <a:rPr lang="en-US" sz="1000" dirty="0">
                <a:solidFill>
                  <a:srgbClr val="FCE4EA"/>
                </a:solidFill>
                <a:latin typeface="Arial" pitchFamily="34" charset="0"/>
                <a:ea typeface="Arial" pitchFamily="34" charset="-122"/>
                <a:cs typeface="Arial" pitchFamily="34" charset="-120"/>
              </a:rPr>
              <a:t>Show it examples, ask it to reason first, structure long prompts, and ground answers in your own BJ's documents.</a:t>
            </a:r>
            <a:endParaRPr lang="en-US" sz="1000" dirty="0"/>
          </a:p>
        </p:txBody>
      </p:sp>
      <p:sp>
        <p:nvSpPr>
          <p:cNvPr id="28" name="Text 25"/>
          <p:cNvSpPr/>
          <p:nvPr/>
        </p:nvSpPr>
        <p:spPr>
          <a:xfrm>
            <a:off x="8723376" y="3813048"/>
            <a:ext cx="310896" cy="457200"/>
          </a:xfrm>
          <a:prstGeom prst="rect">
            <a:avLst/>
          </a:prstGeom>
          <a:noFill/>
          <a:ln/>
        </p:spPr>
        <p:txBody>
          <a:bodyPr wrap="square" lIns="0" tIns="0" rIns="0" bIns="0" rtlCol="0" anchor="ctr"/>
          <a:lstStyle/>
          <a:p>
            <a:pPr algn="ctr" indent="0" marL="0">
              <a:buNone/>
            </a:pPr>
            <a:r>
              <a:rPr lang="en-US" sz="2000" b="1" dirty="0">
                <a:solidFill>
                  <a:srgbClr val="8A93A0"/>
                </a:solidFill>
                <a:latin typeface="Arial" pitchFamily="34" charset="0"/>
                <a:ea typeface="Arial" pitchFamily="34" charset="-122"/>
                <a:cs typeface="Arial" pitchFamily="34" charset="-120"/>
              </a:rPr>
              <a:t>→</a:t>
            </a:r>
            <a:endParaRPr lang="en-US" sz="2000" dirty="0"/>
          </a:p>
        </p:txBody>
      </p:sp>
      <p:sp>
        <p:nvSpPr>
          <p:cNvPr id="29" name="Shape 26"/>
          <p:cNvSpPr/>
          <p:nvPr/>
        </p:nvSpPr>
        <p:spPr>
          <a:xfrm>
            <a:off x="9015984" y="2514600"/>
            <a:ext cx="2532888" cy="3063240"/>
          </a:xfrm>
          <a:prstGeom prst="roundRect">
            <a:avLst>
              <a:gd name="adj" fmla="val 3249"/>
            </a:avLst>
          </a:prstGeom>
          <a:solidFill>
            <a:srgbClr val="F5F6F8"/>
          </a:solidFill>
          <a:ln w="12700">
            <a:solidFill>
              <a:srgbClr val="E7E9EE"/>
            </a:solidFill>
            <a:prstDash val="solid"/>
          </a:ln>
        </p:spPr>
      </p:sp>
      <p:sp>
        <p:nvSpPr>
          <p:cNvPr id="30" name="Shape 27"/>
          <p:cNvSpPr/>
          <p:nvPr/>
        </p:nvSpPr>
        <p:spPr>
          <a:xfrm>
            <a:off x="9989820" y="2788920"/>
            <a:ext cx="585216" cy="585216"/>
          </a:xfrm>
          <a:prstGeom prst="ellipse">
            <a:avLst/>
          </a:prstGeom>
          <a:solidFill>
            <a:srgbClr val="D31242"/>
          </a:solidFill>
          <a:ln/>
        </p:spPr>
      </p:sp>
      <p:sp>
        <p:nvSpPr>
          <p:cNvPr id="31" name="Text 28"/>
          <p:cNvSpPr/>
          <p:nvPr/>
        </p:nvSpPr>
        <p:spPr>
          <a:xfrm>
            <a:off x="9989820" y="2788920"/>
            <a:ext cx="585216" cy="585216"/>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4</a:t>
            </a:r>
            <a:endParaRPr lang="en-US" sz="2200" dirty="0"/>
          </a:p>
        </p:txBody>
      </p:sp>
      <p:sp>
        <p:nvSpPr>
          <p:cNvPr id="32" name="Text 29"/>
          <p:cNvSpPr/>
          <p:nvPr/>
        </p:nvSpPr>
        <p:spPr>
          <a:xfrm>
            <a:off x="9125712" y="3502152"/>
            <a:ext cx="2313432" cy="274320"/>
          </a:xfrm>
          <a:prstGeom prst="rect">
            <a:avLst/>
          </a:prstGeom>
          <a:noFill/>
          <a:ln/>
        </p:spPr>
        <p:txBody>
          <a:bodyPr wrap="square" lIns="0" tIns="0" rIns="0" bIns="0" rtlCol="0" anchor="ctr"/>
          <a:lstStyle/>
          <a:p>
            <a:pPr algn="ctr" indent="0" marL="0">
              <a:buNone/>
            </a:pPr>
            <a:r>
              <a:rPr lang="en-US" sz="1050" b="1" spc="100" kern="0" dirty="0">
                <a:solidFill>
                  <a:srgbClr val="D31242"/>
                </a:solidFill>
                <a:latin typeface="Arial" pitchFamily="34" charset="0"/>
                <a:ea typeface="Arial" pitchFamily="34" charset="-122"/>
                <a:cs typeface="Arial" pitchFamily="34" charset="-120"/>
              </a:rPr>
              <a:t>STAGE 4 · ADVANCED</a:t>
            </a:r>
            <a:endParaRPr lang="en-US" sz="1050" dirty="0"/>
          </a:p>
        </p:txBody>
      </p:sp>
      <p:sp>
        <p:nvSpPr>
          <p:cNvPr id="33" name="Text 30"/>
          <p:cNvSpPr/>
          <p:nvPr/>
        </p:nvSpPr>
        <p:spPr>
          <a:xfrm>
            <a:off x="9125712" y="3794760"/>
            <a:ext cx="2313432" cy="457200"/>
          </a:xfrm>
          <a:prstGeom prst="rect">
            <a:avLst/>
          </a:prstGeom>
          <a:noFill/>
          <a:ln/>
        </p:spPr>
        <p:txBody>
          <a:bodyPr wrap="square" lIns="0" tIns="0" rIns="0" bIns="0" rtlCol="0" anchor="ctr"/>
          <a:lstStyle/>
          <a:p>
            <a:pPr algn="ctr" indent="0" marL="0">
              <a:buNone/>
            </a:pPr>
            <a:r>
              <a:rPr lang="en-US" sz="1800" b="1" dirty="0">
                <a:solidFill>
                  <a:srgbClr val="1F2733"/>
                </a:solidFill>
                <a:latin typeface="Arial" pitchFamily="34" charset="0"/>
                <a:ea typeface="Arial" pitchFamily="34" charset="-122"/>
                <a:cs typeface="Arial" pitchFamily="34" charset="-120"/>
              </a:rPr>
              <a:t>Designing</a:t>
            </a:r>
            <a:endParaRPr lang="en-US" sz="1800" dirty="0"/>
          </a:p>
        </p:txBody>
      </p:sp>
      <p:sp>
        <p:nvSpPr>
          <p:cNvPr id="34" name="Text 31"/>
          <p:cNvSpPr/>
          <p:nvPr/>
        </p:nvSpPr>
        <p:spPr>
          <a:xfrm>
            <a:off x="9180576" y="4325112"/>
            <a:ext cx="2203704" cy="1143000"/>
          </a:xfrm>
          <a:prstGeom prst="rect">
            <a:avLst/>
          </a:prstGeom>
          <a:noFill/>
          <a:ln/>
        </p:spPr>
        <p:txBody>
          <a:bodyPr wrap="square" lIns="0" tIns="0" rIns="0" bIns="0" rtlCol="0" anchor="t"/>
          <a:lstStyle/>
          <a:p>
            <a:pPr algn="ctr" indent="0" marL="0">
              <a:lnSpc>
                <a:spcPct val="105000"/>
              </a:lnSpc>
              <a:buNone/>
            </a:pPr>
            <a:r>
              <a:rPr lang="en-US" sz="1000" dirty="0">
                <a:solidFill>
                  <a:srgbClr val="5E6A78"/>
                </a:solidFill>
                <a:latin typeface="Arial" pitchFamily="34" charset="0"/>
                <a:ea typeface="Arial" pitchFamily="34" charset="-122"/>
                <a:cs typeface="Arial" pitchFamily="34" charset="-120"/>
              </a:rPr>
              <a:t>Chain tasks into steps, build reusable team templates, engineer context, and evaluate outputs with guardrails.</a:t>
            </a:r>
            <a:endParaRPr lang="en-US" sz="1000" dirty="0"/>
          </a:p>
        </p:txBody>
      </p:sp>
      <p:sp>
        <p:nvSpPr>
          <p:cNvPr id="35" name="Text 32"/>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INTERMEDIATE · ROADMAP</a:t>
            </a:r>
            <a:endParaRPr lang="en-US" sz="850" dirty="0"/>
          </a:p>
        </p:txBody>
      </p:sp>
      <p:sp>
        <p:nvSpPr>
          <p:cNvPr id="36" name="Text 33"/>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RECAP · WHERE YOU LEFT OFF</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You can already compose a strong prompt</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In Beginner you stopped typing one-liners and hoping. You learned to build prompts on purpose with CO-STAR — Context, Objective, Style, Tone, Audience, Response — and the Refine loop: check the answer, then improve it in one follow-up instead of starting over.</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Today we go one step further. Same six-part habit, but now you actively direct the model: show it what you want, ask it to reason, and feed it your own material.</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YOUR STARTING POINT</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b="1" dirty="0">
                <a:solidFill>
                  <a:srgbClr val="1F2733"/>
                </a:solidFill>
                <a:latin typeface="Arial" pitchFamily="34" charset="0"/>
                <a:ea typeface="Arial" pitchFamily="34" charset="-122"/>
                <a:cs typeface="Arial" pitchFamily="34" charset="-120"/>
              </a:rPr>
              <a:t>CO-STAR</a:t>
            </a:r>
            <a:pPr indent="0" marL="0">
              <a:lnSpc>
                <a:spcPct val="115000"/>
              </a:lnSpc>
              <a:buNone/>
            </a:pPr>
            <a:r>
              <a:rPr lang="en-US" sz="1450" dirty="0">
                <a:solidFill>
                  <a:srgbClr val="3A4452"/>
                </a:solidFill>
                <a:latin typeface="Arial" pitchFamily="34" charset="0"/>
                <a:ea typeface="Arial" pitchFamily="34" charset="-122"/>
                <a:cs typeface="Arial" pitchFamily="34" charset="-120"/>
              </a:rPr>
              <a:t>  the six parts of a strong prompt.
</a:t>
            </a:r>
            <a:pPr indent="0" marL="0">
              <a:lnSpc>
                <a:spcPct val="115000"/>
              </a:lnSpc>
              <a:buNone/>
            </a:pPr>
            <a:r>
              <a:rPr lang="en-US" sz="1450" b="1" dirty="0">
                <a:solidFill>
                  <a:srgbClr val="1F2733"/>
                </a:solidFill>
                <a:latin typeface="Arial" pitchFamily="34" charset="0"/>
                <a:ea typeface="Arial" pitchFamily="34" charset="-122"/>
                <a:cs typeface="Arial" pitchFamily="34" charset="-120"/>
              </a:rPr>
              <a:t>↻ Refine</a:t>
            </a:r>
            <a:pPr indent="0" marL="0">
              <a:lnSpc>
                <a:spcPct val="115000"/>
              </a:lnSpc>
              <a:buNone/>
            </a:pPr>
            <a:r>
              <a:rPr lang="en-US" sz="1450" dirty="0">
                <a:solidFill>
                  <a:srgbClr val="3A4452"/>
                </a:solidFill>
                <a:latin typeface="Arial" pitchFamily="34" charset="0"/>
                <a:ea typeface="Arial" pitchFamily="34" charset="-122"/>
                <a:cs typeface="Arial" pitchFamily="34" charset="-120"/>
              </a:rPr>
              <a:t>  improve in one follow-up — don't restart.</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INTERMEDIATE · RECAP</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LEARNING OBJECTIVES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By the end of this module, you will be able to:</a:t>
            </a:r>
            <a:endParaRPr lang="en-US" sz="3000" dirty="0"/>
          </a:p>
        </p:txBody>
      </p:sp>
      <p:sp>
        <p:nvSpPr>
          <p:cNvPr id="6" name="Shape 3"/>
          <p:cNvSpPr/>
          <p:nvPr/>
        </p:nvSpPr>
        <p:spPr>
          <a:xfrm>
            <a:off x="640080" y="1965960"/>
            <a:ext cx="10881360" cy="749808"/>
          </a:xfrm>
          <a:prstGeom prst="roundRect">
            <a:avLst>
              <a:gd name="adj" fmla="val 10976"/>
            </a:avLst>
          </a:prstGeom>
          <a:solidFill>
            <a:srgbClr val="F5F6F8"/>
          </a:solidFill>
          <a:ln w="12700">
            <a:solidFill>
              <a:srgbClr val="E7E9EE"/>
            </a:solidFill>
            <a:prstDash val="solid"/>
          </a:ln>
        </p:spPr>
      </p:sp>
      <p:sp>
        <p:nvSpPr>
          <p:cNvPr id="7" name="Shape 4"/>
          <p:cNvSpPr/>
          <p:nvPr/>
        </p:nvSpPr>
        <p:spPr>
          <a:xfrm>
            <a:off x="868680" y="2112264"/>
            <a:ext cx="457200" cy="457200"/>
          </a:xfrm>
          <a:prstGeom prst="ellipse">
            <a:avLst/>
          </a:prstGeom>
          <a:solidFill>
            <a:srgbClr val="D31242"/>
          </a:solidFill>
          <a:ln/>
        </p:spPr>
      </p:sp>
      <p:sp>
        <p:nvSpPr>
          <p:cNvPr id="8" name="Text 5"/>
          <p:cNvSpPr/>
          <p:nvPr/>
        </p:nvSpPr>
        <p:spPr>
          <a:xfrm>
            <a:off x="868680" y="211226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9" name="Text 6"/>
          <p:cNvSpPr/>
          <p:nvPr/>
        </p:nvSpPr>
        <p:spPr>
          <a:xfrm>
            <a:off x="1600200" y="2039112"/>
            <a:ext cx="9692640" cy="603504"/>
          </a:xfrm>
          <a:prstGeom prst="rect">
            <a:avLst/>
          </a:prstGeom>
          <a:noFill/>
          <a:ln/>
        </p:spPr>
        <p:txBody>
          <a:bodyPr wrap="square" lIns="0" tIns="0" rIns="0" bIns="0" rtlCol="0" anchor="ctr"/>
          <a:lstStyle/>
          <a:p>
            <a:pPr indent="0" marL="0">
              <a:lnSpc>
                <a:spcPct val="100000"/>
              </a:lnSpc>
              <a:buNone/>
            </a:pPr>
            <a:r>
              <a:rPr lang="en-US" sz="1550" b="1" dirty="0">
                <a:solidFill>
                  <a:srgbClr val="1F2733"/>
                </a:solidFill>
                <a:latin typeface="Arial" pitchFamily="34" charset="0"/>
                <a:ea typeface="Arial" pitchFamily="34" charset="-122"/>
                <a:cs typeface="Arial" pitchFamily="34" charset="-120"/>
              </a:rPr>
              <a:t>Show it examples</a:t>
            </a:r>
            <a:endParaRPr lang="en-US" sz="1550" dirty="0"/>
          </a:p>
          <a:p>
            <a:pPr indent="0" marL="0">
              <a:lnSpc>
                <a:spcPct val="100000"/>
              </a:lnSpc>
              <a:buNone/>
            </a:pPr>
            <a:r>
              <a:rPr lang="en-US" sz="1200" dirty="0">
                <a:solidFill>
                  <a:srgbClr val="5E6A78"/>
                </a:solidFill>
                <a:latin typeface="Arial" pitchFamily="34" charset="0"/>
                <a:ea typeface="Arial" pitchFamily="34" charset="-122"/>
                <a:cs typeface="Arial" pitchFamily="34" charset="-120"/>
              </a:rPr>
              <a:t>Give 1–2 worked examples to lock in the exact style and format.</a:t>
            </a:r>
            <a:endParaRPr lang="en-US" sz="1550" dirty="0"/>
          </a:p>
        </p:txBody>
      </p:sp>
      <p:sp>
        <p:nvSpPr>
          <p:cNvPr id="10" name="Shape 7"/>
          <p:cNvSpPr/>
          <p:nvPr/>
        </p:nvSpPr>
        <p:spPr>
          <a:xfrm>
            <a:off x="640080" y="2834640"/>
            <a:ext cx="10881360" cy="749808"/>
          </a:xfrm>
          <a:prstGeom prst="roundRect">
            <a:avLst>
              <a:gd name="adj" fmla="val 10976"/>
            </a:avLst>
          </a:prstGeom>
          <a:solidFill>
            <a:srgbClr val="F5F6F8"/>
          </a:solidFill>
          <a:ln w="12700">
            <a:solidFill>
              <a:srgbClr val="E7E9EE"/>
            </a:solidFill>
            <a:prstDash val="solid"/>
          </a:ln>
        </p:spPr>
      </p:sp>
      <p:sp>
        <p:nvSpPr>
          <p:cNvPr id="11" name="Shape 8"/>
          <p:cNvSpPr/>
          <p:nvPr/>
        </p:nvSpPr>
        <p:spPr>
          <a:xfrm>
            <a:off x="868680" y="2980944"/>
            <a:ext cx="457200" cy="457200"/>
          </a:xfrm>
          <a:prstGeom prst="ellipse">
            <a:avLst/>
          </a:prstGeom>
          <a:solidFill>
            <a:srgbClr val="D31242"/>
          </a:solidFill>
          <a:ln/>
        </p:spPr>
      </p:sp>
      <p:sp>
        <p:nvSpPr>
          <p:cNvPr id="12" name="Text 9"/>
          <p:cNvSpPr/>
          <p:nvPr/>
        </p:nvSpPr>
        <p:spPr>
          <a:xfrm>
            <a:off x="868680" y="298094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3" name="Text 10"/>
          <p:cNvSpPr/>
          <p:nvPr/>
        </p:nvSpPr>
        <p:spPr>
          <a:xfrm>
            <a:off x="1600200" y="2907792"/>
            <a:ext cx="9692640" cy="603504"/>
          </a:xfrm>
          <a:prstGeom prst="rect">
            <a:avLst/>
          </a:prstGeom>
          <a:noFill/>
          <a:ln/>
        </p:spPr>
        <p:txBody>
          <a:bodyPr wrap="square" lIns="0" tIns="0" rIns="0" bIns="0" rtlCol="0" anchor="ctr"/>
          <a:lstStyle/>
          <a:p>
            <a:pPr indent="0" marL="0">
              <a:lnSpc>
                <a:spcPct val="100000"/>
              </a:lnSpc>
              <a:buNone/>
            </a:pPr>
            <a:r>
              <a:rPr lang="en-US" sz="1550" b="1" dirty="0">
                <a:solidFill>
                  <a:srgbClr val="1F2733"/>
                </a:solidFill>
                <a:latin typeface="Arial" pitchFamily="34" charset="0"/>
                <a:ea typeface="Arial" pitchFamily="34" charset="-122"/>
                <a:cs typeface="Arial" pitchFamily="34" charset="-120"/>
              </a:rPr>
              <a:t>Ask it to reason first</a:t>
            </a:r>
            <a:endParaRPr lang="en-US" sz="1550" dirty="0"/>
          </a:p>
          <a:p>
            <a:pPr indent="0" marL="0">
              <a:lnSpc>
                <a:spcPct val="100000"/>
              </a:lnSpc>
              <a:buNone/>
            </a:pPr>
            <a:r>
              <a:rPr lang="en-US" sz="1200" dirty="0">
                <a:solidFill>
                  <a:srgbClr val="5E6A78"/>
                </a:solidFill>
                <a:latin typeface="Arial" pitchFamily="34" charset="0"/>
                <a:ea typeface="Arial" pitchFamily="34" charset="-122"/>
                <a:cs typeface="Arial" pitchFamily="34" charset="-120"/>
              </a:rPr>
              <a:t>On judgment calls, have it think through the factors before answering.</a:t>
            </a:r>
            <a:endParaRPr lang="en-US" sz="1550" dirty="0"/>
          </a:p>
        </p:txBody>
      </p:sp>
      <p:sp>
        <p:nvSpPr>
          <p:cNvPr id="14" name="Shape 11"/>
          <p:cNvSpPr/>
          <p:nvPr/>
        </p:nvSpPr>
        <p:spPr>
          <a:xfrm>
            <a:off x="640080" y="3703320"/>
            <a:ext cx="10881360" cy="749808"/>
          </a:xfrm>
          <a:prstGeom prst="roundRect">
            <a:avLst>
              <a:gd name="adj" fmla="val 10976"/>
            </a:avLst>
          </a:prstGeom>
          <a:solidFill>
            <a:srgbClr val="F5F6F8"/>
          </a:solidFill>
          <a:ln w="12700">
            <a:solidFill>
              <a:srgbClr val="E7E9EE"/>
            </a:solidFill>
            <a:prstDash val="solid"/>
          </a:ln>
        </p:spPr>
      </p:sp>
      <p:sp>
        <p:nvSpPr>
          <p:cNvPr id="15" name="Shape 12"/>
          <p:cNvSpPr/>
          <p:nvPr/>
        </p:nvSpPr>
        <p:spPr>
          <a:xfrm>
            <a:off x="868680" y="3849624"/>
            <a:ext cx="457200" cy="457200"/>
          </a:xfrm>
          <a:prstGeom prst="ellipse">
            <a:avLst/>
          </a:prstGeom>
          <a:solidFill>
            <a:srgbClr val="D31242"/>
          </a:solidFill>
          <a:ln/>
        </p:spPr>
      </p:sp>
      <p:sp>
        <p:nvSpPr>
          <p:cNvPr id="16" name="Text 13"/>
          <p:cNvSpPr/>
          <p:nvPr/>
        </p:nvSpPr>
        <p:spPr>
          <a:xfrm>
            <a:off x="868680" y="384962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7" name="Text 14"/>
          <p:cNvSpPr/>
          <p:nvPr/>
        </p:nvSpPr>
        <p:spPr>
          <a:xfrm>
            <a:off x="1600200" y="3776472"/>
            <a:ext cx="9692640" cy="603504"/>
          </a:xfrm>
          <a:prstGeom prst="rect">
            <a:avLst/>
          </a:prstGeom>
          <a:noFill/>
          <a:ln/>
        </p:spPr>
        <p:txBody>
          <a:bodyPr wrap="square" lIns="0" tIns="0" rIns="0" bIns="0" rtlCol="0" anchor="ctr"/>
          <a:lstStyle/>
          <a:p>
            <a:pPr indent="0" marL="0">
              <a:lnSpc>
                <a:spcPct val="100000"/>
              </a:lnSpc>
              <a:buNone/>
            </a:pPr>
            <a:r>
              <a:rPr lang="en-US" sz="1550" b="1" dirty="0">
                <a:solidFill>
                  <a:srgbClr val="1F2733"/>
                </a:solidFill>
                <a:latin typeface="Arial" pitchFamily="34" charset="0"/>
                <a:ea typeface="Arial" pitchFamily="34" charset="-122"/>
                <a:cs typeface="Arial" pitchFamily="34" charset="-120"/>
              </a:rPr>
              <a:t>Structure a long prompt</a:t>
            </a:r>
            <a:endParaRPr lang="en-US" sz="1550" dirty="0"/>
          </a:p>
          <a:p>
            <a:pPr indent="0" marL="0">
              <a:lnSpc>
                <a:spcPct val="100000"/>
              </a:lnSpc>
              <a:buNone/>
            </a:pPr>
            <a:r>
              <a:rPr lang="en-US" sz="1200" dirty="0">
                <a:solidFill>
                  <a:srgbClr val="5E6A78"/>
                </a:solidFill>
                <a:latin typeface="Arial" pitchFamily="34" charset="0"/>
                <a:ea typeface="Arial" pitchFamily="34" charset="-122"/>
                <a:cs typeface="Arial" pitchFamily="34" charset="-120"/>
              </a:rPr>
              <a:t>Separate your instructions from your material so they don't blur.</a:t>
            </a:r>
            <a:endParaRPr lang="en-US" sz="1550" dirty="0"/>
          </a:p>
        </p:txBody>
      </p:sp>
      <p:sp>
        <p:nvSpPr>
          <p:cNvPr id="18" name="Shape 15"/>
          <p:cNvSpPr/>
          <p:nvPr/>
        </p:nvSpPr>
        <p:spPr>
          <a:xfrm>
            <a:off x="640080" y="4572000"/>
            <a:ext cx="10881360" cy="749808"/>
          </a:xfrm>
          <a:prstGeom prst="roundRect">
            <a:avLst>
              <a:gd name="adj" fmla="val 10976"/>
            </a:avLst>
          </a:prstGeom>
          <a:solidFill>
            <a:srgbClr val="F5F6F8"/>
          </a:solidFill>
          <a:ln w="12700">
            <a:solidFill>
              <a:srgbClr val="E7E9EE"/>
            </a:solidFill>
            <a:prstDash val="solid"/>
          </a:ln>
        </p:spPr>
      </p:sp>
      <p:sp>
        <p:nvSpPr>
          <p:cNvPr id="19" name="Shape 16"/>
          <p:cNvSpPr/>
          <p:nvPr/>
        </p:nvSpPr>
        <p:spPr>
          <a:xfrm>
            <a:off x="868680" y="4718304"/>
            <a:ext cx="457200" cy="457200"/>
          </a:xfrm>
          <a:prstGeom prst="ellipse">
            <a:avLst/>
          </a:prstGeom>
          <a:solidFill>
            <a:srgbClr val="D31242"/>
          </a:solidFill>
          <a:ln/>
        </p:spPr>
      </p:sp>
      <p:sp>
        <p:nvSpPr>
          <p:cNvPr id="20" name="Text 17"/>
          <p:cNvSpPr/>
          <p:nvPr/>
        </p:nvSpPr>
        <p:spPr>
          <a:xfrm>
            <a:off x="868680" y="471830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1" name="Text 18"/>
          <p:cNvSpPr/>
          <p:nvPr/>
        </p:nvSpPr>
        <p:spPr>
          <a:xfrm>
            <a:off x="1600200" y="4645152"/>
            <a:ext cx="9692640" cy="603504"/>
          </a:xfrm>
          <a:prstGeom prst="rect">
            <a:avLst/>
          </a:prstGeom>
          <a:noFill/>
          <a:ln/>
        </p:spPr>
        <p:txBody>
          <a:bodyPr wrap="square" lIns="0" tIns="0" rIns="0" bIns="0" rtlCol="0" anchor="ctr"/>
          <a:lstStyle/>
          <a:p>
            <a:pPr indent="0" marL="0">
              <a:lnSpc>
                <a:spcPct val="100000"/>
              </a:lnSpc>
              <a:buNone/>
            </a:pPr>
            <a:r>
              <a:rPr lang="en-US" sz="1550" b="1" dirty="0">
                <a:solidFill>
                  <a:srgbClr val="1F2733"/>
                </a:solidFill>
                <a:latin typeface="Arial" pitchFamily="34" charset="0"/>
                <a:ea typeface="Arial" pitchFamily="34" charset="-122"/>
                <a:cs typeface="Arial" pitchFamily="34" charset="-120"/>
              </a:rPr>
              <a:t>Work from your own documents</a:t>
            </a:r>
            <a:endParaRPr lang="en-US" sz="1550" dirty="0"/>
          </a:p>
          <a:p>
            <a:pPr indent="0" marL="0">
              <a:lnSpc>
                <a:spcPct val="100000"/>
              </a:lnSpc>
              <a:buNone/>
            </a:pPr>
            <a:r>
              <a:rPr lang="en-US" sz="1200" dirty="0">
                <a:solidFill>
                  <a:srgbClr val="5E6A78"/>
                </a:solidFill>
                <a:latin typeface="Arial" pitchFamily="34" charset="0"/>
                <a:ea typeface="Arial" pitchFamily="34" charset="-122"/>
                <a:cs typeface="Arial" pitchFamily="34" charset="-120"/>
              </a:rPr>
              <a:t>Ground answers in a real source, quote it — and keep member data safe.</a:t>
            </a:r>
            <a:endParaRPr lang="en-US" sz="1550" dirty="0"/>
          </a:p>
        </p:txBody>
      </p:sp>
      <p:sp>
        <p:nvSpPr>
          <p:cNvPr id="22" name="Shape 19"/>
          <p:cNvSpPr/>
          <p:nvPr/>
        </p:nvSpPr>
        <p:spPr>
          <a:xfrm>
            <a:off x="640080" y="5440680"/>
            <a:ext cx="10881360" cy="749808"/>
          </a:xfrm>
          <a:prstGeom prst="roundRect">
            <a:avLst>
              <a:gd name="adj" fmla="val 10976"/>
            </a:avLst>
          </a:prstGeom>
          <a:solidFill>
            <a:srgbClr val="F5F6F8"/>
          </a:solidFill>
          <a:ln w="12700">
            <a:solidFill>
              <a:srgbClr val="E7E9EE"/>
            </a:solidFill>
            <a:prstDash val="solid"/>
          </a:ln>
        </p:spPr>
      </p:sp>
      <p:sp>
        <p:nvSpPr>
          <p:cNvPr id="23" name="Shape 20"/>
          <p:cNvSpPr/>
          <p:nvPr/>
        </p:nvSpPr>
        <p:spPr>
          <a:xfrm>
            <a:off x="868680" y="5586984"/>
            <a:ext cx="457200" cy="457200"/>
          </a:xfrm>
          <a:prstGeom prst="ellipse">
            <a:avLst/>
          </a:prstGeom>
          <a:solidFill>
            <a:srgbClr val="D31242"/>
          </a:solidFill>
          <a:ln/>
        </p:spPr>
      </p:sp>
      <p:sp>
        <p:nvSpPr>
          <p:cNvPr id="24" name="Text 21"/>
          <p:cNvSpPr/>
          <p:nvPr/>
        </p:nvSpPr>
        <p:spPr>
          <a:xfrm>
            <a:off x="868680" y="558698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25" name="Text 22"/>
          <p:cNvSpPr/>
          <p:nvPr/>
        </p:nvSpPr>
        <p:spPr>
          <a:xfrm>
            <a:off x="1600200" y="5513832"/>
            <a:ext cx="9692640" cy="603504"/>
          </a:xfrm>
          <a:prstGeom prst="rect">
            <a:avLst/>
          </a:prstGeom>
          <a:noFill/>
          <a:ln/>
        </p:spPr>
        <p:txBody>
          <a:bodyPr wrap="square" lIns="0" tIns="0" rIns="0" bIns="0" rtlCol="0" anchor="ctr"/>
          <a:lstStyle/>
          <a:p>
            <a:pPr indent="0" marL="0">
              <a:lnSpc>
                <a:spcPct val="100000"/>
              </a:lnSpc>
              <a:buNone/>
            </a:pPr>
            <a:r>
              <a:rPr lang="en-US" sz="1550" b="1" dirty="0">
                <a:solidFill>
                  <a:srgbClr val="1F2733"/>
                </a:solidFill>
                <a:latin typeface="Arial" pitchFamily="34" charset="0"/>
                <a:ea typeface="Arial" pitchFamily="34" charset="-122"/>
                <a:cs typeface="Arial" pitchFamily="34" charset="-120"/>
              </a:rPr>
              <a:t>Diagnose and refine</a:t>
            </a:r>
            <a:endParaRPr lang="en-US" sz="1550" dirty="0"/>
          </a:p>
          <a:p>
            <a:pPr indent="0" marL="0">
              <a:lnSpc>
                <a:spcPct val="100000"/>
              </a:lnSpc>
              <a:buNone/>
            </a:pPr>
            <a:r>
              <a:rPr lang="en-US" sz="1200" dirty="0">
                <a:solidFill>
                  <a:srgbClr val="5E6A78"/>
                </a:solidFill>
                <a:latin typeface="Arial" pitchFamily="34" charset="0"/>
                <a:ea typeface="Arial" pitchFamily="34" charset="-122"/>
                <a:cs typeface="Arial" pitchFamily="34" charset="-120"/>
              </a:rPr>
              <a:t>Work out why an output missed and fix the prompt, not just re-roll.</a:t>
            </a:r>
            <a:endParaRPr lang="en-US" sz="1550" dirty="0"/>
          </a:p>
        </p:txBody>
      </p:sp>
      <p:sp>
        <p:nvSpPr>
          <p:cNvPr id="26" name="Text 23"/>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INTERMEDIATE · OBJECTIVES</a:t>
            </a:r>
            <a:endParaRPr lang="en-US" sz="850" dirty="0"/>
          </a:p>
        </p:txBody>
      </p:sp>
      <p:sp>
        <p:nvSpPr>
          <p:cNvPr id="27" name="Text 24"/>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WHY THIS MATTERS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From a good answer to a reliable one</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Composing gets you a strong answer once. Directing gets you a good answer every time — on the messy, higher-stakes work you actually do: making sense of a pile of member feedback, deciding what to escalate, summarizing a document without inventing facts.</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These are small moves. Each takes seconds, and each changes the result completely.</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OUR RUNNING EXAMPLE</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100" i="1" dirty="0">
                <a:solidFill>
                  <a:srgbClr val="5E6A78"/>
                </a:solidFill>
                <a:latin typeface="Arial" pitchFamily="34" charset="0"/>
                <a:ea typeface="Arial" pitchFamily="34" charset="-122"/>
                <a:cs typeface="Arial" pitchFamily="34" charset="-120"/>
              </a:rPr>
              <a:t>Last weekend's post-visit survey — about 30 comments. Five of them:
</a:t>
            </a:r>
            <a:pPr indent="0" marL="0">
              <a:lnSpc>
                <a:spcPct val="115000"/>
              </a:lnSpc>
              <a:buNone/>
            </a:pPr>
            <a:r>
              <a:rPr lang="en-US" sz="1100" dirty="0">
                <a:solidFill>
                  <a:srgbClr val="1F2733"/>
                </a:solidFill>
                <a:latin typeface="Arial" pitchFamily="34" charset="0"/>
                <a:ea typeface="Arial" pitchFamily="34" charset="-122"/>
                <a:cs typeface="Arial" pitchFamily="34" charset="-120"/>
              </a:rPr>
              <a:t>“Waited 22 min at checkout — only 3 lanes open.”
“Rotisserie chicken is always fresh!”
“The app froze when I clipped the gas coupon.”
“Gas pump 4 is down again.”
“Wilted spinach and moldy berries in produce.”
</a:t>
            </a:r>
            <a:pPr indent="0" marL="0">
              <a:lnSpc>
                <a:spcPct val="115000"/>
              </a:lnSpc>
              <a:buNone/>
            </a:pPr>
            <a:r>
              <a:rPr lang="en-US" sz="1100" i="1" dirty="0">
                <a:solidFill>
                  <a:srgbClr val="5E6A78"/>
                </a:solidFill>
                <a:latin typeface="Arial" pitchFamily="34" charset="0"/>
                <a:ea typeface="Arial" pitchFamily="34" charset="-122"/>
                <a:cs typeface="Arial" pitchFamily="34" charset="-120"/>
              </a:rPr>
              <a:t>We'll turn these real comments into something a manager can act on.</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INTERMEDIATE · WHY IT MATTERS</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SHOW, DON'T JUST TELL</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Examples teach faster than instructions</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Describing the format you want is slow and easy to misread. Showing it is instant. Give the model one or two entries done exactly right and it copies the pattern for the rest — the way you'd train a new associate by showing them a couple, not reading them the manual.</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One or two good examples is usually enough. It's one of the most reliable moves in prompting.</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IN PRACTICE</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Here are two comments formatted the way I want:
</a:t>
            </a:r>
            <a:pPr indent="0" marL="0">
              <a:lnSpc>
                <a:spcPct val="115000"/>
              </a:lnSpc>
              <a:buNone/>
            </a:pPr>
            <a:r>
              <a:rPr lang="en-US" sz="1300" dirty="0">
                <a:solidFill>
                  <a:srgbClr val="3A4452"/>
                </a:solidFill>
                <a:latin typeface="Arial" pitchFamily="34" charset="0"/>
                <a:ea typeface="Arial" pitchFamily="34" charset="-122"/>
                <a:cs typeface="Arial" pitchFamily="34" charset="-120"/>
              </a:rPr>
              <a:t>Checkout waits — Negative — 'only 3 lanes open.'
Rotisserie chicken — Positive — 'always fresh.'
</a:t>
            </a:r>
            <a:pPr indent="0" marL="0">
              <a:lnSpc>
                <a:spcPct val="115000"/>
              </a:lnSpc>
              <a:buNone/>
            </a:pPr>
            <a:r>
              <a:rPr lang="en-US" sz="1450" b="1" dirty="0">
                <a:solidFill>
                  <a:srgbClr val="1F2733"/>
                </a:solidFill>
                <a:latin typeface="Arial" pitchFamily="34" charset="0"/>
                <a:ea typeface="Arial" pitchFamily="34" charset="-122"/>
                <a:cs typeface="Arial" pitchFamily="34" charset="-120"/>
              </a:rPr>
              <a:t>Now format the remaining six the same way.</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INTERMEDIATE · EXAMPLES</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SHOW, DON'T JUST TELL</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Told vs. shown — the actual output</a:t>
            </a:r>
            <a:endParaRPr lang="en-US" sz="3000" dirty="0"/>
          </a:p>
        </p:txBody>
      </p:sp>
      <p:sp>
        <p:nvSpPr>
          <p:cNvPr id="6" name="Shape 3"/>
          <p:cNvSpPr/>
          <p:nvPr/>
        </p:nvSpPr>
        <p:spPr>
          <a:xfrm>
            <a:off x="640080" y="1920240"/>
            <a:ext cx="5303520" cy="4279392"/>
          </a:xfrm>
          <a:prstGeom prst="roundRect">
            <a:avLst>
              <a:gd name="adj" fmla="val 1923"/>
            </a:avLst>
          </a:prstGeom>
          <a:solidFill>
            <a:srgbClr val="F5F6F8"/>
          </a:solidFill>
          <a:ln w="12700">
            <a:solidFill>
              <a:srgbClr val="E7E9EE"/>
            </a:solidFill>
            <a:prstDash val="solid"/>
          </a:ln>
        </p:spPr>
      </p:sp>
      <p:sp>
        <p:nvSpPr>
          <p:cNvPr id="7" name="Text 4"/>
          <p:cNvSpPr/>
          <p:nvPr/>
        </p:nvSpPr>
        <p:spPr>
          <a:xfrm>
            <a:off x="914400" y="210312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TOLD IT — “format these neatly”</a:t>
            </a:r>
            <a:endParaRPr lang="en-US" sz="1100" dirty="0"/>
          </a:p>
        </p:txBody>
      </p:sp>
      <p:sp>
        <p:nvSpPr>
          <p:cNvPr id="8" name="Text 5"/>
          <p:cNvSpPr/>
          <p:nvPr/>
        </p:nvSpPr>
        <p:spPr>
          <a:xfrm>
            <a:off x="914400"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9" name="Text 6"/>
          <p:cNvSpPr/>
          <p:nvPr/>
        </p:nvSpPr>
        <p:spPr>
          <a:xfrm>
            <a:off x="914400"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Format these comments neatly.</a:t>
            </a:r>
            <a:endParaRPr lang="en-US" sz="1050" dirty="0"/>
          </a:p>
        </p:txBody>
      </p:sp>
      <p:sp>
        <p:nvSpPr>
          <p:cNvPr id="10" name="Text 7"/>
          <p:cNvSpPr/>
          <p:nvPr/>
        </p:nvSpPr>
        <p:spPr>
          <a:xfrm>
            <a:off x="914400" y="3621024"/>
            <a:ext cx="4754880" cy="219456"/>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WHAT YOU GET BACK</a:t>
            </a:r>
            <a:endParaRPr lang="en-US" sz="950" dirty="0"/>
          </a:p>
        </p:txBody>
      </p:sp>
      <p:sp>
        <p:nvSpPr>
          <p:cNvPr id="11" name="Text 8"/>
          <p:cNvSpPr/>
          <p:nvPr/>
        </p:nvSpPr>
        <p:spPr>
          <a:xfrm>
            <a:off x="914400"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 checkout was really slow saturday, 3 lanes open</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The rotisserie chicken is great, always fresh!</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 app froze when I clipped the gas coupon</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Gas pump 4 down again, ugh.</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wilted spinach and moldy berries in produce</a:t>
            </a:r>
            <a:endParaRPr lang="en-US" sz="1050" dirty="0"/>
          </a:p>
        </p:txBody>
      </p:sp>
      <p:sp>
        <p:nvSpPr>
          <p:cNvPr id="12" name="Text 9"/>
          <p:cNvSpPr/>
          <p:nvPr/>
        </p:nvSpPr>
        <p:spPr>
          <a:xfrm>
            <a:off x="914400" y="5285232"/>
            <a:ext cx="4754880" cy="201168"/>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WHY IT FALLS SHORT</a:t>
            </a:r>
            <a:endParaRPr lang="en-US" sz="950" dirty="0"/>
          </a:p>
        </p:txBody>
      </p:sp>
      <p:sp>
        <p:nvSpPr>
          <p:cNvPr id="13" name="Text 10"/>
          <p:cNvSpPr/>
          <p:nvPr/>
        </p:nvSpPr>
        <p:spPr>
          <a:xfrm>
            <a:off x="914400"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'Neatly' is a wish, not a format — with nothing to copy, it picked a different shape for every row.</a:t>
            </a:r>
            <a:endParaRPr lang="en-US" sz="1000" dirty="0"/>
          </a:p>
        </p:txBody>
      </p:sp>
      <p:sp>
        <p:nvSpPr>
          <p:cNvPr id="14" name="Shape 11"/>
          <p:cNvSpPr/>
          <p:nvPr/>
        </p:nvSpPr>
        <p:spPr>
          <a:xfrm>
            <a:off x="6245352" y="1920240"/>
            <a:ext cx="5303520" cy="4279392"/>
          </a:xfrm>
          <a:prstGeom prst="roundRect">
            <a:avLst>
              <a:gd name="adj" fmla="val 1923"/>
            </a:avLst>
          </a:prstGeom>
          <a:solidFill>
            <a:srgbClr val="DCFCE7"/>
          </a:solidFill>
          <a:ln/>
        </p:spPr>
      </p:sp>
      <p:sp>
        <p:nvSpPr>
          <p:cNvPr id="15" name="Text 12"/>
          <p:cNvSpPr/>
          <p:nvPr/>
        </p:nvSpPr>
        <p:spPr>
          <a:xfrm>
            <a:off x="6519672" y="210312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SHOWED IT — two examples first</a:t>
            </a:r>
            <a:endParaRPr lang="en-US" sz="1100" dirty="0"/>
          </a:p>
        </p:txBody>
      </p:sp>
      <p:sp>
        <p:nvSpPr>
          <p:cNvPr id="16" name="Text 13"/>
          <p:cNvSpPr/>
          <p:nvPr/>
        </p:nvSpPr>
        <p:spPr>
          <a:xfrm>
            <a:off x="6519672"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17" name="Text 14"/>
          <p:cNvSpPr/>
          <p:nvPr/>
        </p:nvSpPr>
        <p:spPr>
          <a:xfrm>
            <a:off x="6519672"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Here are two done right:</a:t>
            </a:r>
            <a:endParaRPr lang="en-US" sz="1050" dirty="0"/>
          </a:p>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Checkout waits — Negative — 'slow.'</a:t>
            </a:r>
            <a:endParaRPr lang="en-US" sz="1050" dirty="0"/>
          </a:p>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Rotisserie chicken — Positive — 'fresh.'</a:t>
            </a:r>
            <a:endParaRPr lang="en-US" sz="1050" dirty="0"/>
          </a:p>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Now do the rest the same way.</a:t>
            </a:r>
            <a:endParaRPr lang="en-US" sz="1050" dirty="0"/>
          </a:p>
        </p:txBody>
      </p:sp>
      <p:sp>
        <p:nvSpPr>
          <p:cNvPr id="18" name="Text 15"/>
          <p:cNvSpPr/>
          <p:nvPr/>
        </p:nvSpPr>
        <p:spPr>
          <a:xfrm>
            <a:off x="6519672" y="3621024"/>
            <a:ext cx="4754880" cy="219456"/>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WHAT YOU GET BACK</a:t>
            </a:r>
            <a:endParaRPr lang="en-US" sz="950" dirty="0"/>
          </a:p>
        </p:txBody>
      </p:sp>
      <p:sp>
        <p:nvSpPr>
          <p:cNvPr id="19" name="Text 16"/>
          <p:cNvSpPr/>
          <p:nvPr/>
        </p:nvSpPr>
        <p:spPr>
          <a:xfrm>
            <a:off x="6519672"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Checkout waits — Negative — 'only 3 lanes open.'</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Rotisserie chicken — Positive — 'always fresh.'</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App issues — Negative — 'froze on the gas coupon.'</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Gas pump — Negative — 'pump 4 down again.'</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Produce — Negative — 'wilted spinach, moldy berries.'</a:t>
            </a:r>
            <a:endParaRPr lang="en-US" sz="1050" dirty="0"/>
          </a:p>
        </p:txBody>
      </p:sp>
      <p:sp>
        <p:nvSpPr>
          <p:cNvPr id="20" name="Text 17"/>
          <p:cNvSpPr/>
          <p:nvPr/>
        </p:nvSpPr>
        <p:spPr>
          <a:xfrm>
            <a:off x="6519672" y="5285232"/>
            <a:ext cx="4754880" cy="201168"/>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WHY IT WORKS</a:t>
            </a:r>
            <a:endParaRPr lang="en-US" sz="950" dirty="0"/>
          </a:p>
        </p:txBody>
      </p:sp>
      <p:sp>
        <p:nvSpPr>
          <p:cNvPr id="21" name="Text 18"/>
          <p:cNvSpPr/>
          <p:nvPr/>
        </p:nvSpPr>
        <p:spPr>
          <a:xfrm>
            <a:off x="6519672"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Two finished rows define the format better than a paragraph of rules — it simply continued the pattern it could see.</a:t>
            </a:r>
            <a:endParaRPr lang="en-US" sz="1000" dirty="0"/>
          </a:p>
        </p:txBody>
      </p:sp>
      <p:sp>
        <p:nvSpPr>
          <p:cNvPr id="22" name="Text 19"/>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INTERMEDIATE · EXAMPLES</a:t>
            </a:r>
            <a:endParaRPr lang="en-US" sz="850" dirty="0"/>
          </a:p>
        </p:txBody>
      </p:sp>
      <p:sp>
        <p:nvSpPr>
          <p:cNvPr id="23" name="Text 20"/>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LET IT THINK FIRST</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Ask for the reasoning before the answer</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On judgment calls — what to prioritize, what to escalate — a model that answers instantly often grabs the loudest item and misses the important one. Ask it to think through the factors first, then decide. The quality of the final call jumps.</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As simple as adding one line about what to weigh before it ranks.</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IN PRACTICE</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From this feedback, which three issues should we escalate today?
</a:t>
            </a:r>
            <a:pPr indent="0" marL="0">
              <a:lnSpc>
                <a:spcPct val="115000"/>
              </a:lnSpc>
              <a:buNone/>
            </a:pPr>
            <a:r>
              <a:rPr lang="en-US" sz="1450" b="1" dirty="0">
                <a:solidFill>
                  <a:srgbClr val="1F2733"/>
                </a:solidFill>
                <a:latin typeface="Arial" pitchFamily="34" charset="0"/>
                <a:ea typeface="Arial" pitchFamily="34" charset="-122"/>
                <a:cs typeface="Arial" pitchFamily="34" charset="-120"/>
              </a:rPr>
              <a:t>First reason through each one — safety, how many members it affects, and how easy it is to fix — then give me a ranked shortlist.</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INTERMEDIATE · REASONING</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LET IT THINK FIRST</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Answer first vs. reason first</a:t>
            </a:r>
            <a:endParaRPr lang="en-US" sz="3000" dirty="0"/>
          </a:p>
        </p:txBody>
      </p:sp>
      <p:sp>
        <p:nvSpPr>
          <p:cNvPr id="6" name="Shape 3"/>
          <p:cNvSpPr/>
          <p:nvPr/>
        </p:nvSpPr>
        <p:spPr>
          <a:xfrm>
            <a:off x="640080" y="1920240"/>
            <a:ext cx="5303520" cy="4279392"/>
          </a:xfrm>
          <a:prstGeom prst="roundRect">
            <a:avLst>
              <a:gd name="adj" fmla="val 1923"/>
            </a:avLst>
          </a:prstGeom>
          <a:solidFill>
            <a:srgbClr val="F5F6F8"/>
          </a:solidFill>
          <a:ln w="12700">
            <a:solidFill>
              <a:srgbClr val="E7E9EE"/>
            </a:solidFill>
            <a:prstDash val="solid"/>
          </a:ln>
        </p:spPr>
      </p:sp>
      <p:sp>
        <p:nvSpPr>
          <p:cNvPr id="7" name="Text 4"/>
          <p:cNvSpPr/>
          <p:nvPr/>
        </p:nvSpPr>
        <p:spPr>
          <a:xfrm>
            <a:off x="914400" y="210312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ANSWER FIRST</a:t>
            </a:r>
            <a:endParaRPr lang="en-US" sz="1100" dirty="0"/>
          </a:p>
        </p:txBody>
      </p:sp>
      <p:sp>
        <p:nvSpPr>
          <p:cNvPr id="8" name="Text 5"/>
          <p:cNvSpPr/>
          <p:nvPr/>
        </p:nvSpPr>
        <p:spPr>
          <a:xfrm>
            <a:off x="914400"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9" name="Text 6"/>
          <p:cNvSpPr/>
          <p:nvPr/>
        </p:nvSpPr>
        <p:spPr>
          <a:xfrm>
            <a:off x="914400"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Which 3 issues should we escalate today?</a:t>
            </a:r>
            <a:endParaRPr lang="en-US" sz="1050" dirty="0"/>
          </a:p>
        </p:txBody>
      </p:sp>
      <p:sp>
        <p:nvSpPr>
          <p:cNvPr id="10" name="Text 7"/>
          <p:cNvSpPr/>
          <p:nvPr/>
        </p:nvSpPr>
        <p:spPr>
          <a:xfrm>
            <a:off x="914400" y="3621024"/>
            <a:ext cx="4754880" cy="219456"/>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WHAT YOU GET BACK</a:t>
            </a:r>
            <a:endParaRPr lang="en-US" sz="950" dirty="0"/>
          </a:p>
        </p:txBody>
      </p:sp>
      <p:sp>
        <p:nvSpPr>
          <p:cNvPr id="11" name="Text 8"/>
          <p:cNvSpPr/>
          <p:nvPr/>
        </p:nvSpPr>
        <p:spPr>
          <a:xfrm>
            <a:off x="914400"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1. Checkout waits (most comments)
2. Produce quality
3. App issues
</a:t>
            </a:r>
            <a:pPr indent="0" marL="0">
              <a:lnSpc>
                <a:spcPct val="112000"/>
              </a:lnSpc>
              <a:buNone/>
            </a:pPr>
            <a:r>
              <a:rPr lang="en-US" sz="1050" i="1" dirty="0">
                <a:solidFill>
                  <a:srgbClr val="5E6A78"/>
                </a:solidFill>
                <a:latin typeface="Arial" pitchFamily="34" charset="0"/>
                <a:ea typeface="Arial" pitchFamily="34" charset="-122"/>
                <a:cs typeface="Arial" pitchFamily="34" charset="-120"/>
              </a:rPr>
              <a:t>(Picks the most-repeated. The gas pump — a safety issue mentioned once — doesn't make the list.)</a:t>
            </a:r>
            <a:endParaRPr lang="en-US" sz="1050" dirty="0"/>
          </a:p>
        </p:txBody>
      </p:sp>
      <p:sp>
        <p:nvSpPr>
          <p:cNvPr id="12" name="Text 9"/>
          <p:cNvSpPr/>
          <p:nvPr/>
        </p:nvSpPr>
        <p:spPr>
          <a:xfrm>
            <a:off x="914400" y="5285232"/>
            <a:ext cx="4754880" cy="201168"/>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WHY IT FALLS SHORT</a:t>
            </a:r>
            <a:endParaRPr lang="en-US" sz="950" dirty="0"/>
          </a:p>
        </p:txBody>
      </p:sp>
      <p:sp>
        <p:nvSpPr>
          <p:cNvPr id="13" name="Text 10"/>
          <p:cNvSpPr/>
          <p:nvPr/>
        </p:nvSpPr>
        <p:spPr>
          <a:xfrm>
            <a:off x="914400"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Answering instantly, it grabbed the loudest signal — repetition — because nothing told it what else to weigh.</a:t>
            </a:r>
            <a:endParaRPr lang="en-US" sz="1000" dirty="0"/>
          </a:p>
        </p:txBody>
      </p:sp>
      <p:sp>
        <p:nvSpPr>
          <p:cNvPr id="14" name="Shape 11"/>
          <p:cNvSpPr/>
          <p:nvPr/>
        </p:nvSpPr>
        <p:spPr>
          <a:xfrm>
            <a:off x="6245352" y="1920240"/>
            <a:ext cx="5303520" cy="4279392"/>
          </a:xfrm>
          <a:prstGeom prst="roundRect">
            <a:avLst>
              <a:gd name="adj" fmla="val 1923"/>
            </a:avLst>
          </a:prstGeom>
          <a:solidFill>
            <a:srgbClr val="DCFCE7"/>
          </a:solidFill>
          <a:ln/>
        </p:spPr>
      </p:sp>
      <p:sp>
        <p:nvSpPr>
          <p:cNvPr id="15" name="Text 12"/>
          <p:cNvSpPr/>
          <p:nvPr/>
        </p:nvSpPr>
        <p:spPr>
          <a:xfrm>
            <a:off x="6519672" y="210312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REASON FIRST</a:t>
            </a:r>
            <a:endParaRPr lang="en-US" sz="1100" dirty="0"/>
          </a:p>
        </p:txBody>
      </p:sp>
      <p:sp>
        <p:nvSpPr>
          <p:cNvPr id="16" name="Text 13"/>
          <p:cNvSpPr/>
          <p:nvPr/>
        </p:nvSpPr>
        <p:spPr>
          <a:xfrm>
            <a:off x="6519672"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17" name="Text 14"/>
          <p:cNvSpPr/>
          <p:nvPr/>
        </p:nvSpPr>
        <p:spPr>
          <a:xfrm>
            <a:off x="6519672"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…First reason through safety, how many members, and effort — then rank.</a:t>
            </a:r>
            <a:endParaRPr lang="en-US" sz="1050" dirty="0"/>
          </a:p>
        </p:txBody>
      </p:sp>
      <p:sp>
        <p:nvSpPr>
          <p:cNvPr id="18" name="Text 15"/>
          <p:cNvSpPr/>
          <p:nvPr/>
        </p:nvSpPr>
        <p:spPr>
          <a:xfrm>
            <a:off x="6519672" y="3621024"/>
            <a:ext cx="4754880" cy="219456"/>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WHAT YOU GET BACK</a:t>
            </a:r>
            <a:endParaRPr lang="en-US" sz="950" dirty="0"/>
          </a:p>
        </p:txBody>
      </p:sp>
      <p:sp>
        <p:nvSpPr>
          <p:cNvPr id="19" name="Text 16"/>
          <p:cNvSpPr/>
          <p:nvPr/>
        </p:nvSpPr>
        <p:spPr>
          <a:xfrm>
            <a:off x="6519672" y="3858768"/>
            <a:ext cx="4754880" cy="1371600"/>
          </a:xfrm>
          <a:prstGeom prst="rect">
            <a:avLst/>
          </a:prstGeom>
          <a:noFill/>
          <a:ln/>
        </p:spPr>
        <p:txBody>
          <a:bodyPr wrap="square" lIns="0" tIns="0" rIns="0" bIns="0" rtlCol="0" anchor="t"/>
          <a:lstStyle/>
          <a:p>
            <a:pPr indent="0" marL="0">
              <a:lnSpc>
                <a:spcPct val="112000"/>
              </a:lnSpc>
              <a:buNone/>
            </a:pPr>
            <a:r>
              <a:rPr lang="en-US" sz="1050" b="1" dirty="0">
                <a:solidFill>
                  <a:srgbClr val="1F2733"/>
                </a:solidFill>
                <a:latin typeface="Arial" pitchFamily="34" charset="0"/>
                <a:ea typeface="Arial" pitchFamily="34" charset="-122"/>
                <a:cs typeface="Arial" pitchFamily="34" charset="-120"/>
              </a:rPr>
              <a:t>Reasoning: </a:t>
            </a:r>
            <a:pPr indent="0" marL="0">
              <a:lnSpc>
                <a:spcPct val="112000"/>
              </a:lnSpc>
              <a:buNone/>
            </a:pPr>
            <a:r>
              <a:rPr lang="en-US" sz="1050" dirty="0">
                <a:solidFill>
                  <a:srgbClr val="1F2733"/>
                </a:solidFill>
                <a:latin typeface="Arial" pitchFamily="34" charset="0"/>
                <a:ea typeface="Arial" pitchFamily="34" charset="-122"/>
                <a:cs typeface="Arial" pitchFamily="34" charset="-120"/>
              </a:rPr>
              <a:t>pump 4 is a safety risk; checkout is the most-mentioned (12 of ~30); app issues are low-risk.
</a:t>
            </a:r>
            <a:pPr indent="0" marL="0">
              <a:lnSpc>
                <a:spcPct val="112000"/>
              </a:lnSpc>
              <a:buNone/>
            </a:pPr>
            <a:r>
              <a:rPr lang="en-US" sz="1050" b="1" dirty="0">
                <a:solidFill>
                  <a:srgbClr val="1F2733"/>
                </a:solidFill>
                <a:latin typeface="Arial" pitchFamily="34" charset="0"/>
                <a:ea typeface="Arial" pitchFamily="34" charset="-122"/>
                <a:cs typeface="Arial" pitchFamily="34" charset="-120"/>
              </a:rPr>
              <a:t>Rank: 1) Gas pump (safety) 2) Checkout waits (12) 3) App issues.</a:t>
            </a:r>
            <a:endParaRPr lang="en-US" sz="1050" dirty="0"/>
          </a:p>
        </p:txBody>
      </p:sp>
      <p:sp>
        <p:nvSpPr>
          <p:cNvPr id="20" name="Text 17"/>
          <p:cNvSpPr/>
          <p:nvPr/>
        </p:nvSpPr>
        <p:spPr>
          <a:xfrm>
            <a:off x="6519672" y="5285232"/>
            <a:ext cx="4754880" cy="201168"/>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WHY IT WORKS</a:t>
            </a:r>
            <a:endParaRPr lang="en-US" sz="950" dirty="0"/>
          </a:p>
        </p:txBody>
      </p:sp>
      <p:sp>
        <p:nvSpPr>
          <p:cNvPr id="21" name="Text 18"/>
          <p:cNvSpPr/>
          <p:nvPr/>
        </p:nvSpPr>
        <p:spPr>
          <a:xfrm>
            <a:off x="6519672"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Naming the factors forced them into the decision: safety got weighed before volume, and the ranking shows its work.</a:t>
            </a:r>
            <a:endParaRPr lang="en-US" sz="1000" dirty="0"/>
          </a:p>
        </p:txBody>
      </p:sp>
      <p:sp>
        <p:nvSpPr>
          <p:cNvPr id="22" name="Text 19"/>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INTERMEDIATE · REASONING</a:t>
            </a:r>
            <a:endParaRPr lang="en-US" sz="850" dirty="0"/>
          </a:p>
        </p:txBody>
      </p:sp>
      <p:sp>
        <p:nvSpPr>
          <p:cNvPr id="23" name="Text 20"/>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STRUCTURE A LONG PROMPT</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Keep your instructions and your material apart</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When you paste a wall of text under your request, the model can't always tell where your instruction ends and the material begins — so it summarizes the wrong thing or misses half. Put a clear header on each part. A simple label for your task and another for the content is enough to keep them separate.</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The longer and messier the input, the more this matters.</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IN PRACTICE</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300" b="1" dirty="0">
                <a:solidFill>
                  <a:srgbClr val="D31242"/>
                </a:solidFill>
                <a:latin typeface="Arial" pitchFamily="34" charset="0"/>
                <a:ea typeface="Arial" pitchFamily="34" charset="-122"/>
                <a:cs typeface="Arial" pitchFamily="34" charset="-120"/>
              </a:rPr>
              <a:t>### YOUR TASK
</a:t>
            </a:r>
            <a:pPr indent="0" marL="0">
              <a:lnSpc>
                <a:spcPct val="115000"/>
              </a:lnSpc>
              <a:buNone/>
            </a:pPr>
            <a:r>
              <a:rPr lang="en-US" sz="1300" dirty="0">
                <a:solidFill>
                  <a:srgbClr val="1F2733"/>
                </a:solidFill>
                <a:latin typeface="Arial" pitchFamily="34" charset="0"/>
                <a:ea typeface="Arial" pitchFamily="34" charset="-122"/>
                <a:cs typeface="Arial" pitchFamily="34" charset="-120"/>
              </a:rPr>
              <a:t>Group the comments below into themes and count each.
</a:t>
            </a:r>
            <a:pPr indent="0" marL="0">
              <a:lnSpc>
                <a:spcPct val="115000"/>
              </a:lnSpc>
              <a:buNone/>
            </a:pPr>
            <a:r>
              <a:rPr lang="en-US" sz="1300" b="1" dirty="0">
                <a:solidFill>
                  <a:srgbClr val="D31242"/>
                </a:solidFill>
                <a:latin typeface="Arial" pitchFamily="34" charset="0"/>
                <a:ea typeface="Arial" pitchFamily="34" charset="-122"/>
                <a:cs typeface="Arial" pitchFamily="34" charset="-120"/>
              </a:rPr>
              <a:t>### MEMBER COMMENTS
</a:t>
            </a:r>
            <a:pPr indent="0" marL="0">
              <a:lnSpc>
                <a:spcPct val="115000"/>
              </a:lnSpc>
              <a:buNone/>
            </a:pPr>
            <a:r>
              <a:rPr lang="en-US" sz="1300" dirty="0">
                <a:solidFill>
                  <a:srgbClr val="3A4452"/>
                </a:solidFill>
                <a:latin typeface="Arial" pitchFamily="34" charset="0"/>
                <a:ea typeface="Arial" pitchFamily="34" charset="-122"/>
                <a:cs typeface="Arial" pitchFamily="34" charset="-120"/>
              </a:rPr>
              <a:t>(the full list pasted here)</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INTERMEDIATE · STRUCTURE</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STRUCTURE A LONG PROMPT</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One big blob vs. clearly labelled</a:t>
            </a:r>
            <a:endParaRPr lang="en-US" sz="3000" dirty="0"/>
          </a:p>
        </p:txBody>
      </p:sp>
      <p:sp>
        <p:nvSpPr>
          <p:cNvPr id="6" name="Shape 3"/>
          <p:cNvSpPr/>
          <p:nvPr/>
        </p:nvSpPr>
        <p:spPr>
          <a:xfrm>
            <a:off x="640080" y="1920240"/>
            <a:ext cx="5303520" cy="4279392"/>
          </a:xfrm>
          <a:prstGeom prst="roundRect">
            <a:avLst>
              <a:gd name="adj" fmla="val 1923"/>
            </a:avLst>
          </a:prstGeom>
          <a:solidFill>
            <a:srgbClr val="F5F6F8"/>
          </a:solidFill>
          <a:ln w="12700">
            <a:solidFill>
              <a:srgbClr val="E7E9EE"/>
            </a:solidFill>
            <a:prstDash val="solid"/>
          </a:ln>
        </p:spPr>
      </p:sp>
      <p:sp>
        <p:nvSpPr>
          <p:cNvPr id="7" name="Text 4"/>
          <p:cNvSpPr/>
          <p:nvPr/>
        </p:nvSpPr>
        <p:spPr>
          <a:xfrm>
            <a:off x="914400" y="210312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ONE BIG BLOB</a:t>
            </a:r>
            <a:endParaRPr lang="en-US" sz="1100" dirty="0"/>
          </a:p>
        </p:txBody>
      </p:sp>
      <p:sp>
        <p:nvSpPr>
          <p:cNvPr id="8" name="Text 5"/>
          <p:cNvSpPr/>
          <p:nvPr/>
        </p:nvSpPr>
        <p:spPr>
          <a:xfrm>
            <a:off x="914400"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9" name="Text 6"/>
          <p:cNvSpPr/>
          <p:nvPr/>
        </p:nvSpPr>
        <p:spPr>
          <a:xfrm>
            <a:off x="914400"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Group these into themes and count them. waited 22 min at checkout… chicken always fresh… pump 4 down… (+25 more)</a:t>
            </a:r>
            <a:endParaRPr lang="en-US" sz="1050" dirty="0"/>
          </a:p>
        </p:txBody>
      </p:sp>
      <p:sp>
        <p:nvSpPr>
          <p:cNvPr id="10" name="Text 7"/>
          <p:cNvSpPr/>
          <p:nvPr/>
        </p:nvSpPr>
        <p:spPr>
          <a:xfrm>
            <a:off x="914400" y="3621024"/>
            <a:ext cx="4754880" cy="219456"/>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WHAT YOU GET BACK</a:t>
            </a:r>
            <a:endParaRPr lang="en-US" sz="950" dirty="0"/>
          </a:p>
        </p:txBody>
      </p:sp>
      <p:sp>
        <p:nvSpPr>
          <p:cNvPr id="11" name="Text 8"/>
          <p:cNvSpPr/>
          <p:nvPr/>
        </p:nvSpPr>
        <p:spPr>
          <a:xfrm>
            <a:off x="914400"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Sure — you'd like me to group and count these. The first few mention checkout waits and the rotisserie chicken, which sound positive overall…</a:t>
            </a:r>
            <a:endParaRPr lang="en-US" sz="1050" dirty="0"/>
          </a:p>
        </p:txBody>
      </p:sp>
      <p:sp>
        <p:nvSpPr>
          <p:cNvPr id="12" name="Text 9"/>
          <p:cNvSpPr/>
          <p:nvPr/>
        </p:nvSpPr>
        <p:spPr>
          <a:xfrm>
            <a:off x="914400" y="5285232"/>
            <a:ext cx="4754880" cy="201168"/>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WHY IT FALLS SHORT</a:t>
            </a:r>
            <a:endParaRPr lang="en-US" sz="950" dirty="0"/>
          </a:p>
        </p:txBody>
      </p:sp>
      <p:sp>
        <p:nvSpPr>
          <p:cNvPr id="13" name="Text 10"/>
          <p:cNvSpPr/>
          <p:nvPr/>
        </p:nvSpPr>
        <p:spPr>
          <a:xfrm>
            <a:off x="914400"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With no boundary, your task and the comments blur into one wall of text — it can't tell orders from material.</a:t>
            </a:r>
            <a:endParaRPr lang="en-US" sz="1000" dirty="0"/>
          </a:p>
        </p:txBody>
      </p:sp>
      <p:sp>
        <p:nvSpPr>
          <p:cNvPr id="14" name="Shape 11"/>
          <p:cNvSpPr/>
          <p:nvPr/>
        </p:nvSpPr>
        <p:spPr>
          <a:xfrm>
            <a:off x="6245352" y="1920240"/>
            <a:ext cx="5303520" cy="4279392"/>
          </a:xfrm>
          <a:prstGeom prst="roundRect">
            <a:avLst>
              <a:gd name="adj" fmla="val 1923"/>
            </a:avLst>
          </a:prstGeom>
          <a:solidFill>
            <a:srgbClr val="DCFCE7"/>
          </a:solidFill>
          <a:ln/>
        </p:spPr>
      </p:sp>
      <p:sp>
        <p:nvSpPr>
          <p:cNvPr id="15" name="Text 12"/>
          <p:cNvSpPr/>
          <p:nvPr/>
        </p:nvSpPr>
        <p:spPr>
          <a:xfrm>
            <a:off x="6519672" y="210312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CLEARLY LABELLED</a:t>
            </a:r>
            <a:endParaRPr lang="en-US" sz="1100" dirty="0"/>
          </a:p>
        </p:txBody>
      </p:sp>
      <p:sp>
        <p:nvSpPr>
          <p:cNvPr id="16" name="Text 13"/>
          <p:cNvSpPr/>
          <p:nvPr/>
        </p:nvSpPr>
        <p:spPr>
          <a:xfrm>
            <a:off x="6519672"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17" name="Text 14"/>
          <p:cNvSpPr/>
          <p:nvPr/>
        </p:nvSpPr>
        <p:spPr>
          <a:xfrm>
            <a:off x="6519672"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 TASK — group into themes, count each.</a:t>
            </a:r>
            <a:endParaRPr lang="en-US" sz="1050" dirty="0"/>
          </a:p>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 COMMENTS — (the 30 pasted below)</a:t>
            </a:r>
            <a:endParaRPr lang="en-US" sz="1050" dirty="0"/>
          </a:p>
        </p:txBody>
      </p:sp>
      <p:sp>
        <p:nvSpPr>
          <p:cNvPr id="18" name="Text 15"/>
          <p:cNvSpPr/>
          <p:nvPr/>
        </p:nvSpPr>
        <p:spPr>
          <a:xfrm>
            <a:off x="6519672" y="3621024"/>
            <a:ext cx="4754880" cy="219456"/>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WHAT YOU GET BACK</a:t>
            </a:r>
            <a:endParaRPr lang="en-US" sz="950" dirty="0"/>
          </a:p>
        </p:txBody>
      </p:sp>
      <p:sp>
        <p:nvSpPr>
          <p:cNvPr id="19" name="Text 16"/>
          <p:cNvSpPr/>
          <p:nvPr/>
        </p:nvSpPr>
        <p:spPr>
          <a:xfrm>
            <a:off x="6519672"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Checkout waits — 12</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Produce quality — 7</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Fresh food — 5</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App issues — 4</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Gas pump — 1</a:t>
            </a:r>
            <a:endParaRPr lang="en-US" sz="1050" dirty="0"/>
          </a:p>
        </p:txBody>
      </p:sp>
      <p:sp>
        <p:nvSpPr>
          <p:cNvPr id="20" name="Text 17"/>
          <p:cNvSpPr/>
          <p:nvPr/>
        </p:nvSpPr>
        <p:spPr>
          <a:xfrm>
            <a:off x="6519672" y="5285232"/>
            <a:ext cx="4754880" cy="201168"/>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WHY IT WORKS</a:t>
            </a:r>
            <a:endParaRPr lang="en-US" sz="950" dirty="0"/>
          </a:p>
        </p:txBody>
      </p:sp>
      <p:sp>
        <p:nvSpPr>
          <p:cNvPr id="21" name="Text 18"/>
          <p:cNvSpPr/>
          <p:nvPr/>
        </p:nvSpPr>
        <p:spPr>
          <a:xfrm>
            <a:off x="6519672"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The labels draw the line: everything under TASK is instruction, everything under COMMENTS is data. Nothing leaks.</a:t>
            </a:r>
            <a:endParaRPr lang="en-US" sz="1000" dirty="0"/>
          </a:p>
        </p:txBody>
      </p:sp>
      <p:sp>
        <p:nvSpPr>
          <p:cNvPr id="22" name="Text 19"/>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INTERMEDIATE · STRUCTURE</a:t>
            </a:r>
            <a:endParaRPr lang="en-US" sz="850" dirty="0"/>
          </a:p>
        </p:txBody>
      </p:sp>
      <p:sp>
        <p:nvSpPr>
          <p:cNvPr id="23" name="Text 20"/>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WORK FROM YOUR OWN DOCUMENTS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Ground it in the source — and quote it</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Ask a model from memory and it can answer confidently but wrong. Give it the actual document, tell it to answer only from that, quote the exact line, and say when something isn't there. Made-up facts drop sharply.</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A safety note: only paste material you're allowed to — never a member's personal details or confidential data — and use the tools BJ's has approved.</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IN PRACTICE</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Using only the vendor one-pager below, list the delivery terms. Quote the exact line for each. If a detail isn't stated, say 'not in the document' — don't guess.</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INTERMEDIATE · YOUR DOCUMENTS</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WORK FROM YOUR OWN DOCUMENTS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From memory vs. grounded in the doc</a:t>
            </a:r>
            <a:endParaRPr lang="en-US" sz="3000" dirty="0"/>
          </a:p>
        </p:txBody>
      </p:sp>
      <p:sp>
        <p:nvSpPr>
          <p:cNvPr id="6" name="Shape 3"/>
          <p:cNvSpPr/>
          <p:nvPr/>
        </p:nvSpPr>
        <p:spPr>
          <a:xfrm>
            <a:off x="640080" y="1920240"/>
            <a:ext cx="5303520" cy="4279392"/>
          </a:xfrm>
          <a:prstGeom prst="roundRect">
            <a:avLst>
              <a:gd name="adj" fmla="val 1923"/>
            </a:avLst>
          </a:prstGeom>
          <a:solidFill>
            <a:srgbClr val="F5F6F8"/>
          </a:solidFill>
          <a:ln w="12700">
            <a:solidFill>
              <a:srgbClr val="E7E9EE"/>
            </a:solidFill>
            <a:prstDash val="solid"/>
          </a:ln>
        </p:spPr>
      </p:sp>
      <p:sp>
        <p:nvSpPr>
          <p:cNvPr id="7" name="Text 4"/>
          <p:cNvSpPr/>
          <p:nvPr/>
        </p:nvSpPr>
        <p:spPr>
          <a:xfrm>
            <a:off x="914400" y="210312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FROM MEMORY</a:t>
            </a:r>
            <a:endParaRPr lang="en-US" sz="1100" dirty="0"/>
          </a:p>
        </p:txBody>
      </p:sp>
      <p:sp>
        <p:nvSpPr>
          <p:cNvPr id="8" name="Text 5"/>
          <p:cNvSpPr/>
          <p:nvPr/>
        </p:nvSpPr>
        <p:spPr>
          <a:xfrm>
            <a:off x="914400"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9" name="Text 6"/>
          <p:cNvSpPr/>
          <p:nvPr/>
        </p:nvSpPr>
        <p:spPr>
          <a:xfrm>
            <a:off x="914400"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What are this vendor's delivery terms?</a:t>
            </a:r>
            <a:endParaRPr lang="en-US" sz="1050" dirty="0"/>
          </a:p>
        </p:txBody>
      </p:sp>
      <p:sp>
        <p:nvSpPr>
          <p:cNvPr id="10" name="Text 7"/>
          <p:cNvSpPr/>
          <p:nvPr/>
        </p:nvSpPr>
        <p:spPr>
          <a:xfrm>
            <a:off x="914400" y="3621024"/>
            <a:ext cx="4754880" cy="219456"/>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WHAT YOU GET BACK</a:t>
            </a:r>
            <a:endParaRPr lang="en-US" sz="950" dirty="0"/>
          </a:p>
        </p:txBody>
      </p:sp>
      <p:sp>
        <p:nvSpPr>
          <p:cNvPr id="11" name="Text 8"/>
          <p:cNvSpPr/>
          <p:nvPr/>
        </p:nvSpPr>
        <p:spPr>
          <a:xfrm>
            <a:off x="914400"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Typically 3–5 business days, with free returns within 30 days.
</a:t>
            </a:r>
            <a:pPr indent="0" marL="0">
              <a:lnSpc>
                <a:spcPct val="112000"/>
              </a:lnSpc>
              <a:buNone/>
            </a:pPr>
            <a:r>
              <a:rPr lang="en-US" sz="1050" i="1" dirty="0">
                <a:solidFill>
                  <a:srgbClr val="B91C1C"/>
                </a:solidFill>
                <a:latin typeface="Arial" pitchFamily="34" charset="0"/>
                <a:ea typeface="Arial" pitchFamily="34" charset="-122"/>
                <a:cs typeface="Arial" pitchFamily="34" charset="-120"/>
              </a:rPr>
              <a:t>(None of this appears in the document.)</a:t>
            </a:r>
            <a:endParaRPr lang="en-US" sz="1050" dirty="0"/>
          </a:p>
        </p:txBody>
      </p:sp>
      <p:sp>
        <p:nvSpPr>
          <p:cNvPr id="12" name="Text 9"/>
          <p:cNvSpPr/>
          <p:nvPr/>
        </p:nvSpPr>
        <p:spPr>
          <a:xfrm>
            <a:off x="914400" y="5285232"/>
            <a:ext cx="4754880" cy="201168"/>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WHY IT FALLS SHORT</a:t>
            </a:r>
            <a:endParaRPr lang="en-US" sz="950" dirty="0"/>
          </a:p>
        </p:txBody>
      </p:sp>
      <p:sp>
        <p:nvSpPr>
          <p:cNvPr id="13" name="Text 10"/>
          <p:cNvSpPr/>
          <p:nvPr/>
        </p:nvSpPr>
        <p:spPr>
          <a:xfrm>
            <a:off x="914400"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Asked from memory, it fills the gaps with plausible patterns — fluent, confident, and never checked against anything.</a:t>
            </a:r>
            <a:endParaRPr lang="en-US" sz="1000" dirty="0"/>
          </a:p>
        </p:txBody>
      </p:sp>
      <p:sp>
        <p:nvSpPr>
          <p:cNvPr id="14" name="Shape 11"/>
          <p:cNvSpPr/>
          <p:nvPr/>
        </p:nvSpPr>
        <p:spPr>
          <a:xfrm>
            <a:off x="6245352" y="1920240"/>
            <a:ext cx="5303520" cy="4279392"/>
          </a:xfrm>
          <a:prstGeom prst="roundRect">
            <a:avLst>
              <a:gd name="adj" fmla="val 1923"/>
            </a:avLst>
          </a:prstGeom>
          <a:solidFill>
            <a:srgbClr val="DCFCE7"/>
          </a:solidFill>
          <a:ln/>
        </p:spPr>
      </p:sp>
      <p:sp>
        <p:nvSpPr>
          <p:cNvPr id="15" name="Text 12"/>
          <p:cNvSpPr/>
          <p:nvPr/>
        </p:nvSpPr>
        <p:spPr>
          <a:xfrm>
            <a:off x="6519672" y="210312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GROUNDED IN THE DOC</a:t>
            </a:r>
            <a:endParaRPr lang="en-US" sz="1100" dirty="0"/>
          </a:p>
        </p:txBody>
      </p:sp>
      <p:sp>
        <p:nvSpPr>
          <p:cNvPr id="16" name="Text 13"/>
          <p:cNvSpPr/>
          <p:nvPr/>
        </p:nvSpPr>
        <p:spPr>
          <a:xfrm>
            <a:off x="6519672"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17" name="Text 14"/>
          <p:cNvSpPr/>
          <p:nvPr/>
        </p:nvSpPr>
        <p:spPr>
          <a:xfrm>
            <a:off x="6519672"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Using only the one-pager below, list the delivery terms. Quote each. Say 'not stated' if missing.</a:t>
            </a:r>
            <a:endParaRPr lang="en-US" sz="1050" dirty="0"/>
          </a:p>
        </p:txBody>
      </p:sp>
      <p:sp>
        <p:nvSpPr>
          <p:cNvPr id="18" name="Text 15"/>
          <p:cNvSpPr/>
          <p:nvPr/>
        </p:nvSpPr>
        <p:spPr>
          <a:xfrm>
            <a:off x="6519672" y="3621024"/>
            <a:ext cx="4754880" cy="219456"/>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WHAT YOU GET BACK</a:t>
            </a:r>
            <a:endParaRPr lang="en-US" sz="950" dirty="0"/>
          </a:p>
        </p:txBody>
      </p:sp>
      <p:sp>
        <p:nvSpPr>
          <p:cNvPr id="19" name="Text 16"/>
          <p:cNvSpPr/>
          <p:nvPr/>
        </p:nvSpPr>
        <p:spPr>
          <a:xfrm>
            <a:off x="6519672"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 'Orders ship within 10 business days.'</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 'Freight billed at cost.'</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 Return window — not stated in the document.</a:t>
            </a:r>
            <a:endParaRPr lang="en-US" sz="1050" dirty="0"/>
          </a:p>
        </p:txBody>
      </p:sp>
      <p:sp>
        <p:nvSpPr>
          <p:cNvPr id="20" name="Text 17"/>
          <p:cNvSpPr/>
          <p:nvPr/>
        </p:nvSpPr>
        <p:spPr>
          <a:xfrm>
            <a:off x="6519672" y="5285232"/>
            <a:ext cx="4754880" cy="201168"/>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WHY IT WORKS</a:t>
            </a:r>
            <a:endParaRPr lang="en-US" sz="950" dirty="0"/>
          </a:p>
        </p:txBody>
      </p:sp>
      <p:sp>
        <p:nvSpPr>
          <p:cNvPr id="21" name="Text 18"/>
          <p:cNvSpPr/>
          <p:nvPr/>
        </p:nvSpPr>
        <p:spPr>
          <a:xfrm>
            <a:off x="6519672"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'Only the document, quote it, or say not stated' leaves nowhere to invent — every line can be checked in seconds.</a:t>
            </a:r>
            <a:endParaRPr lang="en-US" sz="1000" dirty="0"/>
          </a:p>
        </p:txBody>
      </p:sp>
      <p:sp>
        <p:nvSpPr>
          <p:cNvPr id="22" name="Text 19"/>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INTERMEDIATE · YOUR DOCUMENTS</a:t>
            </a:r>
            <a:endParaRPr lang="en-US" sz="850" dirty="0"/>
          </a:p>
        </p:txBody>
      </p:sp>
      <p:sp>
        <p:nvSpPr>
          <p:cNvPr id="23" name="Text 20"/>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DIAGNOSE, DON'T RE-ROLL</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When it misses, fix the prompt on purpose</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The beginner reflex is to run it again and hope. The better habit is to name why it missed — too generic? no numbers? wrong format? — and change exactly that part of the prompt. One targeted fix beats five random retries.</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This is the Refine loop from Beginner, done deliberately.</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IN PRACTICE</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Diagnosis: </a:t>
            </a:r>
            <a:pPr indent="0" marL="0">
              <a:lnSpc>
                <a:spcPct val="115000"/>
              </a:lnSpc>
              <a:buNone/>
            </a:pPr>
            <a:r>
              <a:rPr lang="en-US" sz="1450" dirty="0">
                <a:solidFill>
                  <a:srgbClr val="1F2733"/>
                </a:solidFill>
                <a:latin typeface="Arial" pitchFamily="34" charset="0"/>
                <a:ea typeface="Arial" pitchFamily="34" charset="-122"/>
                <a:cs typeface="Arial" pitchFamily="34" charset="-120"/>
              </a:rPr>
              <a:t>the summary was too vague — no themes, no counts.
</a:t>
            </a:r>
            <a:pPr indent="0" marL="0">
              <a:lnSpc>
                <a:spcPct val="115000"/>
              </a:lnSpc>
              <a:buNone/>
            </a:pPr>
            <a:r>
              <a:rPr lang="en-US" sz="1450" b="1" dirty="0">
                <a:solidFill>
                  <a:srgbClr val="15803D"/>
                </a:solidFill>
                <a:latin typeface="Arial" pitchFamily="34" charset="0"/>
                <a:ea typeface="Arial" pitchFamily="34" charset="-122"/>
                <a:cs typeface="Arial" pitchFamily="34" charset="-120"/>
              </a:rPr>
              <a:t>Fix: </a:t>
            </a:r>
            <a:pPr indent="0" marL="0">
              <a:lnSpc>
                <a:spcPct val="115000"/>
              </a:lnSpc>
              <a:buNone/>
            </a:pPr>
            <a:r>
              <a:rPr lang="en-US" sz="1450" dirty="0">
                <a:solidFill>
                  <a:srgbClr val="1F2733"/>
                </a:solidFill>
                <a:latin typeface="Arial" pitchFamily="34" charset="0"/>
                <a:ea typeface="Arial" pitchFamily="34" charset="-122"/>
                <a:cs typeface="Arial" pitchFamily="34" charset="-120"/>
              </a:rPr>
              <a:t>'Group by theme, tell me how many members mentioned each, and keep it to the top five.'</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INTERMEDIATE · DIAGNOSE</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DIAGNOSE, DON'T RE-ROLL</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Flat summary vs. diagnosed and fixed</a:t>
            </a:r>
            <a:endParaRPr lang="en-US" sz="3000" dirty="0"/>
          </a:p>
        </p:txBody>
      </p:sp>
      <p:sp>
        <p:nvSpPr>
          <p:cNvPr id="6" name="Shape 3"/>
          <p:cNvSpPr/>
          <p:nvPr/>
        </p:nvSpPr>
        <p:spPr>
          <a:xfrm>
            <a:off x="640080" y="1920240"/>
            <a:ext cx="5303520" cy="4279392"/>
          </a:xfrm>
          <a:prstGeom prst="roundRect">
            <a:avLst>
              <a:gd name="adj" fmla="val 1923"/>
            </a:avLst>
          </a:prstGeom>
          <a:solidFill>
            <a:srgbClr val="F5F6F8"/>
          </a:solidFill>
          <a:ln w="12700">
            <a:solidFill>
              <a:srgbClr val="E7E9EE"/>
            </a:solidFill>
            <a:prstDash val="solid"/>
          </a:ln>
        </p:spPr>
      </p:sp>
      <p:sp>
        <p:nvSpPr>
          <p:cNvPr id="7" name="Text 4"/>
          <p:cNvSpPr/>
          <p:nvPr/>
        </p:nvSpPr>
        <p:spPr>
          <a:xfrm>
            <a:off x="914400" y="210312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FLAT SUMMARY</a:t>
            </a:r>
            <a:endParaRPr lang="en-US" sz="1100" dirty="0"/>
          </a:p>
        </p:txBody>
      </p:sp>
      <p:sp>
        <p:nvSpPr>
          <p:cNvPr id="8" name="Text 5"/>
          <p:cNvSpPr/>
          <p:nvPr/>
        </p:nvSpPr>
        <p:spPr>
          <a:xfrm>
            <a:off x="914400"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9" name="Text 6"/>
          <p:cNvSpPr/>
          <p:nvPr/>
        </p:nvSpPr>
        <p:spPr>
          <a:xfrm>
            <a:off x="914400"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Summarize the feedback.</a:t>
            </a:r>
            <a:endParaRPr lang="en-US" sz="1050" dirty="0"/>
          </a:p>
        </p:txBody>
      </p:sp>
      <p:sp>
        <p:nvSpPr>
          <p:cNvPr id="10" name="Text 7"/>
          <p:cNvSpPr/>
          <p:nvPr/>
        </p:nvSpPr>
        <p:spPr>
          <a:xfrm>
            <a:off x="914400" y="3621024"/>
            <a:ext cx="4754880" cy="219456"/>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WHAT YOU GET BACK</a:t>
            </a:r>
            <a:endParaRPr lang="en-US" sz="950" dirty="0"/>
          </a:p>
        </p:txBody>
      </p:sp>
      <p:sp>
        <p:nvSpPr>
          <p:cNvPr id="11" name="Text 8"/>
          <p:cNvSpPr/>
          <p:nvPr/>
        </p:nvSpPr>
        <p:spPr>
          <a:xfrm>
            <a:off x="914400"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Members had mixed feedback about their visit — some positive comments and some complaints. Overall it was a fairly typical weekend.</a:t>
            </a:r>
            <a:endParaRPr lang="en-US" sz="1050" dirty="0"/>
          </a:p>
        </p:txBody>
      </p:sp>
      <p:sp>
        <p:nvSpPr>
          <p:cNvPr id="12" name="Text 9"/>
          <p:cNvSpPr/>
          <p:nvPr/>
        </p:nvSpPr>
        <p:spPr>
          <a:xfrm>
            <a:off x="914400" y="5285232"/>
            <a:ext cx="4754880" cy="201168"/>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WHY IT FALLS SHORT</a:t>
            </a:r>
            <a:endParaRPr lang="en-US" sz="950" dirty="0"/>
          </a:p>
        </p:txBody>
      </p:sp>
      <p:sp>
        <p:nvSpPr>
          <p:cNvPr id="13" name="Text 10"/>
          <p:cNvSpPr/>
          <p:nvPr/>
        </p:nvSpPr>
        <p:spPr>
          <a:xfrm>
            <a:off x="914400"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A vague ask re-rolled stays vague — the prompt, not luck, was the problem, so retrying changes nothing.</a:t>
            </a:r>
            <a:endParaRPr lang="en-US" sz="1000" dirty="0"/>
          </a:p>
        </p:txBody>
      </p:sp>
      <p:sp>
        <p:nvSpPr>
          <p:cNvPr id="14" name="Shape 11"/>
          <p:cNvSpPr/>
          <p:nvPr/>
        </p:nvSpPr>
        <p:spPr>
          <a:xfrm>
            <a:off x="6245352" y="1920240"/>
            <a:ext cx="5303520" cy="4279392"/>
          </a:xfrm>
          <a:prstGeom prst="roundRect">
            <a:avLst>
              <a:gd name="adj" fmla="val 1923"/>
            </a:avLst>
          </a:prstGeom>
          <a:solidFill>
            <a:srgbClr val="DCFCE7"/>
          </a:solidFill>
          <a:ln/>
        </p:spPr>
      </p:sp>
      <p:sp>
        <p:nvSpPr>
          <p:cNvPr id="15" name="Text 12"/>
          <p:cNvSpPr/>
          <p:nvPr/>
        </p:nvSpPr>
        <p:spPr>
          <a:xfrm>
            <a:off x="6519672" y="210312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DIAGNOSED &amp; FIXED</a:t>
            </a:r>
            <a:endParaRPr lang="en-US" sz="1100" dirty="0"/>
          </a:p>
        </p:txBody>
      </p:sp>
      <p:sp>
        <p:nvSpPr>
          <p:cNvPr id="16" name="Text 13"/>
          <p:cNvSpPr/>
          <p:nvPr/>
        </p:nvSpPr>
        <p:spPr>
          <a:xfrm>
            <a:off x="6519672"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17" name="Text 14"/>
          <p:cNvSpPr/>
          <p:nvPr/>
        </p:nvSpPr>
        <p:spPr>
          <a:xfrm>
            <a:off x="6519672"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Too vague. Group by theme, count each, and give the top five.</a:t>
            </a:r>
            <a:endParaRPr lang="en-US" sz="1050" dirty="0"/>
          </a:p>
        </p:txBody>
      </p:sp>
      <p:sp>
        <p:nvSpPr>
          <p:cNvPr id="18" name="Text 15"/>
          <p:cNvSpPr/>
          <p:nvPr/>
        </p:nvSpPr>
        <p:spPr>
          <a:xfrm>
            <a:off x="6519672" y="3621024"/>
            <a:ext cx="4754880" cy="219456"/>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WHAT YOU GET BACK</a:t>
            </a:r>
            <a:endParaRPr lang="en-US" sz="950" dirty="0"/>
          </a:p>
        </p:txBody>
      </p:sp>
      <p:sp>
        <p:nvSpPr>
          <p:cNvPr id="19" name="Text 16"/>
          <p:cNvSpPr/>
          <p:nvPr/>
        </p:nvSpPr>
        <p:spPr>
          <a:xfrm>
            <a:off x="6519672"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1. Checkout waits — 12</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2. Produce quality — 7</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3. Fresh food — 5 (+)</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4. App issues — 4</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5. Gas pump — 1 (safety)</a:t>
            </a:r>
            <a:endParaRPr lang="en-US" sz="1050" dirty="0"/>
          </a:p>
        </p:txBody>
      </p:sp>
      <p:sp>
        <p:nvSpPr>
          <p:cNvPr id="20" name="Text 17"/>
          <p:cNvSpPr/>
          <p:nvPr/>
        </p:nvSpPr>
        <p:spPr>
          <a:xfrm>
            <a:off x="6519672" y="5285232"/>
            <a:ext cx="4754880" cy="201168"/>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WHY IT WORKS</a:t>
            </a:r>
            <a:endParaRPr lang="en-US" sz="950" dirty="0"/>
          </a:p>
        </p:txBody>
      </p:sp>
      <p:sp>
        <p:nvSpPr>
          <p:cNvPr id="21" name="Text 18"/>
          <p:cNvSpPr/>
          <p:nvPr/>
        </p:nvSpPr>
        <p:spPr>
          <a:xfrm>
            <a:off x="6519672"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You named the exact gap — themes, counts, a cap — and changed only that. One targeted fix beat five retries.</a:t>
            </a:r>
            <a:endParaRPr lang="en-US" sz="1000" dirty="0"/>
          </a:p>
        </p:txBody>
      </p:sp>
      <p:sp>
        <p:nvSpPr>
          <p:cNvPr id="22" name="Text 19"/>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INTERMEDIATE · DIAGNOSE</a:t>
            </a:r>
            <a:endParaRPr lang="en-US" sz="850" dirty="0"/>
          </a:p>
        </p:txBody>
      </p:sp>
      <p:sp>
        <p:nvSpPr>
          <p:cNvPr id="23" name="Text 20"/>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LIVE DEMO · BEFORE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undirected ask</a:t>
            </a:r>
            <a:endParaRPr lang="en-US" sz="3000" dirty="0"/>
          </a:p>
        </p:txBody>
      </p:sp>
      <p:sp>
        <p:nvSpPr>
          <p:cNvPr id="6" name="Shape 3"/>
          <p:cNvSpPr/>
          <p:nvPr/>
        </p:nvSpPr>
        <p:spPr>
          <a:xfrm>
            <a:off x="640080" y="1965960"/>
            <a:ext cx="5486400" cy="4160520"/>
          </a:xfrm>
          <a:prstGeom prst="roundRect">
            <a:avLst>
              <a:gd name="adj" fmla="val 1978"/>
            </a:avLst>
          </a:prstGeom>
          <a:solidFill>
            <a:srgbClr val="1F2733"/>
          </a:solidFill>
          <a:ln/>
          <a:effectLst>
            <a:outerShdw sx="100000" sy="100000" kx="0" ky="0" algn="bl" rotWithShape="0" blurRad="88900" dist="38100" dir="5400000">
              <a:srgbClr val="1F2733">
                <a:alpha val="10000"/>
              </a:srgbClr>
            </a:outerShdw>
          </a:effectLst>
        </p:spPr>
      </p:sp>
      <p:sp>
        <p:nvSpPr>
          <p:cNvPr id="7" name="Text 4"/>
          <p:cNvSpPr/>
          <p:nvPr/>
        </p:nvSpPr>
        <p:spPr>
          <a:xfrm>
            <a:off x="914400" y="2157984"/>
            <a:ext cx="5029200" cy="274320"/>
          </a:xfrm>
          <a:prstGeom prst="rect">
            <a:avLst/>
          </a:prstGeom>
          <a:noFill/>
          <a:ln/>
        </p:spPr>
        <p:txBody>
          <a:bodyPr wrap="square" lIns="0" tIns="0" rIns="0" bIns="0" rtlCol="0" anchor="ctr"/>
          <a:lstStyle/>
          <a:p>
            <a:pPr indent="0" marL="0">
              <a:buNone/>
            </a:pPr>
            <a:r>
              <a:rPr lang="en-US" sz="1100" b="1" spc="100" kern="0" dirty="0">
                <a:solidFill>
                  <a:srgbClr val="FCE4EA"/>
                </a:solidFill>
                <a:latin typeface="Arial" pitchFamily="34" charset="0"/>
                <a:ea typeface="Arial" pitchFamily="34" charset="-122"/>
                <a:cs typeface="Arial" pitchFamily="34" charset="-120"/>
              </a:rPr>
              <a:t>▶  PASTE THIS INTO CLAUDE</a:t>
            </a:r>
            <a:endParaRPr lang="en-US" sz="1100" dirty="0"/>
          </a:p>
        </p:txBody>
      </p:sp>
      <p:sp>
        <p:nvSpPr>
          <p:cNvPr id="8" name="Text 5"/>
          <p:cNvSpPr/>
          <p:nvPr/>
        </p:nvSpPr>
        <p:spPr>
          <a:xfrm>
            <a:off x="914400" y="2523744"/>
            <a:ext cx="4956048" cy="3456432"/>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Summarize this member feedback.
</a:t>
            </a:r>
            <a:pPr indent="0" marL="0">
              <a:lnSpc>
                <a:spcPct val="112000"/>
              </a:lnSpc>
              <a:buNone/>
            </a:pPr>
            <a:r>
              <a:rPr lang="en-US" sz="1050" i="1" dirty="0">
                <a:solidFill>
                  <a:srgbClr val="C8CDD4"/>
                </a:solidFill>
                <a:latin typeface="Arial" pitchFamily="34" charset="0"/>
                <a:ea typeface="Arial" pitchFamily="34" charset="-122"/>
                <a:cs typeface="Arial" pitchFamily="34" charset="-120"/>
              </a:rPr>
              <a:t>[ the weekend's member comments pasted here ]</a:t>
            </a:r>
            <a:endParaRPr lang="en-US" sz="1050" dirty="0"/>
          </a:p>
        </p:txBody>
      </p:sp>
      <p:sp>
        <p:nvSpPr>
          <p:cNvPr id="9" name="Shape 6"/>
          <p:cNvSpPr/>
          <p:nvPr/>
        </p:nvSpPr>
        <p:spPr>
          <a:xfrm>
            <a:off x="6355080" y="1965960"/>
            <a:ext cx="5193792" cy="4160520"/>
          </a:xfrm>
          <a:prstGeom prst="roundRect">
            <a:avLst>
              <a:gd name="adj" fmla="val 1978"/>
            </a:avLst>
          </a:prstGeom>
          <a:solidFill>
            <a:srgbClr val="DCFCE7"/>
          </a:solidFill>
          <a:ln/>
        </p:spPr>
      </p:sp>
      <p:sp>
        <p:nvSpPr>
          <p:cNvPr id="10" name="Text 7"/>
          <p:cNvSpPr/>
          <p:nvPr/>
        </p:nvSpPr>
        <p:spPr>
          <a:xfrm>
            <a:off x="6629400" y="2157984"/>
            <a:ext cx="466344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WHAT YOU GET BACK</a:t>
            </a:r>
            <a:endParaRPr lang="en-US" sz="1100" dirty="0"/>
          </a:p>
        </p:txBody>
      </p:sp>
      <p:sp>
        <p:nvSpPr>
          <p:cNvPr id="11" name="Text 8"/>
          <p:cNvSpPr/>
          <p:nvPr/>
        </p:nvSpPr>
        <p:spPr>
          <a:xfrm>
            <a:off x="6629400" y="2523744"/>
            <a:ext cx="4681728" cy="2724912"/>
          </a:xfrm>
          <a:prstGeom prst="rect">
            <a:avLst/>
          </a:prstGeom>
          <a:noFill/>
          <a:ln/>
        </p:spPr>
        <p:txBody>
          <a:bodyPr wrap="square" lIns="0" tIns="0" rIns="0" bIns="0" rtlCol="0" anchor="t"/>
          <a:lstStyle/>
          <a:p>
            <a:pPr indent="0" marL="0">
              <a:lnSpc>
                <a:spcPct val="110000"/>
              </a:lnSpc>
              <a:buNone/>
            </a:pPr>
            <a:r>
              <a:rPr lang="en-US" sz="1000" dirty="0">
                <a:solidFill>
                  <a:srgbClr val="1F2733"/>
                </a:solidFill>
                <a:latin typeface="Arial" pitchFamily="34" charset="0"/>
                <a:ea typeface="Arial" pitchFamily="34" charset="-122"/>
                <a:cs typeface="Arial" pitchFamily="34" charset="-120"/>
              </a:rPr>
              <a:t>Members shared mixed feedback this weekend. Some praised the fresh food, while others were frustrated by long checkout lines and problems with the app and the gas station. Overall, sentiment was mixed.</a:t>
            </a:r>
            <a:endParaRPr lang="en-US" sz="1000" dirty="0"/>
          </a:p>
        </p:txBody>
      </p:sp>
      <p:sp>
        <p:nvSpPr>
          <p:cNvPr id="12" name="Text 9"/>
          <p:cNvSpPr/>
          <p:nvPr/>
        </p:nvSpPr>
        <p:spPr>
          <a:xfrm>
            <a:off x="6629400" y="5349240"/>
            <a:ext cx="4681728" cy="685800"/>
          </a:xfrm>
          <a:prstGeom prst="rect">
            <a:avLst/>
          </a:prstGeom>
          <a:noFill/>
          <a:ln/>
        </p:spPr>
        <p:txBody>
          <a:bodyPr wrap="square" lIns="0" tIns="0" rIns="0" bIns="0" rtlCol="0" anchor="t"/>
          <a:lstStyle/>
          <a:p>
            <a:pPr indent="0" marL="0">
              <a:lnSpc>
                <a:spcPct val="105000"/>
              </a:lnSpc>
              <a:buNone/>
            </a:pPr>
            <a:r>
              <a:rPr lang="en-US" sz="1200" b="1" dirty="0">
                <a:solidFill>
                  <a:srgbClr val="15803D"/>
                </a:solidFill>
                <a:latin typeface="Arial" pitchFamily="34" charset="0"/>
                <a:ea typeface="Arial" pitchFamily="34" charset="-122"/>
                <a:cs typeface="Arial" pitchFamily="34" charset="-120"/>
              </a:rPr>
              <a:t>→  True — but nothing to act on. No themes, no counts, no priority.</a:t>
            </a:r>
            <a:endParaRPr lang="en-US" sz="1200" dirty="0"/>
          </a:p>
        </p:txBody>
      </p:sp>
      <p:sp>
        <p:nvSpPr>
          <p:cNvPr id="13" name="Text 10"/>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INTERMEDIATE · LIVE DEMO</a:t>
            </a:r>
            <a:endParaRPr lang="en-US" sz="850" dirty="0"/>
          </a:p>
        </p:txBody>
      </p:sp>
      <p:sp>
        <p:nvSpPr>
          <p:cNvPr id="14" name="Text 11"/>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LIVE DEMO · AFTER</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same batch, directed</a:t>
            </a:r>
            <a:endParaRPr lang="en-US" sz="3000" dirty="0"/>
          </a:p>
        </p:txBody>
      </p:sp>
      <p:sp>
        <p:nvSpPr>
          <p:cNvPr id="6" name="Shape 3"/>
          <p:cNvSpPr/>
          <p:nvPr/>
        </p:nvSpPr>
        <p:spPr>
          <a:xfrm>
            <a:off x="640080" y="1965960"/>
            <a:ext cx="5486400" cy="4160520"/>
          </a:xfrm>
          <a:prstGeom prst="roundRect">
            <a:avLst>
              <a:gd name="adj" fmla="val 1978"/>
            </a:avLst>
          </a:prstGeom>
          <a:solidFill>
            <a:srgbClr val="1F2733"/>
          </a:solidFill>
          <a:ln/>
          <a:effectLst>
            <a:outerShdw sx="100000" sy="100000" kx="0" ky="0" algn="bl" rotWithShape="0" blurRad="88900" dist="38100" dir="5400000">
              <a:srgbClr val="1F2733">
                <a:alpha val="10000"/>
              </a:srgbClr>
            </a:outerShdw>
          </a:effectLst>
        </p:spPr>
      </p:sp>
      <p:sp>
        <p:nvSpPr>
          <p:cNvPr id="7" name="Text 4"/>
          <p:cNvSpPr/>
          <p:nvPr/>
        </p:nvSpPr>
        <p:spPr>
          <a:xfrm>
            <a:off x="914400" y="2157984"/>
            <a:ext cx="5029200" cy="274320"/>
          </a:xfrm>
          <a:prstGeom prst="rect">
            <a:avLst/>
          </a:prstGeom>
          <a:noFill/>
          <a:ln/>
        </p:spPr>
        <p:txBody>
          <a:bodyPr wrap="square" lIns="0" tIns="0" rIns="0" bIns="0" rtlCol="0" anchor="ctr"/>
          <a:lstStyle/>
          <a:p>
            <a:pPr indent="0" marL="0">
              <a:buNone/>
            </a:pPr>
            <a:r>
              <a:rPr lang="en-US" sz="1100" b="1" spc="100" kern="0" dirty="0">
                <a:solidFill>
                  <a:srgbClr val="FCE4EA"/>
                </a:solidFill>
                <a:latin typeface="Arial" pitchFamily="34" charset="0"/>
                <a:ea typeface="Arial" pitchFamily="34" charset="-122"/>
                <a:cs typeface="Arial" pitchFamily="34" charset="-120"/>
              </a:rPr>
              <a:t>▶  PASTE THIS INTO CLAUDE</a:t>
            </a:r>
            <a:endParaRPr lang="en-US" sz="1100" dirty="0"/>
          </a:p>
        </p:txBody>
      </p:sp>
      <p:sp>
        <p:nvSpPr>
          <p:cNvPr id="8" name="Text 5"/>
          <p:cNvSpPr/>
          <p:nvPr/>
        </p:nvSpPr>
        <p:spPr>
          <a:xfrm>
            <a:off x="914400" y="2523744"/>
            <a:ext cx="4956048" cy="3456432"/>
          </a:xfrm>
          <a:prstGeom prst="rect">
            <a:avLst/>
          </a:prstGeom>
          <a:noFill/>
          <a:ln/>
        </p:spPr>
        <p:txBody>
          <a:bodyPr wrap="square" lIns="0" tIns="0" rIns="0" bIns="0" rtlCol="0" anchor="t"/>
          <a:lstStyle/>
          <a:p>
            <a:pPr indent="0" marL="0">
              <a:lnSpc>
                <a:spcPct val="112000"/>
              </a:lnSpc>
              <a:buNone/>
            </a:pPr>
            <a:r>
              <a:rPr lang="en-US" sz="1050" b="1" dirty="0">
                <a:solidFill>
                  <a:srgbClr val="FCE4EA"/>
                </a:solidFill>
                <a:latin typeface="Arial" pitchFamily="34" charset="0"/>
                <a:ea typeface="Arial" pitchFamily="34" charset="-122"/>
                <a:cs typeface="Arial" pitchFamily="34" charset="-120"/>
              </a:rPr>
              <a:t>### TASK
</a:t>
            </a:r>
            <a:pPr indent="0" marL="0">
              <a:lnSpc>
                <a:spcPct val="112000"/>
              </a:lnSpc>
              <a:buNone/>
            </a:pPr>
            <a:r>
              <a:rPr lang="en-US" sz="1050" dirty="0">
                <a:solidFill>
                  <a:srgbClr val="FFFFFF"/>
                </a:solidFill>
                <a:latin typeface="Arial" pitchFamily="34" charset="0"/>
                <a:ea typeface="Arial" pitchFamily="34" charset="-122"/>
                <a:cs typeface="Arial" pitchFamily="34" charset="-120"/>
              </a:rPr>
              <a:t>Group the comments into themes. For each: theme, how many members, sentiment, one quote. Two done right:
</a:t>
            </a:r>
            <a:pPr indent="0" marL="0">
              <a:lnSpc>
                <a:spcPct val="112000"/>
              </a:lnSpc>
              <a:buNone/>
            </a:pPr>
            <a:r>
              <a:rPr lang="en-US" sz="1050" dirty="0">
                <a:solidFill>
                  <a:srgbClr val="C8CDD4"/>
                </a:solidFill>
                <a:latin typeface="Arial" pitchFamily="34" charset="0"/>
                <a:ea typeface="Arial" pitchFamily="34" charset="-122"/>
                <a:cs typeface="Arial" pitchFamily="34" charset="-120"/>
              </a:rPr>
              <a:t>Checkout waits — 12 — Negative — 'only 3 lanes open.'
Rotisserie chicken — 5 — Positive — 'always fresh.'
</a:t>
            </a:r>
            <a:pPr indent="0" marL="0">
              <a:lnSpc>
                <a:spcPct val="112000"/>
              </a:lnSpc>
              <a:buNone/>
            </a:pPr>
            <a:r>
              <a:rPr lang="en-US" sz="1050" dirty="0">
                <a:solidFill>
                  <a:srgbClr val="FFFFFF"/>
                </a:solidFill>
                <a:latin typeface="Arial" pitchFamily="34" charset="0"/>
                <a:ea typeface="Arial" pitchFamily="34" charset="-122"/>
                <a:cs typeface="Arial" pitchFamily="34" charset="-120"/>
              </a:rPr>
              <a:t>Then reason through which single issue to escalate today (safety, volume, effort) and name it.
</a:t>
            </a:r>
            <a:pPr indent="0" marL="0">
              <a:lnSpc>
                <a:spcPct val="112000"/>
              </a:lnSpc>
              <a:buNone/>
            </a:pPr>
            <a:r>
              <a:rPr lang="en-US" sz="1050" b="1" dirty="0">
                <a:solidFill>
                  <a:srgbClr val="FCE4EA"/>
                </a:solidFill>
                <a:latin typeface="Arial" pitchFamily="34" charset="0"/>
                <a:ea typeface="Arial" pitchFamily="34" charset="-122"/>
                <a:cs typeface="Arial" pitchFamily="34" charset="-120"/>
              </a:rPr>
              <a:t>### COMMENTS
</a:t>
            </a:r>
            <a:pPr indent="0" marL="0">
              <a:lnSpc>
                <a:spcPct val="112000"/>
              </a:lnSpc>
              <a:buNone/>
            </a:pPr>
            <a:r>
              <a:rPr lang="en-US" sz="1050" i="1" dirty="0">
                <a:solidFill>
                  <a:srgbClr val="C8CDD4"/>
                </a:solidFill>
                <a:latin typeface="Arial" pitchFamily="34" charset="0"/>
                <a:ea typeface="Arial" pitchFamily="34" charset="-122"/>
                <a:cs typeface="Arial" pitchFamily="34" charset="-120"/>
              </a:rPr>
              <a:t>[ the batch ]</a:t>
            </a:r>
            <a:endParaRPr lang="en-US" sz="1050" dirty="0"/>
          </a:p>
        </p:txBody>
      </p:sp>
      <p:sp>
        <p:nvSpPr>
          <p:cNvPr id="9" name="Shape 6"/>
          <p:cNvSpPr/>
          <p:nvPr/>
        </p:nvSpPr>
        <p:spPr>
          <a:xfrm>
            <a:off x="6355080" y="1965960"/>
            <a:ext cx="5193792" cy="4160520"/>
          </a:xfrm>
          <a:prstGeom prst="roundRect">
            <a:avLst>
              <a:gd name="adj" fmla="val 1978"/>
            </a:avLst>
          </a:prstGeom>
          <a:solidFill>
            <a:srgbClr val="DCFCE7"/>
          </a:solidFill>
          <a:ln/>
        </p:spPr>
      </p:sp>
      <p:sp>
        <p:nvSpPr>
          <p:cNvPr id="10" name="Text 7"/>
          <p:cNvSpPr/>
          <p:nvPr/>
        </p:nvSpPr>
        <p:spPr>
          <a:xfrm>
            <a:off x="6629400" y="2157984"/>
            <a:ext cx="466344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WHAT YOU GET BACK</a:t>
            </a:r>
            <a:endParaRPr lang="en-US" sz="1100" dirty="0"/>
          </a:p>
        </p:txBody>
      </p:sp>
      <p:sp>
        <p:nvSpPr>
          <p:cNvPr id="11" name="Text 8"/>
          <p:cNvSpPr/>
          <p:nvPr/>
        </p:nvSpPr>
        <p:spPr>
          <a:xfrm>
            <a:off x="6629400" y="2523744"/>
            <a:ext cx="4681728" cy="2724912"/>
          </a:xfrm>
          <a:prstGeom prst="rect">
            <a:avLst/>
          </a:prstGeom>
          <a:noFill/>
          <a:ln/>
        </p:spPr>
        <p:txBody>
          <a:bodyPr wrap="square" lIns="0" tIns="0" rIns="0" bIns="0" rtlCol="0" anchor="t"/>
          <a:lstStyle/>
          <a:p>
            <a:pPr indent="0" marL="0">
              <a:lnSpc>
                <a:spcPct val="110000"/>
              </a:lnSpc>
              <a:buNone/>
            </a:pPr>
            <a:r>
              <a:rPr lang="en-US" sz="1000" b="1" dirty="0">
                <a:solidFill>
                  <a:srgbClr val="1F2733"/>
                </a:solidFill>
                <a:latin typeface="Arial" pitchFamily="34" charset="0"/>
                <a:ea typeface="Arial" pitchFamily="34" charset="-122"/>
                <a:cs typeface="Arial" pitchFamily="34" charset="-120"/>
              </a:rPr>
              <a:t>THEMES
</a:t>
            </a:r>
            <a:pPr indent="0" marL="0">
              <a:lnSpc>
                <a:spcPct val="110000"/>
              </a:lnSpc>
              <a:buNone/>
            </a:pPr>
            <a:r>
              <a:rPr lang="en-US" sz="1000" dirty="0">
                <a:solidFill>
                  <a:srgbClr val="1F2733"/>
                </a:solidFill>
                <a:latin typeface="Arial" pitchFamily="34" charset="0"/>
                <a:ea typeface="Arial" pitchFamily="34" charset="-122"/>
                <a:cs typeface="Arial" pitchFamily="34" charset="-120"/>
              </a:rPr>
              <a:t>• Checkout waits — 12 — Neg — 'only 3 lanes open.'
• Produce quality — 7 — Neg — 'wilted spinach.'
• Fresh food — 5 — Pos — 'chicken always fresh.'
• App issues — 4 — Neg — 'froze on the coupon.'
• Gas pump — 1 — Safety — 'pump 4 down again.'
</a:t>
            </a:r>
            <a:pPr indent="0" marL="0">
              <a:lnSpc>
                <a:spcPct val="110000"/>
              </a:lnSpc>
              <a:buNone/>
            </a:pPr>
            <a:r>
              <a:rPr lang="en-US" sz="1000" b="1" dirty="0">
                <a:solidFill>
                  <a:srgbClr val="D31242"/>
                </a:solidFill>
                <a:latin typeface="Arial" pitchFamily="34" charset="0"/>
                <a:ea typeface="Arial" pitchFamily="34" charset="-122"/>
                <a:cs typeface="Arial" pitchFamily="34" charset="-120"/>
              </a:rPr>
              <a:t>ESCALATE TODAY: </a:t>
            </a:r>
            <a:pPr indent="0" marL="0">
              <a:lnSpc>
                <a:spcPct val="110000"/>
              </a:lnSpc>
              <a:buNone/>
            </a:pPr>
            <a:r>
              <a:rPr lang="en-US" sz="1000" dirty="0">
                <a:solidFill>
                  <a:srgbClr val="1F2733"/>
                </a:solidFill>
                <a:latin typeface="Arial" pitchFamily="34" charset="0"/>
                <a:ea typeface="Arial" pitchFamily="34" charset="-122"/>
                <a:cs typeface="Arial" pitchFamily="34" charset="-120"/>
              </a:rPr>
              <a:t>Gas pump (safety) — rare but a risk. Then checkout staffing (highest volume).</a:t>
            </a:r>
            <a:endParaRPr lang="en-US" sz="1000" dirty="0"/>
          </a:p>
        </p:txBody>
      </p:sp>
      <p:sp>
        <p:nvSpPr>
          <p:cNvPr id="12" name="Text 9"/>
          <p:cNvSpPr/>
          <p:nvPr/>
        </p:nvSpPr>
        <p:spPr>
          <a:xfrm>
            <a:off x="6629400" y="5349240"/>
            <a:ext cx="4681728" cy="685800"/>
          </a:xfrm>
          <a:prstGeom prst="rect">
            <a:avLst/>
          </a:prstGeom>
          <a:noFill/>
          <a:ln/>
        </p:spPr>
        <p:txBody>
          <a:bodyPr wrap="square" lIns="0" tIns="0" rIns="0" bIns="0" rtlCol="0" anchor="t"/>
          <a:lstStyle/>
          <a:p>
            <a:pPr indent="0" marL="0">
              <a:lnSpc>
                <a:spcPct val="105000"/>
              </a:lnSpc>
              <a:buNone/>
            </a:pPr>
            <a:r>
              <a:rPr lang="en-US" sz="1200" b="1" dirty="0">
                <a:solidFill>
                  <a:srgbClr val="15803D"/>
                </a:solidFill>
                <a:latin typeface="Arial" pitchFamily="34" charset="0"/>
                <a:ea typeface="Arial" pitchFamily="34" charset="-122"/>
                <a:cs typeface="Arial" pitchFamily="34" charset="-120"/>
              </a:rPr>
              <a:t>→  Themes, counts, and a priority you can defend — ready for a manager.</a:t>
            </a:r>
            <a:endParaRPr lang="en-US" sz="1200" dirty="0"/>
          </a:p>
        </p:txBody>
      </p:sp>
      <p:sp>
        <p:nvSpPr>
          <p:cNvPr id="13" name="Text 10"/>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INTERMEDIATE · LIVE DEMO</a:t>
            </a:r>
            <a:endParaRPr lang="en-US" sz="850" dirty="0"/>
          </a:p>
        </p:txBody>
      </p:sp>
      <p:sp>
        <p:nvSpPr>
          <p:cNvPr id="14" name="Text 11"/>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WHAT YOU CAN NOW DO</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You can direct the model, not just ask it</a:t>
            </a:r>
            <a:endParaRPr lang="en-US" sz="3000" dirty="0"/>
          </a:p>
        </p:txBody>
      </p:sp>
      <p:sp>
        <p:nvSpPr>
          <p:cNvPr id="6" name="Shape 3"/>
          <p:cNvSpPr/>
          <p:nvPr/>
        </p:nvSpPr>
        <p:spPr>
          <a:xfrm>
            <a:off x="640080" y="1965960"/>
            <a:ext cx="5349240" cy="1225296"/>
          </a:xfrm>
          <a:prstGeom prst="roundRect">
            <a:avLst>
              <a:gd name="adj" fmla="val 6716"/>
            </a:avLst>
          </a:prstGeom>
          <a:solidFill>
            <a:srgbClr val="F5F6F8"/>
          </a:solidFill>
          <a:ln w="12700">
            <a:solidFill>
              <a:srgbClr val="E7E9EE"/>
            </a:solidFill>
            <a:prstDash val="solid"/>
          </a:ln>
        </p:spPr>
      </p:sp>
      <p:sp>
        <p:nvSpPr>
          <p:cNvPr id="7" name="Shape 4"/>
          <p:cNvSpPr/>
          <p:nvPr/>
        </p:nvSpPr>
        <p:spPr>
          <a:xfrm>
            <a:off x="914400" y="2350008"/>
            <a:ext cx="457200" cy="45720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24128" y="2459736"/>
            <a:ext cx="237744" cy="237744"/>
          </a:xfrm>
          <a:prstGeom prst="rect">
            <a:avLst/>
          </a:prstGeom>
        </p:spPr>
      </p:pic>
      <p:sp>
        <p:nvSpPr>
          <p:cNvPr id="9" name="Text 5"/>
          <p:cNvSpPr/>
          <p:nvPr/>
        </p:nvSpPr>
        <p:spPr>
          <a:xfrm>
            <a:off x="155448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Show it examples</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1–2 done right locks the style and format.</a:t>
            </a:r>
            <a:endParaRPr lang="en-US" sz="1550" dirty="0"/>
          </a:p>
        </p:txBody>
      </p:sp>
      <p:sp>
        <p:nvSpPr>
          <p:cNvPr id="10" name="Shape 6"/>
          <p:cNvSpPr/>
          <p:nvPr/>
        </p:nvSpPr>
        <p:spPr>
          <a:xfrm>
            <a:off x="6172200" y="1965960"/>
            <a:ext cx="5349240" cy="1225296"/>
          </a:xfrm>
          <a:prstGeom prst="roundRect">
            <a:avLst>
              <a:gd name="adj" fmla="val 6716"/>
            </a:avLst>
          </a:prstGeom>
          <a:solidFill>
            <a:srgbClr val="F5F6F8"/>
          </a:solidFill>
          <a:ln w="12700">
            <a:solidFill>
              <a:srgbClr val="E7E9EE"/>
            </a:solidFill>
            <a:prstDash val="solid"/>
          </a:ln>
        </p:spPr>
      </p:sp>
      <p:sp>
        <p:nvSpPr>
          <p:cNvPr id="11" name="Shape 7"/>
          <p:cNvSpPr/>
          <p:nvPr/>
        </p:nvSpPr>
        <p:spPr>
          <a:xfrm>
            <a:off x="6446520" y="2350008"/>
            <a:ext cx="457200" cy="45720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6556248" y="2459736"/>
            <a:ext cx="237744" cy="237744"/>
          </a:xfrm>
          <a:prstGeom prst="rect">
            <a:avLst/>
          </a:prstGeom>
        </p:spPr>
      </p:pic>
      <p:sp>
        <p:nvSpPr>
          <p:cNvPr id="13" name="Text 8"/>
          <p:cNvSpPr/>
          <p:nvPr/>
        </p:nvSpPr>
        <p:spPr>
          <a:xfrm>
            <a:off x="708660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Ask it to reason first</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Better calls on what to prioritize and escalate.</a:t>
            </a:r>
            <a:endParaRPr lang="en-US" sz="1550" dirty="0"/>
          </a:p>
        </p:txBody>
      </p:sp>
      <p:sp>
        <p:nvSpPr>
          <p:cNvPr id="14" name="Shape 9"/>
          <p:cNvSpPr/>
          <p:nvPr/>
        </p:nvSpPr>
        <p:spPr>
          <a:xfrm>
            <a:off x="640080" y="3355848"/>
            <a:ext cx="5349240" cy="1225296"/>
          </a:xfrm>
          <a:prstGeom prst="roundRect">
            <a:avLst>
              <a:gd name="adj" fmla="val 6716"/>
            </a:avLst>
          </a:prstGeom>
          <a:solidFill>
            <a:srgbClr val="F5F6F8"/>
          </a:solidFill>
          <a:ln w="12700">
            <a:solidFill>
              <a:srgbClr val="E7E9EE"/>
            </a:solidFill>
            <a:prstDash val="solid"/>
          </a:ln>
        </p:spPr>
      </p:sp>
      <p:sp>
        <p:nvSpPr>
          <p:cNvPr id="15" name="Shape 10"/>
          <p:cNvSpPr/>
          <p:nvPr/>
        </p:nvSpPr>
        <p:spPr>
          <a:xfrm>
            <a:off x="914400" y="3739896"/>
            <a:ext cx="457200" cy="45720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24128" y="3849624"/>
            <a:ext cx="237744" cy="237744"/>
          </a:xfrm>
          <a:prstGeom prst="rect">
            <a:avLst/>
          </a:prstGeom>
        </p:spPr>
      </p:pic>
      <p:sp>
        <p:nvSpPr>
          <p:cNvPr id="17" name="Text 11"/>
          <p:cNvSpPr/>
          <p:nvPr/>
        </p:nvSpPr>
        <p:spPr>
          <a:xfrm>
            <a:off x="155448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Structure a long prompt</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Your instructions and material stay separate.</a:t>
            </a:r>
            <a:endParaRPr lang="en-US" sz="1550" dirty="0"/>
          </a:p>
        </p:txBody>
      </p:sp>
      <p:sp>
        <p:nvSpPr>
          <p:cNvPr id="18" name="Shape 12"/>
          <p:cNvSpPr/>
          <p:nvPr/>
        </p:nvSpPr>
        <p:spPr>
          <a:xfrm>
            <a:off x="6172200" y="3355848"/>
            <a:ext cx="5349240" cy="1225296"/>
          </a:xfrm>
          <a:prstGeom prst="roundRect">
            <a:avLst>
              <a:gd name="adj" fmla="val 6716"/>
            </a:avLst>
          </a:prstGeom>
          <a:solidFill>
            <a:srgbClr val="F5F6F8"/>
          </a:solidFill>
          <a:ln w="12700">
            <a:solidFill>
              <a:srgbClr val="E7E9EE"/>
            </a:solidFill>
            <a:prstDash val="solid"/>
          </a:ln>
        </p:spPr>
      </p:sp>
      <p:sp>
        <p:nvSpPr>
          <p:cNvPr id="19" name="Shape 13"/>
          <p:cNvSpPr/>
          <p:nvPr/>
        </p:nvSpPr>
        <p:spPr>
          <a:xfrm>
            <a:off x="6446520" y="3739896"/>
            <a:ext cx="457200" cy="457200"/>
          </a:xfrm>
          <a:prstGeom prst="ellipse">
            <a:avLst/>
          </a:prstGeom>
          <a:solidFill>
            <a:srgbClr val="D31242"/>
          </a:solidFill>
          <a:ln/>
        </p:spPr>
      </p:sp>
      <p:pic>
        <p:nvPicPr>
          <p:cNvPr id="20" name="Image 4" descr="preencoded.png">    </p:cNvPr>
          <p:cNvPicPr>
            <a:picLocks noChangeAspect="1"/>
          </p:cNvPicPr>
          <p:nvPr/>
        </p:nvPicPr>
        <p:blipFill>
          <a:blip r:embed="rId5"/>
          <a:stretch>
            <a:fillRect/>
          </a:stretch>
        </p:blipFill>
        <p:spPr>
          <a:xfrm>
            <a:off x="6556248" y="3849624"/>
            <a:ext cx="237744" cy="237744"/>
          </a:xfrm>
          <a:prstGeom prst="rect">
            <a:avLst/>
          </a:prstGeom>
        </p:spPr>
      </p:pic>
      <p:sp>
        <p:nvSpPr>
          <p:cNvPr id="21" name="Text 14"/>
          <p:cNvSpPr/>
          <p:nvPr/>
        </p:nvSpPr>
        <p:spPr>
          <a:xfrm>
            <a:off x="708660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Work from your documents</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Grounded, quoted — and member data stays safe.</a:t>
            </a:r>
            <a:endParaRPr lang="en-US" sz="1550" dirty="0"/>
          </a:p>
        </p:txBody>
      </p:sp>
      <p:sp>
        <p:nvSpPr>
          <p:cNvPr id="22" name="Shape 15"/>
          <p:cNvSpPr/>
          <p:nvPr/>
        </p:nvSpPr>
        <p:spPr>
          <a:xfrm>
            <a:off x="640080" y="4745736"/>
            <a:ext cx="5349240" cy="1225296"/>
          </a:xfrm>
          <a:prstGeom prst="roundRect">
            <a:avLst>
              <a:gd name="adj" fmla="val 6716"/>
            </a:avLst>
          </a:prstGeom>
          <a:solidFill>
            <a:srgbClr val="F5F6F8"/>
          </a:solidFill>
          <a:ln w="12700">
            <a:solidFill>
              <a:srgbClr val="E7E9EE"/>
            </a:solidFill>
            <a:prstDash val="solid"/>
          </a:ln>
        </p:spPr>
      </p:sp>
      <p:sp>
        <p:nvSpPr>
          <p:cNvPr id="23" name="Shape 16"/>
          <p:cNvSpPr/>
          <p:nvPr/>
        </p:nvSpPr>
        <p:spPr>
          <a:xfrm>
            <a:off x="914400" y="5129784"/>
            <a:ext cx="457200" cy="457200"/>
          </a:xfrm>
          <a:prstGeom prst="ellipse">
            <a:avLst/>
          </a:prstGeom>
          <a:solidFill>
            <a:srgbClr val="D31242"/>
          </a:solidFill>
          <a:ln/>
        </p:spPr>
      </p:sp>
      <p:pic>
        <p:nvPicPr>
          <p:cNvPr id="24" name="Image 5" descr="preencoded.png">    </p:cNvPr>
          <p:cNvPicPr>
            <a:picLocks noChangeAspect="1"/>
          </p:cNvPicPr>
          <p:nvPr/>
        </p:nvPicPr>
        <p:blipFill>
          <a:blip r:embed="rId6"/>
          <a:stretch>
            <a:fillRect/>
          </a:stretch>
        </p:blipFill>
        <p:spPr>
          <a:xfrm>
            <a:off x="1024128" y="5239512"/>
            <a:ext cx="237744" cy="237744"/>
          </a:xfrm>
          <a:prstGeom prst="rect">
            <a:avLst/>
          </a:prstGeom>
        </p:spPr>
      </p:pic>
      <p:sp>
        <p:nvSpPr>
          <p:cNvPr id="25" name="Text 17"/>
          <p:cNvSpPr/>
          <p:nvPr/>
        </p:nvSpPr>
        <p:spPr>
          <a:xfrm>
            <a:off x="1554480" y="4928616"/>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Diagnose and refine</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Name why it missed; fix that one thing.</a:t>
            </a:r>
            <a:endParaRPr lang="en-US" sz="1550" dirty="0"/>
          </a:p>
        </p:txBody>
      </p:sp>
      <p:sp>
        <p:nvSpPr>
          <p:cNvPr id="26" name="Shape 18"/>
          <p:cNvSpPr/>
          <p:nvPr/>
        </p:nvSpPr>
        <p:spPr>
          <a:xfrm>
            <a:off x="6172200" y="4745736"/>
            <a:ext cx="5349240" cy="1225296"/>
          </a:xfrm>
          <a:prstGeom prst="roundRect">
            <a:avLst>
              <a:gd name="adj" fmla="val 6716"/>
            </a:avLst>
          </a:prstGeom>
          <a:solidFill>
            <a:srgbClr val="F5F6F8"/>
          </a:solidFill>
          <a:ln w="12700">
            <a:solidFill>
              <a:srgbClr val="E7E9EE"/>
            </a:solidFill>
            <a:prstDash val="solid"/>
          </a:ln>
        </p:spPr>
      </p:sp>
      <p:sp>
        <p:nvSpPr>
          <p:cNvPr id="27" name="Shape 19"/>
          <p:cNvSpPr/>
          <p:nvPr/>
        </p:nvSpPr>
        <p:spPr>
          <a:xfrm>
            <a:off x="6446520" y="5129784"/>
            <a:ext cx="457200" cy="457200"/>
          </a:xfrm>
          <a:prstGeom prst="ellipse">
            <a:avLst/>
          </a:prstGeom>
          <a:solidFill>
            <a:srgbClr val="D31242"/>
          </a:solidFill>
          <a:ln/>
        </p:spPr>
      </p:sp>
      <p:pic>
        <p:nvPicPr>
          <p:cNvPr id="28" name="Image 6" descr="preencoded.png">    </p:cNvPr>
          <p:cNvPicPr>
            <a:picLocks noChangeAspect="1"/>
          </p:cNvPicPr>
          <p:nvPr/>
        </p:nvPicPr>
        <p:blipFill>
          <a:blip r:embed="rId7"/>
          <a:stretch>
            <a:fillRect/>
          </a:stretch>
        </p:blipFill>
        <p:spPr>
          <a:xfrm>
            <a:off x="6556248" y="5239512"/>
            <a:ext cx="237744" cy="237744"/>
          </a:xfrm>
          <a:prstGeom prst="rect">
            <a:avLst/>
          </a:prstGeom>
        </p:spPr>
      </p:pic>
      <p:sp>
        <p:nvSpPr>
          <p:cNvPr id="29" name="Text 20"/>
          <p:cNvSpPr/>
          <p:nvPr/>
        </p:nvSpPr>
        <p:spPr>
          <a:xfrm>
            <a:off x="7086600" y="4928616"/>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Next stop: Designing</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Advanced — chaining, templates, evaluation.</a:t>
            </a:r>
            <a:endParaRPr lang="en-US" sz="1550" dirty="0"/>
          </a:p>
        </p:txBody>
      </p:sp>
      <p:sp>
        <p:nvSpPr>
          <p:cNvPr id="30" name="Text 21"/>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INTERMEDIATE · TAKEAWAYS</a:t>
            </a:r>
            <a:endParaRPr lang="en-US" sz="850" dirty="0"/>
          </a:p>
        </p:txBody>
      </p:sp>
      <p:sp>
        <p:nvSpPr>
          <p:cNvPr id="31" name="Text 22"/>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KEEP-AT-YOUR-DESK CARD</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Your Intermediate moves, one card</a:t>
            </a:r>
            <a:endParaRPr lang="en-US" sz="3000" dirty="0"/>
          </a:p>
        </p:txBody>
      </p:sp>
      <p:sp>
        <p:nvSpPr>
          <p:cNvPr id="6" name="Shape 3"/>
          <p:cNvSpPr/>
          <p:nvPr/>
        </p:nvSpPr>
        <p:spPr>
          <a:xfrm>
            <a:off x="640080" y="1783080"/>
            <a:ext cx="10881360" cy="658368"/>
          </a:xfrm>
          <a:prstGeom prst="roundRect">
            <a:avLst>
              <a:gd name="adj" fmla="val 12500"/>
            </a:avLst>
          </a:prstGeom>
          <a:solidFill>
            <a:srgbClr val="F5F6F8"/>
          </a:solidFill>
          <a:ln w="12700">
            <a:solidFill>
              <a:srgbClr val="E7E9EE"/>
            </a:solidFill>
            <a:prstDash val="solid"/>
          </a:ln>
        </p:spPr>
      </p:sp>
      <p:sp>
        <p:nvSpPr>
          <p:cNvPr id="7" name="Shape 4"/>
          <p:cNvSpPr/>
          <p:nvPr/>
        </p:nvSpPr>
        <p:spPr>
          <a:xfrm>
            <a:off x="841248" y="1911096"/>
            <a:ext cx="402336" cy="402336"/>
          </a:xfrm>
          <a:prstGeom prst="ellipse">
            <a:avLst/>
          </a:prstGeom>
          <a:solidFill>
            <a:srgbClr val="D31242"/>
          </a:solidFill>
          <a:ln/>
        </p:spPr>
      </p:sp>
      <p:sp>
        <p:nvSpPr>
          <p:cNvPr id="8" name="Text 5"/>
          <p:cNvSpPr/>
          <p:nvPr/>
        </p:nvSpPr>
        <p:spPr>
          <a:xfrm>
            <a:off x="841248" y="1911096"/>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9" name="Text 6"/>
          <p:cNvSpPr/>
          <p:nvPr/>
        </p:nvSpPr>
        <p:spPr>
          <a:xfrm>
            <a:off x="1463040" y="1783080"/>
            <a:ext cx="9875520" cy="658368"/>
          </a:xfrm>
          <a:prstGeom prst="rect">
            <a:avLst/>
          </a:prstGeom>
          <a:noFill/>
          <a:ln/>
        </p:spPr>
        <p:txBody>
          <a:bodyPr wrap="square" lIns="0" tIns="0" rIns="0" bIns="0" rtlCol="0" anchor="ctr"/>
          <a:lstStyle/>
          <a:p>
            <a:pPr indent="0" marL="0">
              <a:buNone/>
            </a:pPr>
            <a:r>
              <a:rPr lang="en-US" sz="1400" b="1" dirty="0">
                <a:solidFill>
                  <a:srgbClr val="1F2733"/>
                </a:solidFill>
                <a:latin typeface="Arial" pitchFamily="34" charset="0"/>
                <a:ea typeface="Arial" pitchFamily="34" charset="-122"/>
                <a:cs typeface="Arial" pitchFamily="34" charset="-120"/>
              </a:rPr>
              <a:t>Examples   </a:t>
            </a:r>
            <a:pPr indent="0" marL="0">
              <a:buNone/>
            </a:pPr>
            <a:r>
              <a:rPr lang="en-US" sz="1250" dirty="0">
                <a:solidFill>
                  <a:srgbClr val="5E6A78"/>
                </a:solidFill>
                <a:latin typeface="Arial" pitchFamily="34" charset="0"/>
                <a:ea typeface="Arial" pitchFamily="34" charset="-122"/>
                <a:cs typeface="Arial" pitchFamily="34" charset="-120"/>
              </a:rPr>
              <a:t>Show 1–2 done right — it copies the pattern.</a:t>
            </a:r>
            <a:endParaRPr lang="en-US" sz="1400" dirty="0"/>
          </a:p>
        </p:txBody>
      </p:sp>
      <p:sp>
        <p:nvSpPr>
          <p:cNvPr id="10" name="Shape 7"/>
          <p:cNvSpPr/>
          <p:nvPr/>
        </p:nvSpPr>
        <p:spPr>
          <a:xfrm>
            <a:off x="640080" y="2496312"/>
            <a:ext cx="10881360" cy="658368"/>
          </a:xfrm>
          <a:prstGeom prst="roundRect">
            <a:avLst>
              <a:gd name="adj" fmla="val 12500"/>
            </a:avLst>
          </a:prstGeom>
          <a:solidFill>
            <a:srgbClr val="F5F6F8"/>
          </a:solidFill>
          <a:ln w="12700">
            <a:solidFill>
              <a:srgbClr val="E7E9EE"/>
            </a:solidFill>
            <a:prstDash val="solid"/>
          </a:ln>
        </p:spPr>
      </p:sp>
      <p:sp>
        <p:nvSpPr>
          <p:cNvPr id="11" name="Shape 8"/>
          <p:cNvSpPr/>
          <p:nvPr/>
        </p:nvSpPr>
        <p:spPr>
          <a:xfrm>
            <a:off x="841248" y="2624328"/>
            <a:ext cx="402336" cy="402336"/>
          </a:xfrm>
          <a:prstGeom prst="ellipse">
            <a:avLst/>
          </a:prstGeom>
          <a:solidFill>
            <a:srgbClr val="D31242"/>
          </a:solidFill>
          <a:ln/>
        </p:spPr>
      </p:sp>
      <p:sp>
        <p:nvSpPr>
          <p:cNvPr id="12" name="Text 9"/>
          <p:cNvSpPr/>
          <p:nvPr/>
        </p:nvSpPr>
        <p:spPr>
          <a:xfrm>
            <a:off x="841248" y="2624328"/>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3" name="Text 10"/>
          <p:cNvSpPr/>
          <p:nvPr/>
        </p:nvSpPr>
        <p:spPr>
          <a:xfrm>
            <a:off x="1463040" y="2496312"/>
            <a:ext cx="9875520" cy="658368"/>
          </a:xfrm>
          <a:prstGeom prst="rect">
            <a:avLst/>
          </a:prstGeom>
          <a:noFill/>
          <a:ln/>
        </p:spPr>
        <p:txBody>
          <a:bodyPr wrap="square" lIns="0" tIns="0" rIns="0" bIns="0" rtlCol="0" anchor="ctr"/>
          <a:lstStyle/>
          <a:p>
            <a:pPr indent="0" marL="0">
              <a:buNone/>
            </a:pPr>
            <a:r>
              <a:rPr lang="en-US" sz="1400" b="1" dirty="0">
                <a:solidFill>
                  <a:srgbClr val="1F2733"/>
                </a:solidFill>
                <a:latin typeface="Arial" pitchFamily="34" charset="0"/>
                <a:ea typeface="Arial" pitchFamily="34" charset="-122"/>
                <a:cs typeface="Arial" pitchFamily="34" charset="-120"/>
              </a:rPr>
              <a:t>Reason first   </a:t>
            </a:r>
            <a:pPr indent="0" marL="0">
              <a:buNone/>
            </a:pPr>
            <a:r>
              <a:rPr lang="en-US" sz="1250" dirty="0">
                <a:solidFill>
                  <a:srgbClr val="5E6A78"/>
                </a:solidFill>
                <a:latin typeface="Arial" pitchFamily="34" charset="0"/>
                <a:ea typeface="Arial" pitchFamily="34" charset="-122"/>
                <a:cs typeface="Arial" pitchFamily="34" charset="-120"/>
              </a:rPr>
              <a:t>On judgment calls: “think it through, then answer.”</a:t>
            </a:r>
            <a:endParaRPr lang="en-US" sz="1400" dirty="0"/>
          </a:p>
        </p:txBody>
      </p:sp>
      <p:sp>
        <p:nvSpPr>
          <p:cNvPr id="14" name="Shape 11"/>
          <p:cNvSpPr/>
          <p:nvPr/>
        </p:nvSpPr>
        <p:spPr>
          <a:xfrm>
            <a:off x="640080" y="3209544"/>
            <a:ext cx="10881360" cy="658368"/>
          </a:xfrm>
          <a:prstGeom prst="roundRect">
            <a:avLst>
              <a:gd name="adj" fmla="val 12500"/>
            </a:avLst>
          </a:prstGeom>
          <a:solidFill>
            <a:srgbClr val="F5F6F8"/>
          </a:solidFill>
          <a:ln w="12700">
            <a:solidFill>
              <a:srgbClr val="E7E9EE"/>
            </a:solidFill>
            <a:prstDash val="solid"/>
          </a:ln>
        </p:spPr>
      </p:sp>
      <p:sp>
        <p:nvSpPr>
          <p:cNvPr id="15" name="Shape 12"/>
          <p:cNvSpPr/>
          <p:nvPr/>
        </p:nvSpPr>
        <p:spPr>
          <a:xfrm>
            <a:off x="841248" y="3337560"/>
            <a:ext cx="402336" cy="402336"/>
          </a:xfrm>
          <a:prstGeom prst="ellipse">
            <a:avLst/>
          </a:prstGeom>
          <a:solidFill>
            <a:srgbClr val="D31242"/>
          </a:solidFill>
          <a:ln/>
        </p:spPr>
      </p:sp>
      <p:sp>
        <p:nvSpPr>
          <p:cNvPr id="16" name="Text 13"/>
          <p:cNvSpPr/>
          <p:nvPr/>
        </p:nvSpPr>
        <p:spPr>
          <a:xfrm>
            <a:off x="841248" y="333756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7" name="Text 14"/>
          <p:cNvSpPr/>
          <p:nvPr/>
        </p:nvSpPr>
        <p:spPr>
          <a:xfrm>
            <a:off x="1463040" y="3209544"/>
            <a:ext cx="9875520" cy="658368"/>
          </a:xfrm>
          <a:prstGeom prst="rect">
            <a:avLst/>
          </a:prstGeom>
          <a:noFill/>
          <a:ln/>
        </p:spPr>
        <p:txBody>
          <a:bodyPr wrap="square" lIns="0" tIns="0" rIns="0" bIns="0" rtlCol="0" anchor="ctr"/>
          <a:lstStyle/>
          <a:p>
            <a:pPr indent="0" marL="0">
              <a:buNone/>
            </a:pPr>
            <a:r>
              <a:rPr lang="en-US" sz="1400" b="1" dirty="0">
                <a:solidFill>
                  <a:srgbClr val="1F2733"/>
                </a:solidFill>
                <a:latin typeface="Arial" pitchFamily="34" charset="0"/>
                <a:ea typeface="Arial" pitchFamily="34" charset="-122"/>
                <a:cs typeface="Arial" pitchFamily="34" charset="-120"/>
              </a:rPr>
              <a:t>Structure   </a:t>
            </a:r>
            <a:pPr indent="0" marL="0">
              <a:buNone/>
            </a:pPr>
            <a:r>
              <a:rPr lang="en-US" sz="1250" dirty="0">
                <a:solidFill>
                  <a:srgbClr val="5E6A78"/>
                </a:solidFill>
                <a:latin typeface="Arial" pitchFamily="34" charset="0"/>
                <a:ea typeface="Arial" pitchFamily="34" charset="-122"/>
                <a:cs typeface="Arial" pitchFamily="34" charset="-120"/>
              </a:rPr>
              <a:t>Separate your task from your material with clear headers.</a:t>
            </a:r>
            <a:endParaRPr lang="en-US" sz="1400" dirty="0"/>
          </a:p>
        </p:txBody>
      </p:sp>
      <p:sp>
        <p:nvSpPr>
          <p:cNvPr id="18" name="Shape 15"/>
          <p:cNvSpPr/>
          <p:nvPr/>
        </p:nvSpPr>
        <p:spPr>
          <a:xfrm>
            <a:off x="640080" y="3922776"/>
            <a:ext cx="10881360" cy="658368"/>
          </a:xfrm>
          <a:prstGeom prst="roundRect">
            <a:avLst>
              <a:gd name="adj" fmla="val 12500"/>
            </a:avLst>
          </a:prstGeom>
          <a:solidFill>
            <a:srgbClr val="F5F6F8"/>
          </a:solidFill>
          <a:ln w="12700">
            <a:solidFill>
              <a:srgbClr val="E7E9EE"/>
            </a:solidFill>
            <a:prstDash val="solid"/>
          </a:ln>
        </p:spPr>
      </p:sp>
      <p:sp>
        <p:nvSpPr>
          <p:cNvPr id="19" name="Shape 16"/>
          <p:cNvSpPr/>
          <p:nvPr/>
        </p:nvSpPr>
        <p:spPr>
          <a:xfrm>
            <a:off x="841248" y="4050792"/>
            <a:ext cx="402336" cy="402336"/>
          </a:xfrm>
          <a:prstGeom prst="ellipse">
            <a:avLst/>
          </a:prstGeom>
          <a:solidFill>
            <a:srgbClr val="D31242"/>
          </a:solidFill>
          <a:ln/>
        </p:spPr>
      </p:sp>
      <p:sp>
        <p:nvSpPr>
          <p:cNvPr id="20" name="Text 17"/>
          <p:cNvSpPr/>
          <p:nvPr/>
        </p:nvSpPr>
        <p:spPr>
          <a:xfrm>
            <a:off x="841248" y="4050792"/>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1" name="Text 18"/>
          <p:cNvSpPr/>
          <p:nvPr/>
        </p:nvSpPr>
        <p:spPr>
          <a:xfrm>
            <a:off x="1463040" y="3922776"/>
            <a:ext cx="9875520" cy="658368"/>
          </a:xfrm>
          <a:prstGeom prst="rect">
            <a:avLst/>
          </a:prstGeom>
          <a:noFill/>
          <a:ln/>
        </p:spPr>
        <p:txBody>
          <a:bodyPr wrap="square" lIns="0" tIns="0" rIns="0" bIns="0" rtlCol="0" anchor="ctr"/>
          <a:lstStyle/>
          <a:p>
            <a:pPr indent="0" marL="0">
              <a:buNone/>
            </a:pPr>
            <a:r>
              <a:rPr lang="en-US" sz="1400" b="1" dirty="0">
                <a:solidFill>
                  <a:srgbClr val="1F2733"/>
                </a:solidFill>
                <a:latin typeface="Arial" pitchFamily="34" charset="0"/>
                <a:ea typeface="Arial" pitchFamily="34" charset="-122"/>
                <a:cs typeface="Arial" pitchFamily="34" charset="-120"/>
              </a:rPr>
              <a:t>Your documents   </a:t>
            </a:r>
            <a:pPr indent="0" marL="0">
              <a:buNone/>
            </a:pPr>
            <a:r>
              <a:rPr lang="en-US" sz="1250" dirty="0">
                <a:solidFill>
                  <a:srgbClr val="5E6A78"/>
                </a:solidFill>
                <a:latin typeface="Arial" pitchFamily="34" charset="0"/>
                <a:ea typeface="Arial" pitchFamily="34" charset="-122"/>
                <a:cs typeface="Arial" pitchFamily="34" charset="-120"/>
              </a:rPr>
              <a:t>Answer only from the source, quote it, flag what's missing — keep member data out.</a:t>
            </a:r>
            <a:endParaRPr lang="en-US" sz="1400" dirty="0"/>
          </a:p>
        </p:txBody>
      </p:sp>
      <p:sp>
        <p:nvSpPr>
          <p:cNvPr id="22" name="Shape 19"/>
          <p:cNvSpPr/>
          <p:nvPr/>
        </p:nvSpPr>
        <p:spPr>
          <a:xfrm>
            <a:off x="640080" y="4636008"/>
            <a:ext cx="10881360" cy="658368"/>
          </a:xfrm>
          <a:prstGeom prst="roundRect">
            <a:avLst>
              <a:gd name="adj" fmla="val 12500"/>
            </a:avLst>
          </a:prstGeom>
          <a:solidFill>
            <a:srgbClr val="F5F6F8"/>
          </a:solidFill>
          <a:ln w="12700">
            <a:solidFill>
              <a:srgbClr val="E7E9EE"/>
            </a:solidFill>
            <a:prstDash val="solid"/>
          </a:ln>
        </p:spPr>
      </p:sp>
      <p:sp>
        <p:nvSpPr>
          <p:cNvPr id="23" name="Shape 20"/>
          <p:cNvSpPr/>
          <p:nvPr/>
        </p:nvSpPr>
        <p:spPr>
          <a:xfrm>
            <a:off x="841248" y="4764024"/>
            <a:ext cx="402336" cy="402336"/>
          </a:xfrm>
          <a:prstGeom prst="ellipse">
            <a:avLst/>
          </a:prstGeom>
          <a:solidFill>
            <a:srgbClr val="D31242"/>
          </a:solidFill>
          <a:ln/>
        </p:spPr>
      </p:sp>
      <p:sp>
        <p:nvSpPr>
          <p:cNvPr id="24" name="Text 21"/>
          <p:cNvSpPr/>
          <p:nvPr/>
        </p:nvSpPr>
        <p:spPr>
          <a:xfrm>
            <a:off x="841248" y="4764024"/>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5" name="Text 22"/>
          <p:cNvSpPr/>
          <p:nvPr/>
        </p:nvSpPr>
        <p:spPr>
          <a:xfrm>
            <a:off x="1463040" y="4636008"/>
            <a:ext cx="9875520" cy="658368"/>
          </a:xfrm>
          <a:prstGeom prst="rect">
            <a:avLst/>
          </a:prstGeom>
          <a:noFill/>
          <a:ln/>
        </p:spPr>
        <p:txBody>
          <a:bodyPr wrap="square" lIns="0" tIns="0" rIns="0" bIns="0" rtlCol="0" anchor="ctr"/>
          <a:lstStyle/>
          <a:p>
            <a:pPr indent="0" marL="0">
              <a:buNone/>
            </a:pPr>
            <a:r>
              <a:rPr lang="en-US" sz="1400" b="1" dirty="0">
                <a:solidFill>
                  <a:srgbClr val="1F2733"/>
                </a:solidFill>
                <a:latin typeface="Arial" pitchFamily="34" charset="0"/>
                <a:ea typeface="Arial" pitchFamily="34" charset="-122"/>
                <a:cs typeface="Arial" pitchFamily="34" charset="-120"/>
              </a:rPr>
              <a:t>Diagnose   </a:t>
            </a:r>
            <a:pPr indent="0" marL="0">
              <a:buNone/>
            </a:pPr>
            <a:r>
              <a:rPr lang="en-US" sz="1250" dirty="0">
                <a:solidFill>
                  <a:srgbClr val="5E6A78"/>
                </a:solidFill>
                <a:latin typeface="Arial" pitchFamily="34" charset="0"/>
                <a:ea typeface="Arial" pitchFamily="34" charset="-122"/>
                <a:cs typeface="Arial" pitchFamily="34" charset="-120"/>
              </a:rPr>
              <a:t>Name why it missed; fix that, don't re-roll.</a:t>
            </a:r>
            <a:endParaRPr lang="en-US" sz="1400" dirty="0"/>
          </a:p>
        </p:txBody>
      </p:sp>
      <p:sp>
        <p:nvSpPr>
          <p:cNvPr id="26" name="Shape 23"/>
          <p:cNvSpPr/>
          <p:nvPr/>
        </p:nvSpPr>
        <p:spPr>
          <a:xfrm>
            <a:off x="640080" y="5349240"/>
            <a:ext cx="10881360" cy="658368"/>
          </a:xfrm>
          <a:prstGeom prst="roundRect">
            <a:avLst>
              <a:gd name="adj" fmla="val 12500"/>
            </a:avLst>
          </a:prstGeom>
          <a:solidFill>
            <a:srgbClr val="FCE4EA"/>
          </a:solidFill>
          <a:ln/>
        </p:spPr>
      </p:sp>
      <p:sp>
        <p:nvSpPr>
          <p:cNvPr id="27" name="Shape 24"/>
          <p:cNvSpPr/>
          <p:nvPr/>
        </p:nvSpPr>
        <p:spPr>
          <a:xfrm>
            <a:off x="841248" y="5477256"/>
            <a:ext cx="402336" cy="402336"/>
          </a:xfrm>
          <a:prstGeom prst="ellipse">
            <a:avLst/>
          </a:prstGeom>
          <a:solidFill>
            <a:srgbClr val="D31242"/>
          </a:solidFill>
          <a:ln/>
        </p:spPr>
      </p:sp>
      <p:sp>
        <p:nvSpPr>
          <p:cNvPr id="28" name="Text 25"/>
          <p:cNvSpPr/>
          <p:nvPr/>
        </p:nvSpPr>
        <p:spPr>
          <a:xfrm>
            <a:off x="841248" y="54772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29" name="Text 26"/>
          <p:cNvSpPr/>
          <p:nvPr/>
        </p:nvSpPr>
        <p:spPr>
          <a:xfrm>
            <a:off x="1463040" y="5349240"/>
            <a:ext cx="9875520" cy="658368"/>
          </a:xfrm>
          <a:prstGeom prst="rect">
            <a:avLst/>
          </a:prstGeom>
          <a:noFill/>
          <a:ln/>
        </p:spPr>
        <p:txBody>
          <a:bodyPr wrap="square" lIns="0" tIns="0" rIns="0" bIns="0" rtlCol="0" anchor="ctr"/>
          <a:lstStyle/>
          <a:p>
            <a:pPr indent="0" marL="0">
              <a:buNone/>
            </a:pPr>
            <a:r>
              <a:rPr lang="en-US" sz="1400" b="1" dirty="0">
                <a:solidFill>
                  <a:srgbClr val="D31242"/>
                </a:solidFill>
                <a:latin typeface="Arial" pitchFamily="34" charset="0"/>
                <a:ea typeface="Arial" pitchFamily="34" charset="-122"/>
                <a:cs typeface="Arial" pitchFamily="34" charset="-120"/>
              </a:rPr>
              <a:t>Directing   </a:t>
            </a:r>
            <a:pPr indent="0" marL="0">
              <a:buNone/>
            </a:pPr>
            <a:r>
              <a:rPr lang="en-US" sz="1250" dirty="0">
                <a:solidFill>
                  <a:srgbClr val="3A4452"/>
                </a:solidFill>
                <a:latin typeface="Arial" pitchFamily="34" charset="0"/>
                <a:ea typeface="Arial" pitchFamily="34" charset="-122"/>
                <a:cs typeface="Arial" pitchFamily="34" charset="-120"/>
              </a:rPr>
              <a:t>You're now telling the model what only you know.</a:t>
            </a:r>
            <a:endParaRPr lang="en-US" sz="1400" dirty="0"/>
          </a:p>
        </p:txBody>
      </p:sp>
      <p:sp>
        <p:nvSpPr>
          <p:cNvPr id="30" name="Text 2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INTERMEDIATE · CHEAT-SHEET</a:t>
            </a:r>
            <a:endParaRPr lang="en-US" sz="850" dirty="0"/>
          </a:p>
        </p:txBody>
      </p:sp>
      <p:sp>
        <p:nvSpPr>
          <p:cNvPr id="31" name="Text 2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14884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TRY THIS ON MONDAY</a:t>
            </a:r>
            <a:endParaRPr lang="en-US" sz="1500" dirty="0"/>
          </a:p>
        </p:txBody>
      </p:sp>
      <p:sp>
        <p:nvSpPr>
          <p:cNvPr id="6" name="Text 4"/>
          <p:cNvSpPr/>
          <p:nvPr/>
        </p:nvSpPr>
        <p:spPr>
          <a:xfrm>
            <a:off x="621792" y="2606040"/>
            <a:ext cx="10881360" cy="1097280"/>
          </a:xfrm>
          <a:prstGeom prst="rect">
            <a:avLst/>
          </a:prstGeom>
          <a:noFill/>
          <a:ln/>
        </p:spPr>
        <p:txBody>
          <a:bodyPr wrap="square" lIns="0" tIns="0" rIns="0" bIns="0" rtlCol="0" anchor="ctr"/>
          <a:lstStyle/>
          <a:p>
            <a:pPr indent="0" marL="0">
              <a:buNone/>
            </a:pPr>
            <a:r>
              <a:rPr lang="en-US" sz="4400" b="1" spc="-50" kern="0" dirty="0">
                <a:solidFill>
                  <a:srgbClr val="FFFFFF"/>
                </a:solidFill>
                <a:latin typeface="Arial" pitchFamily="34" charset="0"/>
                <a:ea typeface="Arial" pitchFamily="34" charset="-122"/>
                <a:cs typeface="Arial" pitchFamily="34" charset="-120"/>
              </a:rPr>
              <a:t>Point it at one real pile of text</a:t>
            </a:r>
            <a:endParaRPr lang="en-US" sz="4400" dirty="0"/>
          </a:p>
        </p:txBody>
      </p:sp>
      <p:sp>
        <p:nvSpPr>
          <p:cNvPr id="7" name="Text 5"/>
          <p:cNvSpPr/>
          <p:nvPr/>
        </p:nvSpPr>
        <p:spPr>
          <a:xfrm>
            <a:off x="658368" y="4069080"/>
            <a:ext cx="9692640" cy="100584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Take a batch of feedback, emails, or notes from your own club. Show it two examples of the format you want, ask it to reason before it ranks, and keep your instructions separate from the material.</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F2733"/>
        </a:solidFill>
      </p:bgPr>
    </p:bg>
    <p:spTree>
      <p:nvGrpSpPr>
        <p:cNvPr id="1" name=""/>
        <p:cNvGrpSpPr/>
        <p:nvPr/>
      </p:nvGrpSpPr>
      <p:grpSpPr>
        <a:xfrm>
          <a:off x="0" y="0"/>
          <a:ext cx="0" cy="0"/>
          <a:chOff x="0" y="0"/>
          <a:chExt cx="0" cy="0"/>
        </a:xfrm>
      </p:grpSpPr>
      <p:sp>
        <p:nvSpPr>
          <p:cNvPr id="2" name="Shape 0"/>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3" name="Text 1"/>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4" name="Shape 2"/>
          <p:cNvSpPr/>
          <p:nvPr/>
        </p:nvSpPr>
        <p:spPr>
          <a:xfrm>
            <a:off x="658368" y="2148840"/>
            <a:ext cx="3246120" cy="457200"/>
          </a:xfrm>
          <a:prstGeom prst="roundRect">
            <a:avLst>
              <a:gd name="adj" fmla="val 24000"/>
            </a:avLst>
          </a:prstGeom>
          <a:solidFill>
            <a:srgbClr val="D31242"/>
          </a:solidFill>
          <a:ln/>
        </p:spPr>
      </p:sp>
      <p:sp>
        <p:nvSpPr>
          <p:cNvPr id="5" name="Text 3"/>
          <p:cNvSpPr/>
          <p:nvPr/>
        </p:nvSpPr>
        <p:spPr>
          <a:xfrm>
            <a:off x="658368" y="2148840"/>
            <a:ext cx="3246120" cy="45720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OPTIONAL — GO DEEPER</a:t>
            </a:r>
            <a:endParaRPr lang="en-US" sz="1100" dirty="0"/>
          </a:p>
        </p:txBody>
      </p:sp>
      <p:sp>
        <p:nvSpPr>
          <p:cNvPr id="6" name="Text 4"/>
          <p:cNvSpPr/>
          <p:nvPr/>
        </p:nvSpPr>
        <p:spPr>
          <a:xfrm>
            <a:off x="621792" y="2788920"/>
            <a:ext cx="10881360" cy="1005840"/>
          </a:xfrm>
          <a:prstGeom prst="rect">
            <a:avLst/>
          </a:prstGeom>
          <a:noFill/>
          <a:ln/>
        </p:spPr>
        <p:txBody>
          <a:bodyPr wrap="square" lIns="0" tIns="0" rIns="0" bIns="0" rtlCol="0" anchor="ctr"/>
          <a:lstStyle/>
          <a:p>
            <a:pPr indent="0" marL="0">
              <a:buNone/>
            </a:pPr>
            <a:r>
              <a:rPr lang="en-US" sz="5000" b="1" spc="-50" kern="0" dirty="0">
                <a:solidFill>
                  <a:srgbClr val="FFFFFF"/>
                </a:solidFill>
                <a:latin typeface="Arial" pitchFamily="34" charset="0"/>
                <a:ea typeface="Arial" pitchFamily="34" charset="-122"/>
                <a:cs typeface="Arial" pitchFamily="34" charset="-120"/>
              </a:rPr>
              <a:t>Appendix</a:t>
            </a:r>
            <a:endParaRPr lang="en-US" sz="5000" dirty="0"/>
          </a:p>
        </p:txBody>
      </p:sp>
      <p:sp>
        <p:nvSpPr>
          <p:cNvPr id="7" name="Text 5"/>
          <p:cNvSpPr/>
          <p:nvPr/>
        </p:nvSpPr>
        <p:spPr>
          <a:xfrm>
            <a:off x="658368" y="3977640"/>
            <a:ext cx="9601200" cy="1188720"/>
          </a:xfrm>
          <a:prstGeom prst="rect">
            <a:avLst/>
          </a:prstGeom>
          <a:noFill/>
          <a:ln/>
        </p:spPr>
        <p:txBody>
          <a:bodyPr wrap="square" lIns="0" tIns="0" rIns="0" bIns="0" rtlCol="0" anchor="t"/>
          <a:lstStyle/>
          <a:p>
            <a:pPr indent="0" marL="0">
              <a:lnSpc>
                <a:spcPct val="120000"/>
              </a:lnSpc>
              <a:buNone/>
            </a:pPr>
            <a:r>
              <a:rPr lang="en-US" sz="1800" dirty="0">
                <a:solidFill>
                  <a:srgbClr val="C8CDD4"/>
                </a:solidFill>
                <a:latin typeface="Arial" pitchFamily="34" charset="0"/>
                <a:ea typeface="Arial" pitchFamily="34" charset="-122"/>
                <a:cs typeface="Arial" pitchFamily="34" charset="-120"/>
              </a:rPr>
              <a:t>Optional extras — a reusable-template habit and where it leads. Dip in when you want to go deeper.</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OPTIONAL</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Turn a good prompt into a reusable template</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Once a prompt works, don't retype it. Save it with blanks for the parts that change — the club, the document, the date — and reuse it. One good prompt becomes a tool your whole team can share.</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This is the bridge into Advanced, where reusable templates are the main event.</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5E6A78"/>
                </a:solidFill>
                <a:latin typeface="Arial" pitchFamily="34" charset="0"/>
                <a:ea typeface="Arial" pitchFamily="34" charset="-122"/>
                <a:cs typeface="Arial" pitchFamily="34" charset="-120"/>
              </a:rPr>
              <a:t>THE IDEA</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Group the </a:t>
            </a:r>
            <a:pPr indent="0" marL="0">
              <a:lnSpc>
                <a:spcPct val="115000"/>
              </a:lnSpc>
              <a:buNone/>
            </a:pPr>
            <a:r>
              <a:rPr lang="en-US" sz="1450" b="1" dirty="0">
                <a:solidFill>
                  <a:srgbClr val="5E6A78"/>
                </a:solidFill>
                <a:latin typeface="Arial" pitchFamily="34" charset="0"/>
                <a:ea typeface="Arial" pitchFamily="34" charset="-122"/>
                <a:cs typeface="Arial" pitchFamily="34" charset="-120"/>
              </a:rPr>
              <a:t>[FEEDBACK SOURCE]</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from </a:t>
            </a:r>
            <a:pPr indent="0" marL="0">
              <a:lnSpc>
                <a:spcPct val="115000"/>
              </a:lnSpc>
              <a:buNone/>
            </a:pPr>
            <a:r>
              <a:rPr lang="en-US" sz="1450" b="1" dirty="0">
                <a:solidFill>
                  <a:srgbClr val="5E6A78"/>
                </a:solidFill>
                <a:latin typeface="Arial" pitchFamily="34" charset="0"/>
                <a:ea typeface="Arial" pitchFamily="34" charset="-122"/>
                <a:cs typeface="Arial" pitchFamily="34" charset="-120"/>
              </a:rPr>
              <a:t>[CLUB / DATE]</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into themes, count each, and give me the top five with one example quote per theme.</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INTERMEDIATE · APPENDIX</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EXAMPLE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Retype it every time vs. fill in the blanks</a:t>
            </a:r>
            <a:endParaRPr lang="en-US" sz="3000" dirty="0"/>
          </a:p>
        </p:txBody>
      </p:sp>
      <p:sp>
        <p:nvSpPr>
          <p:cNvPr id="6" name="Shape 3"/>
          <p:cNvSpPr/>
          <p:nvPr/>
        </p:nvSpPr>
        <p:spPr>
          <a:xfrm>
            <a:off x="640080" y="1920240"/>
            <a:ext cx="5303520" cy="4279392"/>
          </a:xfrm>
          <a:prstGeom prst="roundRect">
            <a:avLst>
              <a:gd name="adj" fmla="val 1923"/>
            </a:avLst>
          </a:prstGeom>
          <a:solidFill>
            <a:srgbClr val="F5F6F8"/>
          </a:solidFill>
          <a:ln w="12700">
            <a:solidFill>
              <a:srgbClr val="E7E9EE"/>
            </a:solidFill>
            <a:prstDash val="solid"/>
          </a:ln>
        </p:spPr>
      </p:sp>
      <p:sp>
        <p:nvSpPr>
          <p:cNvPr id="7" name="Text 4"/>
          <p:cNvSpPr/>
          <p:nvPr/>
        </p:nvSpPr>
        <p:spPr>
          <a:xfrm>
            <a:off x="914400" y="210312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EVERY TIME FROM SCRATCH</a:t>
            </a:r>
            <a:endParaRPr lang="en-US" sz="1100" dirty="0"/>
          </a:p>
        </p:txBody>
      </p:sp>
      <p:sp>
        <p:nvSpPr>
          <p:cNvPr id="8" name="Text 5"/>
          <p:cNvSpPr/>
          <p:nvPr/>
        </p:nvSpPr>
        <p:spPr>
          <a:xfrm>
            <a:off x="914400"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9" name="Text 6"/>
          <p:cNvSpPr/>
          <p:nvPr/>
        </p:nvSpPr>
        <p:spPr>
          <a:xfrm>
            <a:off x="914400"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(a new, hand-written request each week)</a:t>
            </a:r>
            <a:endParaRPr lang="en-US" sz="1050" dirty="0"/>
          </a:p>
        </p:txBody>
      </p:sp>
      <p:sp>
        <p:nvSpPr>
          <p:cNvPr id="10" name="Text 7"/>
          <p:cNvSpPr/>
          <p:nvPr/>
        </p:nvSpPr>
        <p:spPr>
          <a:xfrm>
            <a:off x="914400" y="3621024"/>
            <a:ext cx="4754880" cy="219456"/>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WHAT YOU GET BACK</a:t>
            </a:r>
            <a:endParaRPr lang="en-US" sz="950" dirty="0"/>
          </a:p>
        </p:txBody>
      </p:sp>
      <p:sp>
        <p:nvSpPr>
          <p:cNvPr id="11" name="Text 8"/>
          <p:cNvSpPr/>
          <p:nvPr/>
        </p:nvSpPr>
        <p:spPr>
          <a:xfrm>
            <a:off x="914400"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Week 1: 'Summarize the checkout feedback…'</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Week 2: different wording, forgets the counts.</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Week 3: another order again.</a:t>
            </a:r>
            <a:endParaRPr lang="en-US" sz="1050" dirty="0"/>
          </a:p>
        </p:txBody>
      </p:sp>
      <p:sp>
        <p:nvSpPr>
          <p:cNvPr id="12" name="Text 9"/>
          <p:cNvSpPr/>
          <p:nvPr/>
        </p:nvSpPr>
        <p:spPr>
          <a:xfrm>
            <a:off x="914400" y="5285232"/>
            <a:ext cx="4754880" cy="201168"/>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WHY IT FALLS SHORT</a:t>
            </a:r>
            <a:endParaRPr lang="en-US" sz="950" dirty="0"/>
          </a:p>
        </p:txBody>
      </p:sp>
      <p:sp>
        <p:nvSpPr>
          <p:cNvPr id="13" name="Text 10"/>
          <p:cNvSpPr/>
          <p:nvPr/>
        </p:nvSpPr>
        <p:spPr>
          <a:xfrm>
            <a:off x="914400"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Each retype is from memory, so parts drop off and the wording drifts — and the results drift with it.</a:t>
            </a:r>
            <a:endParaRPr lang="en-US" sz="1000" dirty="0"/>
          </a:p>
        </p:txBody>
      </p:sp>
      <p:sp>
        <p:nvSpPr>
          <p:cNvPr id="14" name="Shape 11"/>
          <p:cNvSpPr/>
          <p:nvPr/>
        </p:nvSpPr>
        <p:spPr>
          <a:xfrm>
            <a:off x="6245352" y="1920240"/>
            <a:ext cx="5303520" cy="4279392"/>
          </a:xfrm>
          <a:prstGeom prst="roundRect">
            <a:avLst>
              <a:gd name="adj" fmla="val 1923"/>
            </a:avLst>
          </a:prstGeom>
          <a:solidFill>
            <a:srgbClr val="DCFCE7"/>
          </a:solidFill>
          <a:ln/>
        </p:spPr>
      </p:sp>
      <p:sp>
        <p:nvSpPr>
          <p:cNvPr id="15" name="Text 12"/>
          <p:cNvSpPr/>
          <p:nvPr/>
        </p:nvSpPr>
        <p:spPr>
          <a:xfrm>
            <a:off x="6519672" y="210312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ONE SAVED TEMPLATE</a:t>
            </a:r>
            <a:endParaRPr lang="en-US" sz="1100" dirty="0"/>
          </a:p>
        </p:txBody>
      </p:sp>
      <p:sp>
        <p:nvSpPr>
          <p:cNvPr id="16" name="Text 13"/>
          <p:cNvSpPr/>
          <p:nvPr/>
        </p:nvSpPr>
        <p:spPr>
          <a:xfrm>
            <a:off x="6519672"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17" name="Text 14"/>
          <p:cNvSpPr/>
          <p:nvPr/>
        </p:nvSpPr>
        <p:spPr>
          <a:xfrm>
            <a:off x="6519672"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Group [SOURCE] from [CLUB / DATE] into themes; count; top five.</a:t>
            </a:r>
            <a:endParaRPr lang="en-US" sz="1050" dirty="0"/>
          </a:p>
        </p:txBody>
      </p:sp>
      <p:sp>
        <p:nvSpPr>
          <p:cNvPr id="18" name="Text 15"/>
          <p:cNvSpPr/>
          <p:nvPr/>
        </p:nvSpPr>
        <p:spPr>
          <a:xfrm>
            <a:off x="6519672" y="3621024"/>
            <a:ext cx="4754880" cy="219456"/>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WHAT YOU GET BACK</a:t>
            </a:r>
            <a:endParaRPr lang="en-US" sz="950" dirty="0"/>
          </a:p>
        </p:txBody>
      </p:sp>
      <p:sp>
        <p:nvSpPr>
          <p:cNvPr id="19" name="Text 16"/>
          <p:cNvSpPr/>
          <p:nvPr/>
        </p:nvSpPr>
        <p:spPr>
          <a:xfrm>
            <a:off x="6519672"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Swap [CLUB]=124, [DATE]=Jul 6 →</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same five-theme, counted summary — every week, and a teammate can run it too.</a:t>
            </a:r>
            <a:endParaRPr lang="en-US" sz="1050" dirty="0"/>
          </a:p>
        </p:txBody>
      </p:sp>
      <p:sp>
        <p:nvSpPr>
          <p:cNvPr id="20" name="Text 17"/>
          <p:cNvSpPr/>
          <p:nvPr/>
        </p:nvSpPr>
        <p:spPr>
          <a:xfrm>
            <a:off x="6519672" y="5285232"/>
            <a:ext cx="4754880" cy="201168"/>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WHY IT WORKS</a:t>
            </a:r>
            <a:endParaRPr lang="en-US" sz="950" dirty="0"/>
          </a:p>
        </p:txBody>
      </p:sp>
      <p:sp>
        <p:nvSpPr>
          <p:cNvPr id="21" name="Text 18"/>
          <p:cNvSpPr/>
          <p:nvPr/>
        </p:nvSpPr>
        <p:spPr>
          <a:xfrm>
            <a:off x="6519672"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The saved wording never drifts; only the blanks change. Same quality every week, from anyone on the team.</a:t>
            </a:r>
            <a:endParaRPr lang="en-US" sz="1000" dirty="0"/>
          </a:p>
        </p:txBody>
      </p:sp>
      <p:sp>
        <p:nvSpPr>
          <p:cNvPr id="22" name="Text 19"/>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INTERMEDIATE · APPENDIX</a:t>
            </a:r>
            <a:endParaRPr lang="en-US" sz="850" dirty="0"/>
          </a:p>
        </p:txBody>
      </p:sp>
      <p:sp>
        <p:nvSpPr>
          <p:cNvPr id="23" name="Text 20"/>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 Engineering — Intermediate</dc:title>
  <dc:subject>PptxGenJS Presentation</dc:subject>
  <dc:creator>BJ's AI Enablement</dc:creator>
  <cp:lastModifiedBy>BJ's AI Enablement</cp:lastModifiedBy>
  <cp:revision>1</cp:revision>
  <dcterms:created xsi:type="dcterms:W3CDTF">2026-07-11T22:16:56Z</dcterms:created>
  <dcterms:modified xsi:type="dcterms:W3CDTF">2026-07-11T22:16:56Z</dcterms:modified>
</cp:coreProperties>
</file>