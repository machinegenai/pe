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condensed version of the full three-level program. Every technique the Champions learn, in one ~45–60 min session, on one running example. Point people to the full Beginner/Intermediate/Advanced decks for depth and live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roadmap used across the full program. Today we walk all four stages in one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promises — one per stage of the journey, plus safety woven through everything. The closing card ties back to these one-to-one; say so now. This is the crash course: each promise gets minutes, not modules — the full Beginner/Intermediate/Advanced decks are the depth. The counts on later slides come from the batch introduced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the running example clearly: ~30 comments across five themes (checkout waits, produce, fresh food, app, gas pump). Every count later — checkout 12, produce 7, fresh food 5, app 4, gas pump 1 — refers to this batch. Illustrative; use real club feedback when you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 habit from Beginner. Name all six parts quickly — the NEXT slide shows them applied to our example, which is the moment that matters. Don't linger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THE PROGRAM — the Beginner deck in one slide. If you demo only one thing live, demo this. Walk the right-hand prompt slot by slot and say it plainly: every slot is something only YOU know — your role, the batch, the reader, the shape. Same vague baseline reappears on the diagnose and capstone slides, so the room sees different techniques attack the same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 of Composing. Point out the follow-up keeps everything good and changes only what was asked — refine, don't restart. Ask the room: who re-rolls from scratch when the first answer is close?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term (notes only): few-shot/multishot prompting. The point that lands: the model didn't get smarter — you gave it a pattern to match, like training a new associate by showing two done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term (notes only): chain-of-thought. The reasoning is the value — the ranking is defensible because the 'why' is visible, and the once-mentioned safety issue only surfaces when it weighs factors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terms (notes only): delimiters / XML tags. Any clear marker works — ###, ALL-CAPS labels, or tags. The habit is separation of task from material, not a specific symbol.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term (notes only): grounding. 'Traceable to the source' is the phrase to leave them with. The data-safety line is built-in guidance — swap for BJ's official policy when one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deliberate version of Refine: name WHY it missed (no themes, no counts), fix exactly that. One targeted fix beats five random retries. Note the left side is the same vague baseline from the CO-STAR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term (notes only): prompt chaining. Stress checkability — if the summary is wrong you can see which step failed and fix just that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term (notes only): system prompt (the standing instruction). The core multiplier move — one Champion's prompt becomes the team's baseline. Suggest a shared home for team templates.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term (notes only): context engineering. 'Less input, more signal' is the memorable inversion — curate, don't dump.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Lightweight evaluation / A-B testing. Two versions plus a four-item checklist is enough — 'chosen on evidence, not vibes.' The left side's miscount (10 vs 12) is deliberate and labelled.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82% stat and the name 'Jane Smith' on the left are DELIBERATELY invented — that's the failure being taught. Swap the built-in rules for BJ's official responsible-AI policy when one exists. Frame guardrails as enabling, not a brake. This slide carries the program's responsible-use message — the four checks that never bend: member data out, grounded in the source, cited or 'not stated', names &amp; numbers verified. Use the tools BJ's has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capstone: same vague baseline from slide 5, now handled by a prompt that composes (CO-STAR shape), directs (structure, grounding) and designs (template + guardrails) at once. Recap the journey on this slide before the cheat-sheet.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card to screenshot — all twelve moves grouped by stage. Close the loop out loud: the Compose column is promise 1, Direct is promise 2, Design is promise 3, and the guardrails row is promise 4. This is what a Champion pins up and teaches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journey and the Monday task in one breath. The single takeaway: a strong prompt is you telling the model what you already know — structured, grounded, safe. Go-deeper map for questions: Beginner = Composing (CO-STAR + Refine, with live demos); Intermediate = Directing (5 moves); Advanced = Designing (5 moves). Each full module has live demos and a job-aid card; point people to the level that matches their daily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31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7E0A2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486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LEVELS · ONE SESSION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Engineering: The Whole Journey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40690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 crash course through every move — from a one-line ask to a designed, reusable workflow. Twelve techniques, one real example, one session.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stages — in one session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2532888" cy="3063240"/>
          </a:xfrm>
          <a:prstGeom prst="roundRect">
            <a:avLst>
              <a:gd name="adj" fmla="val 3249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13916" y="2788920"/>
            <a:ext cx="585216" cy="5852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8" name="Text 5"/>
          <p:cNvSpPr/>
          <p:nvPr/>
        </p:nvSpPr>
        <p:spPr>
          <a:xfrm>
            <a:off x="1613916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350215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37947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4672" y="4325112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requests, hit or miss. Where everyone starts.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45536" y="381304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429000" y="2514600"/>
            <a:ext cx="2532888" cy="3063240"/>
          </a:xfrm>
          <a:prstGeom prst="roundRect">
            <a:avLst>
              <a:gd name="adj" fmla="val 3249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02836" y="2788920"/>
            <a:ext cx="585216" cy="5852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5" name="Text 12"/>
          <p:cNvSpPr/>
          <p:nvPr/>
        </p:nvSpPr>
        <p:spPr>
          <a:xfrm>
            <a:off x="4402836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538728" y="350215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COMPOSE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538728" y="37947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593592" y="4325112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CO-STAR + the Refine loop — strong prompts on purpose.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34456" y="381304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17920" y="2514600"/>
            <a:ext cx="2532888" cy="3063240"/>
          </a:xfrm>
          <a:prstGeom prst="roundRect">
            <a:avLst>
              <a:gd name="adj" fmla="val 3249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91756" y="2788920"/>
            <a:ext cx="585216" cy="5852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2" name="Text 19"/>
          <p:cNvSpPr/>
          <p:nvPr/>
        </p:nvSpPr>
        <p:spPr>
          <a:xfrm>
            <a:off x="7191756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327648" y="350215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DIRECT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27648" y="37947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Directing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82512" y="4325112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Examples, reasoning, structure, your own documents, diagnosis.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723376" y="381304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015984" y="2514600"/>
            <a:ext cx="2532888" cy="3063240"/>
          </a:xfrm>
          <a:prstGeom prst="roundRect">
            <a:avLst>
              <a:gd name="adj" fmla="val 3249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989820" y="2788920"/>
            <a:ext cx="585216" cy="5852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9" name="Text 26"/>
          <p:cNvSpPr/>
          <p:nvPr/>
        </p:nvSpPr>
        <p:spPr>
          <a:xfrm>
            <a:off x="9989820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9125712" y="350215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· DESIGN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125712" y="37947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180576" y="4325112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Chaining, templates, context, evaluation, guardrails.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ROADMAP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you will be able to: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212848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2128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212140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a strong prompt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with CO-STAR, then improve it in one refine follow-up.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03580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236976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236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00200" y="3145536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the model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format with examples, ask for reasoning first, structure long prompts, ground it in your documents, diagnose misses.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4059936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4261104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261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00200" y="4169664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reusable workflows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the steps, share a template, right-size the context, and test what “good” means.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0080" y="5084064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5285232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285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600200" y="5193792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all of it safely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Grounded, cited, verified — and member data never goes in.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OBJECTIVES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ASKING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everyone starts — and our example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isn't Google, and it can't read your mind — it only knows what you tell it. Type one line and hope — “summarize this feedback” — and you get something vague back, because you gave it almost nothing.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this session is one habit: telling it what only you know. We'll practice on one real pile of member feedback the entire session.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RUNNING EXAMPLE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weekend's survey — about 30 comments. Five of them: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“Waited 22 min at checkout — only 3 lanes open.”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“Rotisserie chicken is always fresh!”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app froze when I clipped the gas coupon.”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“Gas pump 4 is down again.”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“Wilted spinach and moldy berries in produce.”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ASKING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COMPOSE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CO-STAR: the six parts of a strong prompt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Context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you are and the situation.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17220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4597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Objective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want it to do.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4008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8496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Style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should read — format, length.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617220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8496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Tone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voice: warm, neutral, upbeat.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640080" y="4745736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4400" y="5129784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23951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54480" y="492861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Audience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answer is for.</a:t>
            </a:r>
            <a:endParaRPr lang="en-US" sz="1550" dirty="0"/>
          </a:p>
        </p:txBody>
      </p:sp>
      <p:sp>
        <p:nvSpPr>
          <p:cNvPr id="26" name="Shape 18"/>
          <p:cNvSpPr/>
          <p:nvPr/>
        </p:nvSpPr>
        <p:spPr>
          <a:xfrm>
            <a:off x="6172200" y="4745736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446520" y="5129784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5239512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86600" y="492861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— Response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output shape you want.</a:t>
            </a:r>
            <a:endParaRPr lang="en-US" sz="1550" dirty="0"/>
          </a:p>
        </p:txBody>
      </p:sp>
      <p:sp>
        <p:nvSpPr>
          <p:cNvPr id="30" name="Text 21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COMPOSE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COMPOSE — CO-STAR APPLIED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ask, built with all six parts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six slots with what only you know — who you are, what you need, for whom, in what shape — and the answer transforms.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ASKING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this feedback.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had mixed feedback about their visit — some positive comments and some complaints. Overall it was a fairly typical weekend.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gave it six words — no role, no reader, no shape to aim at. It hedged because guessing was all it could do.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COMPOSED WITH CO-STAR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I'm in Member Care; below are ~30 survey comments. Objective: summarise for the club manager. Style: 5 short bullets. Tone: neutral. Audience: a busy manager. Response: themes with counts, safety first.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Safety: gas pump 4 down — 1.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Checkout waits — 12.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Produce quality — 7.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Fresh food — 5 (+).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issues — 4.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slot handed over a fact only you knew — the batch, the reader, the shape — so nothing was left to guess.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COMPOSE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COMPOSE — REFINE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restart — improve in one follow-up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something close? Don’t start over — nudge it in one follow-up and it keeps everything good.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this week's feedback in a short note to the manager.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saw complaints about checkout waits and produce, plus praise for the fresh food. A few app and gas-pump issues too.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prompt rarely names everything you care about — you only see what's missing once you read an answer.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REFINEMENT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Nice. Make it 5 bullets and put the safety issue first.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Safety: gas pump 4 down.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Checkout waits — top complaint.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Produce quality.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issues.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Wins: fresh food.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follow-up kept all the context you'd built and changed only what you named — far cheaper than starting over.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COMPOSE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DIRECT — EXAMPLES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it, don't just tell it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describe the format you want — show it. One or two done right, and it copies the pattern.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TOLD IT — “format these neatly”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these comments neatly.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checkout was really slow saturday, 3 lanes open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rotisserie chicken is great, always fresh!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app froze when I clipped the gas coupon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pump 4 down again, ugh.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wilted spinach and moldy berries in produce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'Neatly' is a wish, not a format — with nothing to copy, it picked a different shape for every row.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SHOWED IT — two examples first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are two done right: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waits — Negative — 'slow.'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Rotisserie chicken — Positive — 'fresh.'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do the rest the same way.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waits — Negative — 'only 3 lanes open.'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Rotisserie chicken — Positive — 'always fresh.'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issues — Negative — 'froze on the gas coupon.'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pump — Negative — 'pump 4 down again.'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— Negative — 'wilted spinach, moldy berries.'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finished rows define the format better than a paragraph of rules — it simply continued the pattern it could see.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DIRECT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DIRECT — REASON FIRST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the reasoning before the answer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judgment calls, tell it to weigh the factors out loud before it answers — the call gets sharper.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FIRST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3 issues should we escalate today?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Checkout waits (most comments)
2. Produce quality
3. App issues
</a:t>
            </a:r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(Picks the most-repeated. The gas pump — a safety issue mentioned once — doesn't make the list.)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instantly, it grabbed the loudest signal — repetition — because nothing told it what else to weigh.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FIRST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…First reason through safety, how many members, and effort — then rank.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4 is a safety risk; checkout is the most-mentioned (12 of ~30); app issues are low-risk.
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Rank: 1) Gas pump (safety) 2) Checkout waits (12) 3) App issues.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the factors forced them into the decision: safety got weighed before volume, and the ranking shows its work.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DIRECT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DIRECT — STRUCTURE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instructions and your material apart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your instruction and your material separately, so the model never confuses the two.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BIG BLOB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these into themes and count them. waited 22 min at checkout… chicken always fresh… pump 4 down… (+25 more)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 — you'd like me to group and count these. The first few mention checkout waits and the rotisserie chicken, which sound positive overall…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boundary, your task and the comments blur into one wall of text — it can't tell orders from material.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CLEARLY LABELLED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TASK — group into themes, count each.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COMMENTS — (the 30 pasted below)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waits — 12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quality — 7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food — 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issues — 4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pump — 1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labels draw the line: everything under TASK is instruction, everything under COMMENTS is data. Nothing leaks.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DIRECT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DIRECT — YOUR DOCUMENTS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it in the source — and quote it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the real source, tell it to answer only from that and quote — made-up facts drop sharply.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MEMORY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this vendor's delivery terms?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3–5 business days, with free returns within 30 days.
</a:t>
            </a:r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(None of this appears in the document.)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from memory, it fills the gaps with plausible patterns — fluent, confident, and never checked against anything.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THE DOC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only the one-pager below, list the delivery terms. Quote each. Say 'not stated' if missing.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'Orders ship within 10 business days.'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'Freight billed at cost.'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Return window — not stated in the document.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'Only the document, quote it, or say not stated' leaves nowhere to invent — every line can be checked in seconds.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DIRECT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DIRECT — DIAGNOSE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misses, fix the prompt on purpose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output misses, name why — too vague? no counts? — and fix that one thing, don’t re-roll.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SUMMARY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the feedback.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had mixed feedback about their visit — some positive comments and some complaints. Overall it was a fairly typical weekend.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vague ask re-rolled stays vague — the prompt, not luck, was the problem, so retrying changes nothing.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DIAGNOSED &amp; FIXED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vague. Group by theme, count each, and give the top five.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Checkout waits — 12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Produce quality — 7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Fresh food — 5 (+)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App issues — 4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Gas pump — 1 (safety)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named the exact gap — themes, counts, a cap — and changed only that. One targeted fix beat five retries.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DIRECT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· DESIGN — CHAIN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 big task into a chain of steps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 big job into small prompted steps, each feeding the next, so every step stays checkable.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GIANT ASK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this week's feedback and tell me what to do.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had varied feedback this week — some waits and product-quality issues, plus positives on the fresh food. You may want to look into staffing and freshness.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 juggling tag, count, flag and draft spreads attention thin — the rare safety item is what gets dropped.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CHAIN OF STEPS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tag each (theme+sentiment). Step 2: count; flag safety. Step 3: draft 5 bullets from Step 2.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→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12, Produce 7, Food +5, App 4, Pump 1 (safety)
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→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'Safety: pump 4 — escalate. Checkout waits top volume…'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does one job and hands checked work to the next — an error surfaces where it happened, not at the end.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DESIGN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· DESIGN — TEMPLATES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winning prompt into a team tool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prompt works, save it with blanks and a standing instruction so the whole team reuses 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ROLLS THEIR OWN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(three managers, three different prompts)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A: 'Lots of complaints about the lines.'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B: bullet list, no counts.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C: one paragraph, different order.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people improvising means the quality lives in their heads — it varies by author and leaves when they do.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TEMPLATE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System: always group, count, flag safety. Template: Summarise [SOURCE] for [CLUB], week of [DATE].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club, same shape: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'Safety: pump 4. Checkout — 12. Produce — 7. App — 4. Fresh food +5.'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standing instruction carries the standard; the blanks carry the week. One person's best prompt becomes the floor.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DESIGN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· DESIGN — CONTEXT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lots of material, more isn't better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material isn’t better — include what the task needs and cut the rest, so the signal stays sharp.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 EVERYTHING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Summarize. (pastes 3 months of comments)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the past quarter, feedback covered checkout, produce, the app, and gas — broadly consistent themes throughout.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months of noise drowned this week's signal — attention spread across everything means depth on nothing.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RIGHT-SIZED CONTEXT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this week's comments; compare to last week's counts (below).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waits jumped 5 → 12 this week — a clear spike. Produce steady at 7. Suggest a look at weekend staffing.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plus one baseline is exactly enough to see change — the spike stands out once the noise is gone.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DESIGN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· DESIGN — EVALUATE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“good,” then test two versions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“good” means up front, then run two versions on the same input and keep the winner.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“LOOKS FINE” — eyeball version 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(read it, looks good, ship it)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waits — 10. Produce — 7. Good week overall.
</a:t>
            </a:r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(Count is off, and no safety flag.)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for tone grades the writing, but the errors live in the facts — exactly where 'looks fine' never checks.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A/B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= correct counts · safety flagged · ≤5 bullets · plain language. Which meets all four?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counts off, no safety → fails.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'Pump 4 (safety); Checkout — 12…' → meets all four. Keep B.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written criteria turn 'seems good' into a checklist — B wins for reasons you can show, not a feeling.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DESIGN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· DESIGN — GUARDRAILS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checks in, not 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checks into the prompt — ground it, cite or say “not sure,” and keep member data out.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UNGUARDED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and add some detail.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was around 82%. Member Jane Smith complained pump 4 was down.
</a:t>
            </a:r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(Invented stat, and a member's name exposed.)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'Add detail' with no source is an instruction to invent — and a pasted name rides straight into the output.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 the comments. Cite a quote or say 'not stated'. No member names.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Gas pump — 1 ('pump 4 down again'). Safety.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Satisfaction score — not stated.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names included.)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Source-only, cite-or-say-not-stated, no names: the rules leave nothing to invent and nothing to leak.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DESIGN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JOURNEY · ONE TASK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one-liner to a designed workflow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move stacks: compose it with CO-STAR, direct it, design it — one prompt that does the whole job.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ASKING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this feedback.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had mixed feedback this weekend — some good, some complaints. Overall a typical weekend.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FALLS SHORT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words in, guesswork out — this is the baseline every technique in this session just attacked.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45352" y="1920240"/>
            <a:ext cx="5303520" cy="4279392"/>
          </a:xfrm>
          <a:prstGeom prst="roundRect">
            <a:avLst>
              <a:gd name="adj" fmla="val 1923"/>
            </a:avLst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COMPOSED · DIRECTED · DESIGNED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9672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9672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System: group by theme, count, flag safety, cite, ≤5 bullets. Summarise this week for [CLUB], then the top action.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9672" y="3621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8587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Safety: pump 4 down — 1. Escalate today.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Checkout waits — 12.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Produce quality — 7.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issues — 4.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Fresh food — 5 (+).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action: fix pump 4, add checkout staff.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19672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19672" y="5495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Composed shape, directed grounding, designed reuse — every move adds a fact it needs or a check it must pass.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PUT IT TOGETHER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NOW DO · KEEP THIS CARD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we promised, on one card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2103120"/>
            <a:ext cx="2916936" cy="420624"/>
          </a:xfrm>
          <a:prstGeom prst="roundRect">
            <a:avLst>
              <a:gd name="adj" fmla="val 21739"/>
            </a:avLst>
          </a:prstGeom>
          <a:solidFill>
            <a:srgbClr val="D31242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2103120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CO-STAR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parts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340156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in one follow-up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79392" y="187452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35424" y="2103120"/>
            <a:ext cx="2916936" cy="420624"/>
          </a:xfrm>
          <a:prstGeom prst="roundRect">
            <a:avLst>
              <a:gd name="adj" fmla="val 21739"/>
            </a:avLst>
          </a:prstGeom>
          <a:solidFill>
            <a:srgbClr val="D31242"/>
          </a:solidFill>
          <a:ln/>
        </p:spPr>
      </p:sp>
      <p:sp>
        <p:nvSpPr>
          <p:cNvPr id="13" name="Text 10"/>
          <p:cNvSpPr/>
          <p:nvPr/>
        </p:nvSpPr>
        <p:spPr>
          <a:xfrm>
            <a:off x="4535424" y="2103120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7432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don't tell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53712" y="340156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first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think, then answer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53712" y="405993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task &amp; material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53712" y="47183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documents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&amp; quote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53712" y="537667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flaw, fix it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918704" y="187452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74736" y="2103120"/>
            <a:ext cx="2916936" cy="420624"/>
          </a:xfrm>
          <a:prstGeom prst="roundRect">
            <a:avLst>
              <a:gd name="adj" fmla="val 21739"/>
            </a:avLst>
          </a:prstGeom>
          <a:solidFill>
            <a:srgbClr val="D31242"/>
          </a:solidFill>
          <a:ln/>
        </p:spPr>
      </p:sp>
      <p:sp>
        <p:nvSpPr>
          <p:cNvPr id="21" name="Text 18"/>
          <p:cNvSpPr/>
          <p:nvPr/>
        </p:nvSpPr>
        <p:spPr>
          <a:xfrm>
            <a:off x="8174736" y="2103120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93024" y="27432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checkable steps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193024" y="340156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it, share it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193024" y="405993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what helps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193024" y="47183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good, A/B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193024" y="537667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ground, cite, protect data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COURSE · CHEAT-SHEET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31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7E0A2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486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SEEN THE WHOLE JOURNEY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→ Composing → Directing → Designing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40690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moves, one habit: tell the model what only you know — clearly, and safely. Pick one move and use it on a real task Monday — then go deeper with the full Beginner, Intermediate, and Advanced modules.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— Crash Course</dc:title>
  <dc:subject>PptxGenJS Presentation</dc:subject>
  <dc:creator>BJ's AI Enablement</dc:creator>
  <cp:lastModifiedBy>BJ's AI Enablement</cp:lastModifiedBy>
  <cp:revision>1</cp:revision>
  <dcterms:created xsi:type="dcterms:W3CDTF">2026-07-11T22:16:56Z</dcterms:created>
  <dcterms:modified xsi:type="dcterms:W3CDTF">2026-07-11T22:16:56Z</dcterms:modified>
</cp:coreProperties>
</file>