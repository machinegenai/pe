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course: CO-STAR taught element by element, strengthened with sources, structure, examples and criteria, then refine–diagnose–verify–protect. Sits inside the Asking→Composing→Directing→Designing journey: today covers Asking through Composing into the first steps of Directing; Designing lives in the Advanced module. ~60 min live with the two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90-second attention beat before the objectives. The phrase to repeat all session: 'it cannot infer what you haven't provided.' Everything that follows is a way of providing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observable promises, read as promises. The closing recap (slide 25) pays these off one-to-one. Objective 5 carries responsible use so it isn't a bolt-on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recurring roadmap — same four stages as the Beginner, Intermediate and Advanced decks, so this course visibly belongs to the same journey. Frame it honestly: today = Asking through Composing plus first steps of Directing; the full Directing and Designing depth lives in the Intermediate and Advanced modules. Point out the breadcrumb top-right of every following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foundational definition — 'prompt' means the whole package, which is why the rest of the session works on each part. Keep brisk.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of the journey — run it live if you can. Point at the right card, then the left output: a safety issue and 12 staffing complaints became 'mixed feedback.' Canonical batch: ~30 comments, five themes, fixed counts — checkout 12, produce 7, fresh food 5, app 4, gas pump 1 (safety). Full dataset in 'Fundamentals_Practice_Dataset.md' — used again in the closing exercise. Illustrative; swap in real club feedback when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framework. Name the six parts, then say: over the next five slides we build ONE prompt with them, element by element, and then we run it. CO-STAR is a checklist against ambiguity, not a form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1 of the one-canvas build. Slides 8–12 are five twin slides on one identical canvas — clicking through plays as an animation in the room. OPTIONAL for full animation: select slides 8–12 and apply Transitions → Morph (10 seconds, once). Each state also reads standalone in the self-read PDF. Fuller teaching for Context: business situation, your role, time period, background facts, approved source material, known constraints. Relevant context helps; unnecessary background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2. 'Help me with' is a feeling, not a task — two action verbs (group, count) make it work the model can do. Point at the right panel: Context has settled to ink; the Objective just joined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3. Audience is taught third — out of CO-STAR letter order, and the chips show it — because it decides what comes next. Ask the room: who do YOU write for most — manager, team, member,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4. 'Professional' is a wish; 'concise and neutral, no technical terms' is an instruction. Style and tone travel together and flow from the audience just named — both S and T light up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5. The most under-used element — and what makes verification (slide 22) possible: at most five, counts, safety first are all checkable. The prompt is complete. Next click: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the session builds to — this is word-for-word the prompt the room just watched grow, run against the batch, beside the slide-6 baseline. If you demo one thing live, demo this. One NEW line appears at the end — 'do not infer facts not stated' — flag it as the bridge into Directing: the next stage is about lines like that. The 29-comment dataset supports every count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Active-learning beat at the midpoint. Run as a 2-minute pair discussion, then walk the right card. It has a rough Objective and nothing else pinned down — the point is that plausible-looking prompts still fail the checklist. Self-readers get the answer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gear-shift into Stage 3, done as an advance organizer: name the four real-work situations and the four moves before teaching them. Each maps to one of the next four slides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delimiters. Any clear marker works — headings, ALL-CAPS labels, tags; the TASK / REQUIREMENTS / COMMENTS / OUTPUT pattern is a reusable starter learners can copy verbatim. Honest calibration: headings help the model parse; they don't guarantee correctness — the review step still owns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grounding. 'Traceable to the source' is the phrase to leave them with. Calibration to say out loud: grounding makes claims easier to verify — it does not remove the need to verify. First slide where real BJ's material enters a prompt, so pair it with: only approved material goes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few-shot prompting. Use when a format is hard to describe, categories are fuzzy, tone matters, or consistency matters. The caution is real teaching: the model copies your example faithfully — including its mistakes — so review the example before you rely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YOUR criteria in the prompt is more reliable than asking the model to expose its thinking — the priorities come from you, and the evidence-based justifications give you something to check. Reasoning-first is taught in the Intermediate module as a further directing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Targeted follow-ups to offer the room: make it shorter · change the audience · reorganize into a table · add missing evidence · remove unsupported claims · put the most urgent issue first · rewrite in simpler language. Core message: keep what works, change what doesn't — the context you built stays in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useful than telling people to regenerate: match the symptom to the fix and change exactly that. Live option: ask the room for a recent output that missed, find its row together, and write the one-line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checklist also includes: is the recommendation reasonable, and does the output contain restricted information (folded into the last two cells). Core message verbatim: a strong prompt improves the output — it does not eliminate the need for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is illustrative — swap for BJ's official responsible-AI / data-handling policy when published. Frame as enabling: these safeguards are what let Champions use real material ambitiously and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5 to write, 3 to compare with a neighbour, 2 to debrief. A correct output groups into the five canonical themes with counts and puts the gas pump first as safety. The facilitator answer sketch is in the dataset handout. If tools are available, run the best prompt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objectives loop out loud: what a prompt is (1) — you used all of it; CO-STAR (2) — the job aid; sources and examples (3) — ground it; follow-ups (4) — refine it; review (5) — verify it. Then the journey: today = Asking→Composing + first steps of Directing; point to the Intermediate and Advanced modules by name. Hand out the job aid and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AI CHAMPIONS · FUNDAMENTALS</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Prompt Engineering Fundamentals</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How to give AI clear instructions, relevant information, and usable output requirements — in one session.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Prompt quality decides output quality</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An unclear request gets a generic, unreliable response — something you end up rewriting by hand. A clear request gets a relevant, usable, reviewable response — something you can check and send.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reason is simple, and it is the core idea of this session: the model cannot infer important business context that you have not provided. It only knows what you tell it.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PATTERN</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B91C1C"/>
                </a:solidFill>
                <a:latin typeface="Arial" pitchFamily="34" charset="0"/>
                <a:ea typeface="Arial" pitchFamily="34" charset="-122"/>
                <a:cs typeface="Arial" pitchFamily="34" charset="-120"/>
              </a:rPr>
              <a:t>✗  Unclear ask
</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generic, unreliable, reworked by hand.
</a:t>
            </a:r>
            <a:pPr indent="0" marL="0">
              <a:lnSpc>
                <a:spcPct val="115000"/>
              </a:lnSpc>
              <a:buNone/>
            </a:pPr>
            <a:r>
              <a:rPr lang="en-US" sz="1450" b="1" dirty="0">
                <a:solidFill>
                  <a:srgbClr val="15803D"/>
                </a:solidFill>
                <a:latin typeface="Arial" pitchFamily="34" charset="0"/>
                <a:ea typeface="Arial" pitchFamily="34" charset="-122"/>
                <a:cs typeface="Arial" pitchFamily="34" charset="-120"/>
              </a:rPr>
              <a:t>✓  Clear ask
</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relevant, usable, reviewable.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This session is about moving from the first line to the second — on your real work.</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WHY</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session, you will be able to:</a:t>
            </a:r>
            <a:endParaRPr lang="en-US" sz="3000" dirty="0"/>
          </a:p>
        </p:txBody>
      </p:sp>
      <p:sp>
        <p:nvSpPr>
          <p:cNvPr id="6" name="Shape 3"/>
          <p:cNvSpPr/>
          <p:nvPr/>
        </p:nvSpPr>
        <p:spPr>
          <a:xfrm>
            <a:off x="640080" y="1965960"/>
            <a:ext cx="10881360" cy="749808"/>
          </a:xfrm>
          <a:prstGeom prst="roundRect">
            <a:avLst>
              <a:gd name="adj" fmla="val 10976"/>
            </a:avLst>
          </a:prstGeom>
          <a:solidFill>
            <a:srgbClr val="F5F6F8"/>
          </a:solidFill>
          <a:ln w="12700">
            <a:solidFill>
              <a:srgbClr val="E7E9EE"/>
            </a:solidFill>
            <a:prstDash val="solid"/>
          </a:ln>
        </p:spPr>
      </p:sp>
      <p:sp>
        <p:nvSpPr>
          <p:cNvPr id="7" name="Shape 4"/>
          <p:cNvSpPr/>
          <p:nvPr/>
        </p:nvSpPr>
        <p:spPr>
          <a:xfrm>
            <a:off x="868680" y="2112264"/>
            <a:ext cx="457200" cy="457200"/>
          </a:xfrm>
          <a:prstGeom prst="ellipse">
            <a:avLst/>
          </a:prstGeom>
          <a:solidFill>
            <a:srgbClr val="D31242"/>
          </a:solidFill>
          <a:ln/>
        </p:spPr>
      </p:sp>
      <p:sp>
        <p:nvSpPr>
          <p:cNvPr id="8" name="Text 5"/>
          <p:cNvSpPr/>
          <p:nvPr/>
        </p:nvSpPr>
        <p:spPr>
          <a:xfrm>
            <a:off x="868680" y="21122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p:nvPr/>
        </p:nvSpPr>
        <p:spPr>
          <a:xfrm>
            <a:off x="1600200" y="203911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Explain what a prompt is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The parts that guide an AI response — and which of them you control.</a:t>
            </a:r>
            <a:endParaRPr lang="en-US" sz="1550" dirty="0"/>
          </a:p>
        </p:txBody>
      </p:sp>
      <p:sp>
        <p:nvSpPr>
          <p:cNvPr id="10" name="Shape 7"/>
          <p:cNvSpPr/>
          <p:nvPr/>
        </p:nvSpPr>
        <p:spPr>
          <a:xfrm>
            <a:off x="640080" y="2834640"/>
            <a:ext cx="10881360" cy="749808"/>
          </a:xfrm>
          <a:prstGeom prst="roundRect">
            <a:avLst>
              <a:gd name="adj" fmla="val 10976"/>
            </a:avLst>
          </a:prstGeom>
          <a:solidFill>
            <a:srgbClr val="F5F6F8"/>
          </a:solidFill>
          <a:ln w="12700">
            <a:solidFill>
              <a:srgbClr val="E7E9EE"/>
            </a:solidFill>
            <a:prstDash val="solid"/>
          </a:ln>
        </p:spPr>
      </p:sp>
      <p:sp>
        <p:nvSpPr>
          <p:cNvPr id="11" name="Shape 8"/>
          <p:cNvSpPr/>
          <p:nvPr/>
        </p:nvSpPr>
        <p:spPr>
          <a:xfrm>
            <a:off x="868680" y="2980944"/>
            <a:ext cx="457200" cy="457200"/>
          </a:xfrm>
          <a:prstGeom prst="ellipse">
            <a:avLst/>
          </a:prstGeom>
          <a:solidFill>
            <a:srgbClr val="D31242"/>
          </a:solidFill>
          <a:ln/>
        </p:spPr>
      </p:sp>
      <p:sp>
        <p:nvSpPr>
          <p:cNvPr id="12" name="Text 9"/>
          <p:cNvSpPr/>
          <p:nvPr/>
        </p:nvSpPr>
        <p:spPr>
          <a:xfrm>
            <a:off x="868680" y="2980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600200" y="290779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Build a clear prompt with CO-STAR</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Context, Objective, Style, Tone, Audience, Response.</a:t>
            </a:r>
            <a:endParaRPr lang="en-US" sz="1550" dirty="0"/>
          </a:p>
        </p:txBody>
      </p:sp>
      <p:sp>
        <p:nvSpPr>
          <p:cNvPr id="14" name="Shape 11"/>
          <p:cNvSpPr/>
          <p:nvPr/>
        </p:nvSpPr>
        <p:spPr>
          <a:xfrm>
            <a:off x="640080" y="3703320"/>
            <a:ext cx="10881360" cy="749808"/>
          </a:xfrm>
          <a:prstGeom prst="roundRect">
            <a:avLst>
              <a:gd name="adj" fmla="val 10976"/>
            </a:avLst>
          </a:prstGeom>
          <a:solidFill>
            <a:srgbClr val="F5F6F8"/>
          </a:solidFill>
          <a:ln w="12700">
            <a:solidFill>
              <a:srgbClr val="E7E9EE"/>
            </a:solidFill>
            <a:prstDash val="solid"/>
          </a:ln>
        </p:spPr>
      </p:sp>
      <p:sp>
        <p:nvSpPr>
          <p:cNvPr id="15" name="Shape 12"/>
          <p:cNvSpPr/>
          <p:nvPr/>
        </p:nvSpPr>
        <p:spPr>
          <a:xfrm>
            <a:off x="868680" y="3849624"/>
            <a:ext cx="457200" cy="457200"/>
          </a:xfrm>
          <a:prstGeom prst="ellipse">
            <a:avLst/>
          </a:prstGeom>
          <a:solidFill>
            <a:srgbClr val="D31242"/>
          </a:solidFill>
          <a:ln/>
        </p:spPr>
      </p:sp>
      <p:sp>
        <p:nvSpPr>
          <p:cNvPr id="16" name="Text 13"/>
          <p:cNvSpPr/>
          <p:nvPr/>
        </p:nvSpPr>
        <p:spPr>
          <a:xfrm>
            <a:off x="868680" y="38496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p:nvPr/>
        </p:nvSpPr>
        <p:spPr>
          <a:xfrm>
            <a:off x="1600200" y="377647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Provide source material and examples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Separate instructions from material; ground it; show one done right.</a:t>
            </a:r>
            <a:endParaRPr lang="en-US" sz="1550" dirty="0"/>
          </a:p>
        </p:txBody>
      </p:sp>
      <p:sp>
        <p:nvSpPr>
          <p:cNvPr id="18" name="Shape 15"/>
          <p:cNvSpPr/>
          <p:nvPr/>
        </p:nvSpPr>
        <p:spPr>
          <a:xfrm>
            <a:off x="640080" y="4572000"/>
            <a:ext cx="10881360" cy="749808"/>
          </a:xfrm>
          <a:prstGeom prst="roundRect">
            <a:avLst>
              <a:gd name="adj" fmla="val 10976"/>
            </a:avLst>
          </a:prstGeom>
          <a:solidFill>
            <a:srgbClr val="F5F6F8"/>
          </a:solidFill>
          <a:ln w="12700">
            <a:solidFill>
              <a:srgbClr val="E7E9EE"/>
            </a:solidFill>
            <a:prstDash val="solid"/>
          </a:ln>
        </p:spPr>
      </p:sp>
      <p:sp>
        <p:nvSpPr>
          <p:cNvPr id="19" name="Shape 16"/>
          <p:cNvSpPr/>
          <p:nvPr/>
        </p:nvSpPr>
        <p:spPr>
          <a:xfrm>
            <a:off x="868680" y="4718304"/>
            <a:ext cx="457200" cy="457200"/>
          </a:xfrm>
          <a:prstGeom prst="ellipse">
            <a:avLst/>
          </a:prstGeom>
          <a:solidFill>
            <a:srgbClr val="D31242"/>
          </a:solidFill>
          <a:ln/>
        </p:spPr>
      </p:sp>
      <p:sp>
        <p:nvSpPr>
          <p:cNvPr id="20" name="Text 17"/>
          <p:cNvSpPr/>
          <p:nvPr/>
        </p:nvSpPr>
        <p:spPr>
          <a:xfrm>
            <a:off x="868680" y="47183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p:nvPr/>
        </p:nvSpPr>
        <p:spPr>
          <a:xfrm>
            <a:off x="1600200" y="464515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Improve a response with follow-ups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Refine and diagnose instead of restarting.</a:t>
            </a:r>
            <a:endParaRPr lang="en-US" sz="1550" dirty="0"/>
          </a:p>
        </p:txBody>
      </p:sp>
      <p:sp>
        <p:nvSpPr>
          <p:cNvPr id="22" name="Shape 19"/>
          <p:cNvSpPr/>
          <p:nvPr/>
        </p:nvSpPr>
        <p:spPr>
          <a:xfrm>
            <a:off x="640080" y="5440680"/>
            <a:ext cx="10881360" cy="749808"/>
          </a:xfrm>
          <a:prstGeom prst="roundRect">
            <a:avLst>
              <a:gd name="adj" fmla="val 10976"/>
            </a:avLst>
          </a:prstGeom>
          <a:solidFill>
            <a:srgbClr val="F5F6F8"/>
          </a:solidFill>
          <a:ln w="12700">
            <a:solidFill>
              <a:srgbClr val="E7E9EE"/>
            </a:solidFill>
            <a:prstDash val="solid"/>
          </a:ln>
        </p:spPr>
      </p:sp>
      <p:sp>
        <p:nvSpPr>
          <p:cNvPr id="23" name="Shape 20"/>
          <p:cNvSpPr/>
          <p:nvPr/>
        </p:nvSpPr>
        <p:spPr>
          <a:xfrm>
            <a:off x="868680" y="5586984"/>
            <a:ext cx="457200" cy="457200"/>
          </a:xfrm>
          <a:prstGeom prst="ellipse">
            <a:avLst/>
          </a:prstGeom>
          <a:solidFill>
            <a:srgbClr val="D31242"/>
          </a:solidFill>
          <a:ln/>
        </p:spPr>
      </p:sp>
      <p:sp>
        <p:nvSpPr>
          <p:cNvPr id="24" name="Text 21"/>
          <p:cNvSpPr/>
          <p:nvPr/>
        </p:nvSpPr>
        <p:spPr>
          <a:xfrm>
            <a:off x="868680" y="5586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5" name="Text 22"/>
          <p:cNvSpPr/>
          <p:nvPr/>
        </p:nvSpPr>
        <p:spPr>
          <a:xfrm>
            <a:off x="1600200" y="551383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Review before you use it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Check accuracy and usefulness — and protect member data.</a:t>
            </a:r>
            <a:endParaRPr lang="en-US" sz="15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OBJECTIVES</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JOURNEY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Four stages — and what today covers</a:t>
            </a:r>
            <a:endParaRPr lang="en-US" sz="3000" dirty="0"/>
          </a:p>
        </p:txBody>
      </p:sp>
      <p:sp>
        <p:nvSpPr>
          <p:cNvPr id="6" name="Shape 3"/>
          <p:cNvSpPr/>
          <p:nvPr/>
        </p:nvSpPr>
        <p:spPr>
          <a:xfrm>
            <a:off x="640080" y="2514600"/>
            <a:ext cx="2532888" cy="3063240"/>
          </a:xfrm>
          <a:prstGeom prst="roundRect">
            <a:avLst>
              <a:gd name="adj" fmla="val 3249"/>
            </a:avLst>
          </a:prstGeom>
          <a:solidFill>
            <a:srgbClr val="F5F6F8"/>
          </a:solidFill>
          <a:ln w="12700">
            <a:solidFill>
              <a:srgbClr val="E7E9EE"/>
            </a:solidFill>
            <a:prstDash val="solid"/>
          </a:ln>
        </p:spPr>
      </p:sp>
      <p:sp>
        <p:nvSpPr>
          <p:cNvPr id="7" name="Shape 4"/>
          <p:cNvSpPr/>
          <p:nvPr/>
        </p:nvSpPr>
        <p:spPr>
          <a:xfrm>
            <a:off x="900684" y="2121408"/>
            <a:ext cx="2011680" cy="365760"/>
          </a:xfrm>
          <a:prstGeom prst="roundRect">
            <a:avLst>
              <a:gd name="adj" fmla="val 25000"/>
            </a:avLst>
          </a:prstGeom>
          <a:solidFill>
            <a:srgbClr val="D31242"/>
          </a:solidFill>
          <a:ln/>
        </p:spPr>
      </p:sp>
      <p:sp>
        <p:nvSpPr>
          <p:cNvPr id="8" name="Text 5"/>
          <p:cNvSpPr/>
          <p:nvPr/>
        </p:nvSpPr>
        <p:spPr>
          <a:xfrm>
            <a:off x="90068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a:t>
            </a:r>
            <a:endParaRPr lang="en-US" sz="850" dirty="0"/>
          </a:p>
        </p:txBody>
      </p:sp>
      <p:sp>
        <p:nvSpPr>
          <p:cNvPr id="9" name="Shape 6"/>
          <p:cNvSpPr/>
          <p:nvPr/>
        </p:nvSpPr>
        <p:spPr>
          <a:xfrm>
            <a:off x="1613916" y="2761488"/>
            <a:ext cx="585216" cy="585216"/>
          </a:xfrm>
          <a:prstGeom prst="ellipse">
            <a:avLst/>
          </a:prstGeom>
          <a:solidFill>
            <a:srgbClr val="D31242"/>
          </a:solidFill>
          <a:ln/>
        </p:spPr>
      </p:sp>
      <p:sp>
        <p:nvSpPr>
          <p:cNvPr id="10" name="Text 7"/>
          <p:cNvSpPr/>
          <p:nvPr/>
        </p:nvSpPr>
        <p:spPr>
          <a:xfrm>
            <a:off x="161391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1" name="Text 8"/>
          <p:cNvSpPr/>
          <p:nvPr/>
        </p:nvSpPr>
        <p:spPr>
          <a:xfrm>
            <a:off x="74980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Asking</a:t>
            </a:r>
            <a:endParaRPr lang="en-US" sz="1800" dirty="0"/>
          </a:p>
        </p:txBody>
      </p:sp>
      <p:sp>
        <p:nvSpPr>
          <p:cNvPr id="12" name="Text 9"/>
          <p:cNvSpPr/>
          <p:nvPr/>
        </p:nvSpPr>
        <p:spPr>
          <a:xfrm>
            <a:off x="80467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One-line requests, hit or miss. Where everyone starts — and where we start.</a:t>
            </a:r>
            <a:endParaRPr lang="en-US" sz="1000" dirty="0"/>
          </a:p>
        </p:txBody>
      </p:sp>
      <p:sp>
        <p:nvSpPr>
          <p:cNvPr id="13" name="Text 10"/>
          <p:cNvSpPr/>
          <p:nvPr/>
        </p:nvSpPr>
        <p:spPr>
          <a:xfrm>
            <a:off x="314553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3429000" y="2514600"/>
            <a:ext cx="2532888" cy="3063240"/>
          </a:xfrm>
          <a:prstGeom prst="roundRect">
            <a:avLst>
              <a:gd name="adj" fmla="val 3249"/>
            </a:avLst>
          </a:prstGeom>
          <a:solidFill>
            <a:srgbClr val="F5F6F8"/>
          </a:solidFill>
          <a:ln w="12700">
            <a:solidFill>
              <a:srgbClr val="E7E9EE"/>
            </a:solidFill>
            <a:prstDash val="solid"/>
          </a:ln>
        </p:spPr>
      </p:sp>
      <p:sp>
        <p:nvSpPr>
          <p:cNvPr id="15" name="Shape 12"/>
          <p:cNvSpPr/>
          <p:nvPr/>
        </p:nvSpPr>
        <p:spPr>
          <a:xfrm>
            <a:off x="3689604" y="2121408"/>
            <a:ext cx="2011680" cy="365760"/>
          </a:xfrm>
          <a:prstGeom prst="roundRect">
            <a:avLst>
              <a:gd name="adj" fmla="val 25000"/>
            </a:avLst>
          </a:prstGeom>
          <a:solidFill>
            <a:srgbClr val="D31242"/>
          </a:solidFill>
          <a:ln/>
        </p:spPr>
      </p:sp>
      <p:sp>
        <p:nvSpPr>
          <p:cNvPr id="16" name="Text 13"/>
          <p:cNvSpPr/>
          <p:nvPr/>
        </p:nvSpPr>
        <p:spPr>
          <a:xfrm>
            <a:off x="368960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a:t>
            </a:r>
            <a:endParaRPr lang="en-US" sz="850" dirty="0"/>
          </a:p>
        </p:txBody>
      </p:sp>
      <p:sp>
        <p:nvSpPr>
          <p:cNvPr id="17" name="Shape 14"/>
          <p:cNvSpPr/>
          <p:nvPr/>
        </p:nvSpPr>
        <p:spPr>
          <a:xfrm>
            <a:off x="4402836" y="2761488"/>
            <a:ext cx="585216" cy="585216"/>
          </a:xfrm>
          <a:prstGeom prst="ellipse">
            <a:avLst/>
          </a:prstGeom>
          <a:solidFill>
            <a:srgbClr val="D31242"/>
          </a:solidFill>
          <a:ln/>
        </p:spPr>
      </p:sp>
      <p:sp>
        <p:nvSpPr>
          <p:cNvPr id="18" name="Text 15"/>
          <p:cNvSpPr/>
          <p:nvPr/>
        </p:nvSpPr>
        <p:spPr>
          <a:xfrm>
            <a:off x="440283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9" name="Text 16"/>
          <p:cNvSpPr/>
          <p:nvPr/>
        </p:nvSpPr>
        <p:spPr>
          <a:xfrm>
            <a:off x="353872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Composing</a:t>
            </a:r>
            <a:endParaRPr lang="en-US" sz="1800" dirty="0"/>
          </a:p>
        </p:txBody>
      </p:sp>
      <p:sp>
        <p:nvSpPr>
          <p:cNvPr id="20" name="Text 17"/>
          <p:cNvSpPr/>
          <p:nvPr/>
        </p:nvSpPr>
        <p:spPr>
          <a:xfrm>
            <a:off x="359359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CO-STAR plus the refine habit — strong prompts on purpose. The heart of this session.</a:t>
            </a:r>
            <a:endParaRPr lang="en-US" sz="1000" dirty="0"/>
          </a:p>
        </p:txBody>
      </p:sp>
      <p:sp>
        <p:nvSpPr>
          <p:cNvPr id="21" name="Text 18"/>
          <p:cNvSpPr/>
          <p:nvPr/>
        </p:nvSpPr>
        <p:spPr>
          <a:xfrm>
            <a:off x="593445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2" name="Shape 19"/>
          <p:cNvSpPr/>
          <p:nvPr/>
        </p:nvSpPr>
        <p:spPr>
          <a:xfrm>
            <a:off x="6217920" y="2514600"/>
            <a:ext cx="2532888" cy="3063240"/>
          </a:xfrm>
          <a:prstGeom prst="roundRect">
            <a:avLst>
              <a:gd name="adj" fmla="val 3249"/>
            </a:avLst>
          </a:prstGeom>
          <a:solidFill>
            <a:srgbClr val="F5F6F8"/>
          </a:solidFill>
          <a:ln w="12700">
            <a:solidFill>
              <a:srgbClr val="E7E9EE"/>
            </a:solidFill>
            <a:prstDash val="solid"/>
          </a:ln>
        </p:spPr>
      </p:sp>
      <p:sp>
        <p:nvSpPr>
          <p:cNvPr id="23" name="Shape 20"/>
          <p:cNvSpPr/>
          <p:nvPr/>
        </p:nvSpPr>
        <p:spPr>
          <a:xfrm>
            <a:off x="6478524" y="2121408"/>
            <a:ext cx="2011680" cy="365760"/>
          </a:xfrm>
          <a:prstGeom prst="roundRect">
            <a:avLst>
              <a:gd name="adj" fmla="val 25000"/>
            </a:avLst>
          </a:prstGeom>
          <a:solidFill>
            <a:srgbClr val="D31242"/>
          </a:solidFill>
          <a:ln/>
        </p:spPr>
      </p:sp>
      <p:sp>
        <p:nvSpPr>
          <p:cNvPr id="24" name="Text 21"/>
          <p:cNvSpPr/>
          <p:nvPr/>
        </p:nvSpPr>
        <p:spPr>
          <a:xfrm>
            <a:off x="647852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 · FIRST STEPS</a:t>
            </a:r>
            <a:endParaRPr lang="en-US" sz="850" dirty="0"/>
          </a:p>
        </p:txBody>
      </p:sp>
      <p:sp>
        <p:nvSpPr>
          <p:cNvPr id="25" name="Shape 22"/>
          <p:cNvSpPr/>
          <p:nvPr/>
        </p:nvSpPr>
        <p:spPr>
          <a:xfrm>
            <a:off x="7191756" y="2761488"/>
            <a:ext cx="585216" cy="585216"/>
          </a:xfrm>
          <a:prstGeom prst="ellipse">
            <a:avLst/>
          </a:prstGeom>
          <a:solidFill>
            <a:srgbClr val="D31242"/>
          </a:solidFill>
          <a:ln/>
        </p:spPr>
      </p:sp>
      <p:sp>
        <p:nvSpPr>
          <p:cNvPr id="26" name="Text 23"/>
          <p:cNvSpPr/>
          <p:nvPr/>
        </p:nvSpPr>
        <p:spPr>
          <a:xfrm>
            <a:off x="719175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7" name="Text 24"/>
          <p:cNvSpPr/>
          <p:nvPr/>
        </p:nvSpPr>
        <p:spPr>
          <a:xfrm>
            <a:off x="632764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Directing</a:t>
            </a:r>
            <a:endParaRPr lang="en-US" sz="1800" dirty="0"/>
          </a:p>
        </p:txBody>
      </p:sp>
      <p:sp>
        <p:nvSpPr>
          <p:cNvPr id="28" name="Text 25"/>
          <p:cNvSpPr/>
          <p:nvPr/>
        </p:nvSpPr>
        <p:spPr>
          <a:xfrm>
            <a:off x="638251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Sources, structure, examples, criteria. First steps today; the Intermediate module goes deeper.</a:t>
            </a:r>
            <a:endParaRPr lang="en-US" sz="1000" dirty="0"/>
          </a:p>
        </p:txBody>
      </p:sp>
      <p:sp>
        <p:nvSpPr>
          <p:cNvPr id="29" name="Text 26"/>
          <p:cNvSpPr/>
          <p:nvPr/>
        </p:nvSpPr>
        <p:spPr>
          <a:xfrm>
            <a:off x="872337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30" name="Shape 27"/>
          <p:cNvSpPr/>
          <p:nvPr/>
        </p:nvSpPr>
        <p:spPr>
          <a:xfrm>
            <a:off x="9015984" y="2514600"/>
            <a:ext cx="2532888" cy="3063240"/>
          </a:xfrm>
          <a:prstGeom prst="roundRect">
            <a:avLst>
              <a:gd name="adj" fmla="val 3249"/>
            </a:avLst>
          </a:prstGeom>
          <a:solidFill>
            <a:srgbClr val="F5F6F8"/>
          </a:solidFill>
          <a:ln w="12700">
            <a:solidFill>
              <a:srgbClr val="E7E9EE"/>
            </a:solidFill>
            <a:prstDash val="solid"/>
          </a:ln>
        </p:spPr>
      </p:sp>
      <p:sp>
        <p:nvSpPr>
          <p:cNvPr id="31" name="Shape 28"/>
          <p:cNvSpPr/>
          <p:nvPr/>
        </p:nvSpPr>
        <p:spPr>
          <a:xfrm>
            <a:off x="9276588" y="2121408"/>
            <a:ext cx="2011680" cy="365760"/>
          </a:xfrm>
          <a:prstGeom prst="roundRect">
            <a:avLst>
              <a:gd name="adj" fmla="val 25000"/>
            </a:avLst>
          </a:prstGeom>
          <a:solidFill>
            <a:srgbClr val="F5F6F8"/>
          </a:solidFill>
          <a:ln w="12700">
            <a:solidFill>
              <a:srgbClr val="E7E9EE"/>
            </a:solidFill>
            <a:prstDash val="solid"/>
          </a:ln>
        </p:spPr>
      </p:sp>
      <p:sp>
        <p:nvSpPr>
          <p:cNvPr id="32" name="Text 29"/>
          <p:cNvSpPr/>
          <p:nvPr/>
        </p:nvSpPr>
        <p:spPr>
          <a:xfrm>
            <a:off x="9276588"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5E6A78"/>
                </a:solidFill>
                <a:latin typeface="Arial" pitchFamily="34" charset="0"/>
                <a:ea typeface="Arial" pitchFamily="34" charset="-122"/>
                <a:cs typeface="Arial" pitchFamily="34" charset="-120"/>
              </a:rPr>
              <a:t>ADVANCED MODULE</a:t>
            </a:r>
            <a:endParaRPr lang="en-US" sz="850" dirty="0"/>
          </a:p>
        </p:txBody>
      </p:sp>
      <p:sp>
        <p:nvSpPr>
          <p:cNvPr id="33" name="Shape 30"/>
          <p:cNvSpPr/>
          <p:nvPr/>
        </p:nvSpPr>
        <p:spPr>
          <a:xfrm>
            <a:off x="9989820" y="2761488"/>
            <a:ext cx="585216" cy="585216"/>
          </a:xfrm>
          <a:prstGeom prst="ellipse">
            <a:avLst/>
          </a:prstGeom>
          <a:solidFill>
            <a:srgbClr val="C8CDD4"/>
          </a:solidFill>
          <a:ln/>
        </p:spPr>
      </p:sp>
      <p:sp>
        <p:nvSpPr>
          <p:cNvPr id="34" name="Text 31"/>
          <p:cNvSpPr/>
          <p:nvPr/>
        </p:nvSpPr>
        <p:spPr>
          <a:xfrm>
            <a:off x="9989820"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5" name="Text 32"/>
          <p:cNvSpPr/>
          <p:nvPr/>
        </p:nvSpPr>
        <p:spPr>
          <a:xfrm>
            <a:off x="9125712"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Designing</a:t>
            </a:r>
            <a:endParaRPr lang="en-US" sz="1800" dirty="0"/>
          </a:p>
        </p:txBody>
      </p:sp>
      <p:sp>
        <p:nvSpPr>
          <p:cNvPr id="36" name="Text 33"/>
          <p:cNvSpPr/>
          <p:nvPr/>
        </p:nvSpPr>
        <p:spPr>
          <a:xfrm>
            <a:off x="9180576"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Chains, reusable templates, evaluation. Waiting for you in the Advanced module.</a:t>
            </a:r>
            <a:endParaRPr lang="en-US" sz="1000" dirty="0"/>
          </a:p>
        </p:txBody>
      </p:sp>
      <p:sp>
        <p:nvSpPr>
          <p:cNvPr id="37" name="Text 34"/>
          <p:cNvSpPr/>
          <p:nvPr/>
        </p:nvSpPr>
        <p:spPr>
          <a:xfrm>
            <a:off x="640080" y="587044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Keep an eye on the top-right corner of every slide — it shows where you are on this journey.</a:t>
            </a:r>
            <a:endParaRPr lang="en-US" sz="1150" dirty="0"/>
          </a:p>
        </p:txBody>
      </p:sp>
      <p:sp>
        <p:nvSpPr>
          <p:cNvPr id="38" name="Text 3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THE JOURNEY</a:t>
            </a:r>
            <a:endParaRPr lang="en-US" sz="850" dirty="0"/>
          </a:p>
        </p:txBody>
      </p:sp>
      <p:sp>
        <p:nvSpPr>
          <p:cNvPr id="39" name="Text 3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BASICS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What is a prompt?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prompt is the combination of instructions, context, source information, examples, and output requirements you provide to guide an AI response.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It is not just the sentence you type. Everything you give the model shapes what comes back — and everything you leave out, it has to guess.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PROMPT CAN INCLUDE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300" dirty="0">
                <a:solidFill>
                  <a:srgbClr val="1F2733"/>
                </a:solidFill>
                <a:latin typeface="Arial" pitchFamily="34" charset="0"/>
                <a:ea typeface="Arial" pitchFamily="34" charset="-122"/>
                <a:cs typeface="Arial" pitchFamily="34" charset="-120"/>
              </a:rPr>
              <a:t>• Typed instructions</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Pasted text</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Uploaded documents</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Examples of what you want</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Earlier turns in the same conversation</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Approved connected information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WHAT IS A PROMPT</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1 · ASKING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everyone starts</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D31242"/>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The most common prompt in the building — not wrong, just incomplete. Today we build the prompt that fixes it, on one real batch of feedback.</a:t>
            </a:r>
            <a:endParaRPr lang="en-US" sz="1300" dirty="0"/>
          </a:p>
        </p:txBody>
      </p:sp>
      <p:sp>
        <p:nvSpPr>
          <p:cNvPr id="8" name="Shape 5"/>
          <p:cNvSpPr/>
          <p:nvPr/>
        </p:nvSpPr>
        <p:spPr>
          <a:xfrm>
            <a:off x="640080" y="1956816"/>
            <a:ext cx="5486400" cy="4169664"/>
          </a:xfrm>
          <a:prstGeom prst="roundRect">
            <a:avLst>
              <a:gd name="adj" fmla="val 1974"/>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ONE-LINE PROMPT</a:t>
            </a:r>
            <a:endParaRPr lang="en-US" sz="1100" dirty="0"/>
          </a:p>
        </p:txBody>
      </p:sp>
      <p:sp>
        <p:nvSpPr>
          <p:cNvPr id="10" name="Text 7"/>
          <p:cNvSpPr/>
          <p:nvPr/>
        </p:nvSpPr>
        <p:spPr>
          <a:xfrm>
            <a:off x="914400" y="2487168"/>
            <a:ext cx="4937760" cy="365760"/>
          </a:xfrm>
          <a:prstGeom prst="rect">
            <a:avLst/>
          </a:prstGeom>
          <a:noFill/>
          <a:ln/>
        </p:spPr>
        <p:txBody>
          <a:bodyPr wrap="square" lIns="0" tIns="0" rIns="0" bIns="0" rtlCol="0" anchor="t"/>
          <a:lstStyle/>
          <a:p>
            <a:pPr indent="0" marL="0">
              <a:buNone/>
            </a:pPr>
            <a:r>
              <a:rPr lang="en-US" sz="1300" i="1" dirty="0">
                <a:solidFill>
                  <a:srgbClr val="FFFFFF"/>
                </a:solidFill>
                <a:latin typeface="Arial" pitchFamily="34" charset="0"/>
                <a:ea typeface="Arial" pitchFamily="34" charset="-122"/>
                <a:cs typeface="Arial" pitchFamily="34" charset="-120"/>
              </a:rPr>
              <a:t>Summarize this feedback.</a:t>
            </a:r>
            <a:endParaRPr lang="en-US" sz="1300" dirty="0"/>
          </a:p>
        </p:txBody>
      </p:sp>
      <p:sp>
        <p:nvSpPr>
          <p:cNvPr id="11" name="Text 8"/>
          <p:cNvSpPr/>
          <p:nvPr/>
        </p:nvSpPr>
        <p:spPr>
          <a:xfrm>
            <a:off x="914400" y="3054096"/>
            <a:ext cx="4937760" cy="237744"/>
          </a:xfrm>
          <a:prstGeom prst="rect">
            <a:avLst/>
          </a:prstGeom>
          <a:noFill/>
          <a:ln/>
        </p:spPr>
        <p:txBody>
          <a:bodyPr wrap="square" lIns="0" tIns="0" rIns="0" bIns="0" rtlCol="0" anchor="ctr"/>
          <a:lstStyle/>
          <a:p>
            <a:pPr indent="0" marL="0">
              <a:buNone/>
            </a:pPr>
            <a:r>
              <a:rPr lang="en-US" sz="1000" b="1" spc="100" kern="0" dirty="0">
                <a:solidFill>
                  <a:srgbClr val="C8CDD4"/>
                </a:solidFill>
                <a:latin typeface="Arial" pitchFamily="34" charset="0"/>
                <a:ea typeface="Arial" pitchFamily="34" charset="-122"/>
                <a:cs typeface="Arial" pitchFamily="34" charset="-120"/>
              </a:rPr>
              <a:t>WHAT COMES BACK</a:t>
            </a:r>
            <a:endParaRPr lang="en-US" sz="1000" dirty="0"/>
          </a:p>
        </p:txBody>
      </p:sp>
      <p:sp>
        <p:nvSpPr>
          <p:cNvPr id="12" name="Text 9"/>
          <p:cNvSpPr/>
          <p:nvPr/>
        </p:nvSpPr>
        <p:spPr>
          <a:xfrm>
            <a:off x="914400" y="3328416"/>
            <a:ext cx="4937760" cy="118872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“Members had mixed feedback about their visit — some positive comments and some complaints. Overall it was a fairly typical weekend.”</a:t>
            </a:r>
            <a:endParaRPr lang="en-US" sz="1200" dirty="0"/>
          </a:p>
        </p:txBody>
      </p:sp>
      <p:sp>
        <p:nvSpPr>
          <p:cNvPr id="13" name="Text 10"/>
          <p:cNvSpPr/>
          <p:nvPr/>
        </p:nvSpPr>
        <p:spPr>
          <a:xfrm>
            <a:off x="914400" y="5120640"/>
            <a:ext cx="4937760" cy="868680"/>
          </a:xfrm>
          <a:prstGeom prst="rect">
            <a:avLst/>
          </a:prstGeom>
          <a:noFill/>
          <a:ln/>
        </p:spPr>
        <p:txBody>
          <a:bodyPr wrap="square" lIns="0" tIns="0" rIns="0" bIns="0" rtlCol="0" anchor="t"/>
          <a:lstStyle/>
          <a:p>
            <a:pPr indent="0" marL="0">
              <a:lnSpc>
                <a:spcPct val="115000"/>
              </a:lnSpc>
              <a:buNone/>
            </a:pPr>
            <a:r>
              <a:rPr lang="en-US" sz="1150" b="1" i="1" dirty="0">
                <a:solidFill>
                  <a:srgbClr val="FCE4EA"/>
                </a:solidFill>
                <a:latin typeface="Arial" pitchFamily="34" charset="0"/>
                <a:ea typeface="Arial" pitchFamily="34" charset="-122"/>
                <a:cs typeface="Arial" pitchFamily="34" charset="-120"/>
              </a:rPr>
              <a:t>No audience. No purpose. No format. No priorities. No guard against invented claims.</a:t>
            </a:r>
            <a:endParaRPr lang="en-US" sz="1150" dirty="0"/>
          </a:p>
        </p:txBody>
      </p:sp>
      <p:sp>
        <p:nvSpPr>
          <p:cNvPr id="14" name="Shape 11"/>
          <p:cNvSpPr/>
          <p:nvPr/>
        </p:nvSpPr>
        <p:spPr>
          <a:xfrm>
            <a:off x="6355080" y="1956816"/>
            <a:ext cx="5193792" cy="4169664"/>
          </a:xfrm>
          <a:prstGeom prst="roundRect">
            <a:avLst>
              <a:gd name="adj" fmla="val 1974"/>
            </a:avLst>
          </a:prstGeom>
          <a:solidFill>
            <a:srgbClr val="F5F6F8"/>
          </a:solidFill>
          <a:ln w="12700">
            <a:solidFill>
              <a:srgbClr val="E7E9EE"/>
            </a:solidFill>
            <a:prstDash val="solid"/>
          </a:ln>
        </p:spPr>
      </p:sp>
      <p:sp>
        <p:nvSpPr>
          <p:cNvPr id="15" name="Text 12"/>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OUR RUNNING EXAMPLE</a:t>
            </a:r>
            <a:endParaRPr lang="en-US" sz="1100" dirty="0"/>
          </a:p>
        </p:txBody>
      </p:sp>
      <p:sp>
        <p:nvSpPr>
          <p:cNvPr id="16" name="Text 13"/>
          <p:cNvSpPr/>
          <p:nvPr/>
        </p:nvSpPr>
        <p:spPr>
          <a:xfrm>
            <a:off x="6629400" y="2468880"/>
            <a:ext cx="4663440" cy="3566160"/>
          </a:xfrm>
          <a:prstGeom prst="rect">
            <a:avLst/>
          </a:prstGeom>
          <a:noFill/>
          <a:ln/>
        </p:spPr>
        <p:txBody>
          <a:bodyPr wrap="square" lIns="0" tIns="0" rIns="0" bIns="0" rtlCol="0" anchor="t"/>
          <a:lstStyle/>
          <a:p>
            <a:pPr indent="0" marL="0">
              <a:lnSpc>
                <a:spcPct val="112000"/>
              </a:lnSpc>
              <a:buNone/>
            </a:pPr>
            <a:r>
              <a:rPr lang="en-US" sz="1100" i="1" dirty="0">
                <a:solidFill>
                  <a:srgbClr val="5E6A78"/>
                </a:solidFill>
                <a:latin typeface="Arial" pitchFamily="34" charset="0"/>
                <a:ea typeface="Arial" pitchFamily="34" charset="-122"/>
                <a:cs typeface="Arial" pitchFamily="34" charset="-120"/>
              </a:rPr>
              <a:t>What it was asked to summarize — last weekend's survey, about 30 comments. Five of them:
</a:t>
            </a:r>
            <a:pPr indent="0" marL="0">
              <a:lnSpc>
                <a:spcPct val="112000"/>
              </a:lnSpc>
              <a:buNone/>
            </a:pPr>
            <a:r>
              <a:rPr lang="en-US" sz="1100" dirty="0">
                <a:solidFill>
                  <a:srgbClr val="1F2733"/>
                </a:solidFill>
                <a:latin typeface="Arial" pitchFamily="34" charset="0"/>
                <a:ea typeface="Arial" pitchFamily="34" charset="-122"/>
                <a:cs typeface="Arial" pitchFamily="34" charset="-120"/>
              </a:rPr>
              <a:t>“Waited 22 min at checkout — only 3 lanes open.”
“Rotisserie chicken is always fresh!”
“The app froze when I clipped the gas coupon.”
“Gas pump 4 is down again.”
“Wilted spinach and moldy berries in produce.”
</a:t>
            </a:r>
            <a:pPr indent="0" marL="0">
              <a:lnSpc>
                <a:spcPct val="112000"/>
              </a:lnSpc>
              <a:buNone/>
            </a:pPr>
            <a:r>
              <a:rPr lang="en-US" sz="1100" i="1" dirty="0">
                <a:solidFill>
                  <a:srgbClr val="B91C1C"/>
                </a:solidFill>
                <a:latin typeface="Arial" pitchFamily="34" charset="0"/>
                <a:ea typeface="Arial" pitchFamily="34" charset="-122"/>
                <a:cs typeface="Arial" pitchFamily="34" charset="-120"/>
              </a:rPr>
              <a:t>A safety issue, a staffing problem, a broken app — all flattened into “mixed feedback.”</a:t>
            </a:r>
            <a:endParaRPr lang="en-US" sz="11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ASKING</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CO-STAR: a practical checklist for a strong prompt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 — Context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Relevant background and source information.</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O — Objective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you want it to accomplish.</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 — Style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How it should be written or presented.</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T — Tone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voice it should use.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 — Audience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Who will read or use the output.</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R — Response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exact output structure you need.</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CO-STAR</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32" name="Text 2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33" name="Text 24"/>
          <p:cNvSpPr/>
          <p:nvPr/>
        </p:nvSpPr>
        <p:spPr>
          <a:xfrm>
            <a:off x="640080" y="605332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Not every prompt needs every element — use the ones that reduce ambiguity.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Building the prompt — element by element</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572768"/>
            <a:ext cx="475488" cy="475488"/>
          </a:xfrm>
          <a:prstGeom prst="roundRect">
            <a:avLst>
              <a:gd name="adj" fmla="val 19231"/>
            </a:avLst>
          </a:prstGeom>
          <a:solidFill>
            <a:srgbClr val="D31242"/>
          </a:solidFill>
          <a:ln/>
        </p:spPr>
      </p:sp>
      <p:sp>
        <p:nvSpPr>
          <p:cNvPr id="8" name="Text 5"/>
          <p:cNvSpPr/>
          <p:nvPr/>
        </p:nvSpPr>
        <p:spPr>
          <a:xfrm>
            <a:off x="64008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9" name="Shape 6"/>
          <p:cNvSpPr/>
          <p:nvPr/>
        </p:nvSpPr>
        <p:spPr>
          <a:xfrm>
            <a:off x="1225296" y="1572768"/>
            <a:ext cx="475488" cy="475488"/>
          </a:xfrm>
          <a:prstGeom prst="roundRect">
            <a:avLst>
              <a:gd name="adj" fmla="val 19231"/>
            </a:avLst>
          </a:prstGeom>
          <a:solidFill>
            <a:srgbClr val="F5F6F8"/>
          </a:solidFill>
          <a:ln w="12700">
            <a:solidFill>
              <a:srgbClr val="E7E9EE"/>
            </a:solidFill>
            <a:prstDash val="solid"/>
          </a:ln>
        </p:spPr>
      </p:sp>
      <p:sp>
        <p:nvSpPr>
          <p:cNvPr id="10" name="Text 7"/>
          <p:cNvSpPr/>
          <p:nvPr/>
        </p:nvSpPr>
        <p:spPr>
          <a:xfrm>
            <a:off x="1225296"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O</a:t>
            </a:r>
            <a:endParaRPr lang="en-US" sz="1600" dirty="0"/>
          </a:p>
        </p:txBody>
      </p:sp>
      <p:sp>
        <p:nvSpPr>
          <p:cNvPr id="11" name="Shape 8"/>
          <p:cNvSpPr/>
          <p:nvPr/>
        </p:nvSpPr>
        <p:spPr>
          <a:xfrm>
            <a:off x="1810512" y="1572768"/>
            <a:ext cx="475488" cy="475488"/>
          </a:xfrm>
          <a:prstGeom prst="roundRect">
            <a:avLst>
              <a:gd name="adj" fmla="val 19231"/>
            </a:avLst>
          </a:prstGeom>
          <a:solidFill>
            <a:srgbClr val="F5F6F8"/>
          </a:solidFill>
          <a:ln w="12700">
            <a:solidFill>
              <a:srgbClr val="E7E9EE"/>
            </a:solidFill>
            <a:prstDash val="solid"/>
          </a:ln>
        </p:spPr>
      </p:sp>
      <p:sp>
        <p:nvSpPr>
          <p:cNvPr id="12" name="Text 9"/>
          <p:cNvSpPr/>
          <p:nvPr/>
        </p:nvSpPr>
        <p:spPr>
          <a:xfrm>
            <a:off x="1810512"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S</a:t>
            </a:r>
            <a:endParaRPr lang="en-US" sz="1600" dirty="0"/>
          </a:p>
        </p:txBody>
      </p:sp>
      <p:sp>
        <p:nvSpPr>
          <p:cNvPr id="13" name="Shape 10"/>
          <p:cNvSpPr/>
          <p:nvPr/>
        </p:nvSpPr>
        <p:spPr>
          <a:xfrm>
            <a:off x="2395728" y="1572768"/>
            <a:ext cx="475488" cy="475488"/>
          </a:xfrm>
          <a:prstGeom prst="roundRect">
            <a:avLst>
              <a:gd name="adj" fmla="val 19231"/>
            </a:avLst>
          </a:prstGeom>
          <a:solidFill>
            <a:srgbClr val="F5F6F8"/>
          </a:solidFill>
          <a:ln w="12700">
            <a:solidFill>
              <a:srgbClr val="E7E9EE"/>
            </a:solidFill>
            <a:prstDash val="solid"/>
          </a:ln>
        </p:spPr>
      </p:sp>
      <p:sp>
        <p:nvSpPr>
          <p:cNvPr id="14" name="Text 11"/>
          <p:cNvSpPr/>
          <p:nvPr/>
        </p:nvSpPr>
        <p:spPr>
          <a:xfrm>
            <a:off x="2395728"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T</a:t>
            </a:r>
            <a:endParaRPr lang="en-US" sz="1600" dirty="0"/>
          </a:p>
        </p:txBody>
      </p:sp>
      <p:sp>
        <p:nvSpPr>
          <p:cNvPr id="15" name="Shape 12"/>
          <p:cNvSpPr/>
          <p:nvPr/>
        </p:nvSpPr>
        <p:spPr>
          <a:xfrm>
            <a:off x="2980944" y="1572768"/>
            <a:ext cx="475488" cy="475488"/>
          </a:xfrm>
          <a:prstGeom prst="roundRect">
            <a:avLst>
              <a:gd name="adj" fmla="val 19231"/>
            </a:avLst>
          </a:prstGeom>
          <a:solidFill>
            <a:srgbClr val="F5F6F8"/>
          </a:solidFill>
          <a:ln w="12700">
            <a:solidFill>
              <a:srgbClr val="E7E9EE"/>
            </a:solidFill>
            <a:prstDash val="solid"/>
          </a:ln>
        </p:spPr>
      </p:sp>
      <p:sp>
        <p:nvSpPr>
          <p:cNvPr id="16" name="Text 13"/>
          <p:cNvSpPr/>
          <p:nvPr/>
        </p:nvSpPr>
        <p:spPr>
          <a:xfrm>
            <a:off x="2980944"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A</a:t>
            </a:r>
            <a:endParaRPr lang="en-US" sz="1600" dirty="0"/>
          </a:p>
        </p:txBody>
      </p:sp>
      <p:sp>
        <p:nvSpPr>
          <p:cNvPr id="17" name="Shape 14"/>
          <p:cNvSpPr/>
          <p:nvPr/>
        </p:nvSpPr>
        <p:spPr>
          <a:xfrm>
            <a:off x="3566160" y="1572768"/>
            <a:ext cx="475488" cy="475488"/>
          </a:xfrm>
          <a:prstGeom prst="roundRect">
            <a:avLst>
              <a:gd name="adj" fmla="val 19231"/>
            </a:avLst>
          </a:prstGeom>
          <a:solidFill>
            <a:srgbClr val="F5F6F8"/>
          </a:solidFill>
          <a:ln w="12700">
            <a:solidFill>
              <a:srgbClr val="E7E9EE"/>
            </a:solidFill>
            <a:prstDash val="solid"/>
          </a:ln>
        </p:spPr>
      </p:sp>
      <p:sp>
        <p:nvSpPr>
          <p:cNvPr id="18" name="Text 15"/>
          <p:cNvSpPr/>
          <p:nvPr/>
        </p:nvSpPr>
        <p:spPr>
          <a:xfrm>
            <a:off x="3566160"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R</a:t>
            </a:r>
            <a:endParaRPr lang="en-US" sz="1600" dirty="0"/>
          </a:p>
        </p:txBody>
      </p:sp>
      <p:sp>
        <p:nvSpPr>
          <p:cNvPr id="19" name="Text 16"/>
          <p:cNvSpPr/>
          <p:nvPr/>
        </p:nvSpPr>
        <p:spPr>
          <a:xfrm>
            <a:off x="4288536" y="1572768"/>
            <a:ext cx="4114800" cy="475488"/>
          </a:xfrm>
          <a:prstGeom prst="rect">
            <a:avLst/>
          </a:prstGeom>
          <a:noFill/>
          <a:ln/>
        </p:spPr>
        <p:txBody>
          <a:bodyPr wrap="square" lIns="0" tIns="0" rIns="0" bIns="0" rtlCol="0" anchor="ctr"/>
          <a:lstStyle/>
          <a:p>
            <a:pPr indent="0" marL="0">
              <a:buNone/>
            </a:pPr>
            <a:r>
              <a:rPr lang="en-US" sz="1100" i="1" dirty="0">
                <a:solidFill>
                  <a:srgbClr val="5E6A78"/>
                </a:solidFill>
                <a:latin typeface="Arial" pitchFamily="34" charset="0"/>
                <a:ea typeface="Arial" pitchFamily="34" charset="-122"/>
                <a:cs typeface="Arial" pitchFamily="34" charset="-120"/>
              </a:rPr>
              <a:t>Each element joins the prompt →</a:t>
            </a:r>
            <a:endParaRPr lang="en-US" sz="1100" dirty="0"/>
          </a:p>
        </p:txBody>
      </p:sp>
      <p:sp>
        <p:nvSpPr>
          <p:cNvPr id="20" name="Shape 17"/>
          <p:cNvSpPr/>
          <p:nvPr/>
        </p:nvSpPr>
        <p:spPr>
          <a:xfrm>
            <a:off x="640080" y="2286000"/>
            <a:ext cx="5120640" cy="3840480"/>
          </a:xfrm>
          <a:prstGeom prst="roundRect">
            <a:avLst>
              <a:gd name="adj" fmla="val 2143"/>
            </a:avLst>
          </a:prstGeom>
          <a:solidFill>
            <a:srgbClr val="F5F6F8"/>
          </a:solidFill>
          <a:ln w="12700">
            <a:solidFill>
              <a:srgbClr val="E7E9EE"/>
            </a:solidFill>
            <a:prstDash val="solid"/>
          </a:ln>
        </p:spPr>
      </p:sp>
      <p:sp>
        <p:nvSpPr>
          <p:cNvPr id="21" name="Shape 18"/>
          <p:cNvSpPr/>
          <p:nvPr/>
        </p:nvSpPr>
        <p:spPr>
          <a:xfrm>
            <a:off x="914400" y="2560320"/>
            <a:ext cx="548640" cy="548640"/>
          </a:xfrm>
          <a:prstGeom prst="roundRect">
            <a:avLst>
              <a:gd name="adj" fmla="val 16667"/>
            </a:avLst>
          </a:prstGeom>
          <a:solidFill>
            <a:srgbClr val="D31242"/>
          </a:solidFill>
          <a:ln/>
        </p:spPr>
      </p:sp>
      <p:sp>
        <p:nvSpPr>
          <p:cNvPr id="22" name="Text 19"/>
          <p:cNvSpPr/>
          <p:nvPr/>
        </p:nvSpPr>
        <p:spPr>
          <a:xfrm>
            <a:off x="914400" y="2560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3" name="Text 20"/>
          <p:cNvSpPr/>
          <p:nvPr/>
        </p:nvSpPr>
        <p:spPr>
          <a:xfrm>
            <a:off x="1600200" y="2560320"/>
            <a:ext cx="393192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Context</a:t>
            </a:r>
            <a:endParaRPr lang="en-US" sz="2000" dirty="0"/>
          </a:p>
        </p:txBody>
      </p:sp>
      <p:sp>
        <p:nvSpPr>
          <p:cNvPr id="24" name="Text 21"/>
          <p:cNvSpPr/>
          <p:nvPr/>
        </p:nvSpPr>
        <p:spPr>
          <a:xfrm>
            <a:off x="914400" y="3337560"/>
            <a:ext cx="4572000" cy="1463040"/>
          </a:xfrm>
          <a:prstGeom prst="rect">
            <a:avLst/>
          </a:prstGeom>
          <a:noFill/>
          <a:ln/>
        </p:spPr>
        <p:txBody>
          <a:bodyPr wrap="square" lIns="0" tIns="0" rIns="0" bIns="0" rtlCol="0" anchor="t"/>
          <a:lstStyle/>
          <a:p>
            <a:pPr indent="0" marL="0">
              <a:lnSpc>
                <a:spcPct val="120000"/>
              </a:lnSpc>
              <a:buNone/>
            </a:pPr>
            <a:r>
              <a:rPr lang="en-US" sz="1300" dirty="0">
                <a:solidFill>
                  <a:srgbClr val="3A4452"/>
                </a:solidFill>
                <a:latin typeface="Arial" pitchFamily="34" charset="0"/>
                <a:ea typeface="Arial" pitchFamily="34" charset="-122"/>
                <a:cs typeface="Arial" pitchFamily="34" charset="-120"/>
              </a:rPr>
              <a:t>The background only you have — the situation, the material, the time period. It cannot know this unless you say it.</a:t>
            </a:r>
            <a:endParaRPr lang="en-US" sz="1300" dirty="0"/>
          </a:p>
        </p:txBody>
      </p:sp>
      <p:sp>
        <p:nvSpPr>
          <p:cNvPr id="25" name="Text 22"/>
          <p:cNvSpPr/>
          <p:nvPr/>
        </p:nvSpPr>
        <p:spPr>
          <a:xfrm>
            <a:off x="914400" y="5349240"/>
            <a:ext cx="4572000" cy="502920"/>
          </a:xfrm>
          <a:prstGeom prst="rect">
            <a:avLst/>
          </a:prstGeom>
          <a:noFill/>
          <a:ln/>
        </p:spPr>
        <p:txBody>
          <a:bodyPr wrap="square" lIns="0" tIns="0" rIns="0" bIns="0" rtlCol="0" anchor="t"/>
          <a:lstStyle/>
          <a:p>
            <a:pPr indent="0" marL="0">
              <a:buNone/>
            </a:pPr>
            <a:r>
              <a:rPr lang="en-US" sz="1200" b="1" dirty="0">
                <a:solidFill>
                  <a:srgbClr val="B91C1C"/>
                </a:solidFill>
                <a:latin typeface="Arial" pitchFamily="34" charset="0"/>
                <a:ea typeface="Arial" pitchFamily="34" charset="-122"/>
                <a:cs typeface="Arial" pitchFamily="34" charset="-120"/>
              </a:rPr>
              <a:t>✗  </a:t>
            </a:r>
            <a:pPr indent="0" marL="0">
              <a:buNone/>
            </a:pPr>
            <a:r>
              <a:rPr lang="en-US" sz="1200" i="1" dirty="0">
                <a:solidFill>
                  <a:srgbClr val="5E6A78"/>
                </a:solidFill>
                <a:latin typeface="Arial" pitchFamily="34" charset="0"/>
                <a:ea typeface="Arial" pitchFamily="34" charset="-122"/>
                <a:cs typeface="Arial" pitchFamily="34" charset="-120"/>
              </a:rPr>
              <a:t>“Analyze this.”</a:t>
            </a:r>
            <a:endParaRPr lang="en-US" sz="1200" dirty="0"/>
          </a:p>
        </p:txBody>
      </p:sp>
      <p:sp>
        <p:nvSpPr>
          <p:cNvPr id="26" name="Shape 23"/>
          <p:cNvSpPr/>
          <p:nvPr/>
        </p:nvSpPr>
        <p:spPr>
          <a:xfrm>
            <a:off x="5989320" y="2286000"/>
            <a:ext cx="5559552" cy="3840480"/>
          </a:xfrm>
          <a:prstGeom prst="roundRect">
            <a:avLst>
              <a:gd name="adj" fmla="val 2143"/>
            </a:avLst>
          </a:prstGeom>
          <a:solidFill>
            <a:srgbClr val="DCFCE7"/>
          </a:solidFill>
          <a:ln/>
        </p:spPr>
      </p:sp>
      <p:sp>
        <p:nvSpPr>
          <p:cNvPr id="27" name="Text 24"/>
          <p:cNvSpPr/>
          <p:nvPr/>
        </p:nvSpPr>
        <p:spPr>
          <a:xfrm>
            <a:off x="6263640" y="2523744"/>
            <a:ext cx="502920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SO FAR</a:t>
            </a:r>
            <a:endParaRPr lang="en-US" sz="1100" dirty="0"/>
          </a:p>
        </p:txBody>
      </p:sp>
      <p:sp>
        <p:nvSpPr>
          <p:cNvPr id="28" name="Text 25"/>
          <p:cNvSpPr/>
          <p:nvPr/>
        </p:nvSpPr>
        <p:spPr>
          <a:xfrm>
            <a:off x="6263640" y="2871216"/>
            <a:ext cx="5029200" cy="3017520"/>
          </a:xfrm>
          <a:prstGeom prst="rect">
            <a:avLst/>
          </a:prstGeom>
          <a:noFill/>
          <a:ln/>
        </p:spPr>
        <p:txBody>
          <a:bodyPr wrap="square" lIns="0" tIns="0" rIns="0" bIns="0" rtlCol="0" anchor="t"/>
          <a:lstStyle/>
          <a:p>
            <a:pPr indent="0" marL="0">
              <a:lnSpc>
                <a:spcPct val="125000"/>
              </a:lnSpc>
              <a:buNone/>
            </a:pPr>
            <a:r>
              <a:rPr lang="en-US" sz="1300" b="1" dirty="0">
                <a:solidFill>
                  <a:srgbClr val="15803D"/>
                </a:solidFill>
                <a:latin typeface="Arial" pitchFamily="34" charset="0"/>
                <a:ea typeface="Arial" pitchFamily="34" charset="-122"/>
                <a:cs typeface="Arial" pitchFamily="34" charset="-120"/>
              </a:rPr>
              <a:t>You are reviewing 30 anonymized comments from last weekend's club survey.</a:t>
            </a:r>
            <a:endParaRPr lang="en-US" sz="1300" dirty="0"/>
          </a:p>
        </p:txBody>
      </p:sp>
      <p:sp>
        <p:nvSpPr>
          <p:cNvPr id="29" name="Text 2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COMPOSING 1/5</a:t>
            </a:r>
            <a:endParaRPr lang="en-US" sz="850" dirty="0"/>
          </a:p>
        </p:txBody>
      </p:sp>
      <p:sp>
        <p:nvSpPr>
          <p:cNvPr id="30" name="Text 2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Building the prompt — element by element</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572768"/>
            <a:ext cx="475488" cy="475488"/>
          </a:xfrm>
          <a:prstGeom prst="roundRect">
            <a:avLst>
              <a:gd name="adj" fmla="val 19231"/>
            </a:avLst>
          </a:prstGeom>
          <a:solidFill>
            <a:srgbClr val="D31242"/>
          </a:solidFill>
          <a:ln/>
        </p:spPr>
      </p:sp>
      <p:sp>
        <p:nvSpPr>
          <p:cNvPr id="8" name="Text 5"/>
          <p:cNvSpPr/>
          <p:nvPr/>
        </p:nvSpPr>
        <p:spPr>
          <a:xfrm>
            <a:off x="64008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9" name="Shape 6"/>
          <p:cNvSpPr/>
          <p:nvPr/>
        </p:nvSpPr>
        <p:spPr>
          <a:xfrm>
            <a:off x="1225296" y="1572768"/>
            <a:ext cx="475488" cy="475488"/>
          </a:xfrm>
          <a:prstGeom prst="roundRect">
            <a:avLst>
              <a:gd name="adj" fmla="val 19231"/>
            </a:avLst>
          </a:prstGeom>
          <a:solidFill>
            <a:srgbClr val="D31242"/>
          </a:solidFill>
          <a:ln/>
        </p:spPr>
      </p:sp>
      <p:sp>
        <p:nvSpPr>
          <p:cNvPr id="10" name="Text 7"/>
          <p:cNvSpPr/>
          <p:nvPr/>
        </p:nvSpPr>
        <p:spPr>
          <a:xfrm>
            <a:off x="1225296"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a:t>
            </a:r>
            <a:endParaRPr lang="en-US" sz="1600" dirty="0"/>
          </a:p>
        </p:txBody>
      </p:sp>
      <p:sp>
        <p:nvSpPr>
          <p:cNvPr id="11" name="Shape 8"/>
          <p:cNvSpPr/>
          <p:nvPr/>
        </p:nvSpPr>
        <p:spPr>
          <a:xfrm>
            <a:off x="1810512" y="1572768"/>
            <a:ext cx="475488" cy="475488"/>
          </a:xfrm>
          <a:prstGeom prst="roundRect">
            <a:avLst>
              <a:gd name="adj" fmla="val 19231"/>
            </a:avLst>
          </a:prstGeom>
          <a:solidFill>
            <a:srgbClr val="F5F6F8"/>
          </a:solidFill>
          <a:ln w="12700">
            <a:solidFill>
              <a:srgbClr val="E7E9EE"/>
            </a:solidFill>
            <a:prstDash val="solid"/>
          </a:ln>
        </p:spPr>
      </p:sp>
      <p:sp>
        <p:nvSpPr>
          <p:cNvPr id="12" name="Text 9"/>
          <p:cNvSpPr/>
          <p:nvPr/>
        </p:nvSpPr>
        <p:spPr>
          <a:xfrm>
            <a:off x="1810512"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S</a:t>
            </a:r>
            <a:endParaRPr lang="en-US" sz="1600" dirty="0"/>
          </a:p>
        </p:txBody>
      </p:sp>
      <p:sp>
        <p:nvSpPr>
          <p:cNvPr id="13" name="Shape 10"/>
          <p:cNvSpPr/>
          <p:nvPr/>
        </p:nvSpPr>
        <p:spPr>
          <a:xfrm>
            <a:off x="2395728" y="1572768"/>
            <a:ext cx="475488" cy="475488"/>
          </a:xfrm>
          <a:prstGeom prst="roundRect">
            <a:avLst>
              <a:gd name="adj" fmla="val 19231"/>
            </a:avLst>
          </a:prstGeom>
          <a:solidFill>
            <a:srgbClr val="F5F6F8"/>
          </a:solidFill>
          <a:ln w="12700">
            <a:solidFill>
              <a:srgbClr val="E7E9EE"/>
            </a:solidFill>
            <a:prstDash val="solid"/>
          </a:ln>
        </p:spPr>
      </p:sp>
      <p:sp>
        <p:nvSpPr>
          <p:cNvPr id="14" name="Text 11"/>
          <p:cNvSpPr/>
          <p:nvPr/>
        </p:nvSpPr>
        <p:spPr>
          <a:xfrm>
            <a:off x="2395728"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T</a:t>
            </a:r>
            <a:endParaRPr lang="en-US" sz="1600" dirty="0"/>
          </a:p>
        </p:txBody>
      </p:sp>
      <p:sp>
        <p:nvSpPr>
          <p:cNvPr id="15" name="Shape 12"/>
          <p:cNvSpPr/>
          <p:nvPr/>
        </p:nvSpPr>
        <p:spPr>
          <a:xfrm>
            <a:off x="2980944" y="1572768"/>
            <a:ext cx="475488" cy="475488"/>
          </a:xfrm>
          <a:prstGeom prst="roundRect">
            <a:avLst>
              <a:gd name="adj" fmla="val 19231"/>
            </a:avLst>
          </a:prstGeom>
          <a:solidFill>
            <a:srgbClr val="F5F6F8"/>
          </a:solidFill>
          <a:ln w="12700">
            <a:solidFill>
              <a:srgbClr val="E7E9EE"/>
            </a:solidFill>
            <a:prstDash val="solid"/>
          </a:ln>
        </p:spPr>
      </p:sp>
      <p:sp>
        <p:nvSpPr>
          <p:cNvPr id="16" name="Text 13"/>
          <p:cNvSpPr/>
          <p:nvPr/>
        </p:nvSpPr>
        <p:spPr>
          <a:xfrm>
            <a:off x="2980944"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A</a:t>
            </a:r>
            <a:endParaRPr lang="en-US" sz="1600" dirty="0"/>
          </a:p>
        </p:txBody>
      </p:sp>
      <p:sp>
        <p:nvSpPr>
          <p:cNvPr id="17" name="Shape 14"/>
          <p:cNvSpPr/>
          <p:nvPr/>
        </p:nvSpPr>
        <p:spPr>
          <a:xfrm>
            <a:off x="3566160" y="1572768"/>
            <a:ext cx="475488" cy="475488"/>
          </a:xfrm>
          <a:prstGeom prst="roundRect">
            <a:avLst>
              <a:gd name="adj" fmla="val 19231"/>
            </a:avLst>
          </a:prstGeom>
          <a:solidFill>
            <a:srgbClr val="F5F6F8"/>
          </a:solidFill>
          <a:ln w="12700">
            <a:solidFill>
              <a:srgbClr val="E7E9EE"/>
            </a:solidFill>
            <a:prstDash val="solid"/>
          </a:ln>
        </p:spPr>
      </p:sp>
      <p:sp>
        <p:nvSpPr>
          <p:cNvPr id="18" name="Text 15"/>
          <p:cNvSpPr/>
          <p:nvPr/>
        </p:nvSpPr>
        <p:spPr>
          <a:xfrm>
            <a:off x="3566160"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R</a:t>
            </a:r>
            <a:endParaRPr lang="en-US" sz="1600" dirty="0"/>
          </a:p>
        </p:txBody>
      </p:sp>
      <p:sp>
        <p:nvSpPr>
          <p:cNvPr id="19" name="Text 16"/>
          <p:cNvSpPr/>
          <p:nvPr/>
        </p:nvSpPr>
        <p:spPr>
          <a:xfrm>
            <a:off x="4288536" y="1572768"/>
            <a:ext cx="4114800" cy="475488"/>
          </a:xfrm>
          <a:prstGeom prst="rect">
            <a:avLst/>
          </a:prstGeom>
          <a:noFill/>
          <a:ln/>
        </p:spPr>
        <p:txBody>
          <a:bodyPr wrap="square" lIns="0" tIns="0" rIns="0" bIns="0" rtlCol="0" anchor="ctr"/>
          <a:lstStyle/>
          <a:p>
            <a:pPr indent="0" marL="0">
              <a:buNone/>
            </a:pPr>
            <a:r>
              <a:rPr lang="en-US" sz="1100" i="1" dirty="0">
                <a:solidFill>
                  <a:srgbClr val="5E6A78"/>
                </a:solidFill>
                <a:latin typeface="Arial" pitchFamily="34" charset="0"/>
                <a:ea typeface="Arial" pitchFamily="34" charset="-122"/>
                <a:cs typeface="Arial" pitchFamily="34" charset="-120"/>
              </a:rPr>
              <a:t>Each element joins the prompt →</a:t>
            </a:r>
            <a:endParaRPr lang="en-US" sz="1100" dirty="0"/>
          </a:p>
        </p:txBody>
      </p:sp>
      <p:sp>
        <p:nvSpPr>
          <p:cNvPr id="20" name="Shape 17"/>
          <p:cNvSpPr/>
          <p:nvPr/>
        </p:nvSpPr>
        <p:spPr>
          <a:xfrm>
            <a:off x="640080" y="2286000"/>
            <a:ext cx="5120640" cy="3840480"/>
          </a:xfrm>
          <a:prstGeom prst="roundRect">
            <a:avLst>
              <a:gd name="adj" fmla="val 2143"/>
            </a:avLst>
          </a:prstGeom>
          <a:solidFill>
            <a:srgbClr val="F5F6F8"/>
          </a:solidFill>
          <a:ln w="12700">
            <a:solidFill>
              <a:srgbClr val="E7E9EE"/>
            </a:solidFill>
            <a:prstDash val="solid"/>
          </a:ln>
        </p:spPr>
      </p:sp>
      <p:sp>
        <p:nvSpPr>
          <p:cNvPr id="21" name="Shape 18"/>
          <p:cNvSpPr/>
          <p:nvPr/>
        </p:nvSpPr>
        <p:spPr>
          <a:xfrm>
            <a:off x="914400" y="2560320"/>
            <a:ext cx="548640" cy="548640"/>
          </a:xfrm>
          <a:prstGeom prst="roundRect">
            <a:avLst>
              <a:gd name="adj" fmla="val 16667"/>
            </a:avLst>
          </a:prstGeom>
          <a:solidFill>
            <a:srgbClr val="D31242"/>
          </a:solidFill>
          <a:ln/>
        </p:spPr>
      </p:sp>
      <p:sp>
        <p:nvSpPr>
          <p:cNvPr id="22" name="Text 19"/>
          <p:cNvSpPr/>
          <p:nvPr/>
        </p:nvSpPr>
        <p:spPr>
          <a:xfrm>
            <a:off x="914400" y="2560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a:t>
            </a:r>
            <a:endParaRPr lang="en-US" sz="1600" dirty="0"/>
          </a:p>
        </p:txBody>
      </p:sp>
      <p:sp>
        <p:nvSpPr>
          <p:cNvPr id="23" name="Text 20"/>
          <p:cNvSpPr/>
          <p:nvPr/>
        </p:nvSpPr>
        <p:spPr>
          <a:xfrm>
            <a:off x="1600200" y="2560320"/>
            <a:ext cx="393192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Objective</a:t>
            </a:r>
            <a:endParaRPr lang="en-US" sz="2000" dirty="0"/>
          </a:p>
        </p:txBody>
      </p:sp>
      <p:sp>
        <p:nvSpPr>
          <p:cNvPr id="24" name="Text 21"/>
          <p:cNvSpPr/>
          <p:nvPr/>
        </p:nvSpPr>
        <p:spPr>
          <a:xfrm>
            <a:off x="914400" y="3337560"/>
            <a:ext cx="4572000" cy="1463040"/>
          </a:xfrm>
          <a:prstGeom prst="rect">
            <a:avLst/>
          </a:prstGeom>
          <a:noFill/>
          <a:ln/>
        </p:spPr>
        <p:txBody>
          <a:bodyPr wrap="square" lIns="0" tIns="0" rIns="0" bIns="0" rtlCol="0" anchor="t"/>
          <a:lstStyle/>
          <a:p>
            <a:pPr indent="0" marL="0">
              <a:lnSpc>
                <a:spcPct val="120000"/>
              </a:lnSpc>
              <a:buNone/>
            </a:pPr>
            <a:r>
              <a:rPr lang="en-US" sz="1300" dirty="0">
                <a:solidFill>
                  <a:srgbClr val="3A4452"/>
                </a:solidFill>
                <a:latin typeface="Arial" pitchFamily="34" charset="0"/>
                <a:ea typeface="Arial" pitchFamily="34" charset="-122"/>
                <a:cs typeface="Arial" pitchFamily="34" charset="-120"/>
              </a:rPr>
              <a:t>State the task as an action: summarize, compare, classify, prioritize, extract. Unnamed, the model picks one for you.</a:t>
            </a:r>
            <a:endParaRPr lang="en-US" sz="1300" dirty="0"/>
          </a:p>
        </p:txBody>
      </p:sp>
      <p:sp>
        <p:nvSpPr>
          <p:cNvPr id="25" name="Text 22"/>
          <p:cNvSpPr/>
          <p:nvPr/>
        </p:nvSpPr>
        <p:spPr>
          <a:xfrm>
            <a:off x="914400" y="5349240"/>
            <a:ext cx="4572000" cy="502920"/>
          </a:xfrm>
          <a:prstGeom prst="rect">
            <a:avLst/>
          </a:prstGeom>
          <a:noFill/>
          <a:ln/>
        </p:spPr>
        <p:txBody>
          <a:bodyPr wrap="square" lIns="0" tIns="0" rIns="0" bIns="0" rtlCol="0" anchor="t"/>
          <a:lstStyle/>
          <a:p>
            <a:pPr indent="0" marL="0">
              <a:buNone/>
            </a:pPr>
            <a:r>
              <a:rPr lang="en-US" sz="1200" b="1" dirty="0">
                <a:solidFill>
                  <a:srgbClr val="B91C1C"/>
                </a:solidFill>
                <a:latin typeface="Arial" pitchFamily="34" charset="0"/>
                <a:ea typeface="Arial" pitchFamily="34" charset="-122"/>
                <a:cs typeface="Arial" pitchFamily="34" charset="-120"/>
              </a:rPr>
              <a:t>✗  </a:t>
            </a:r>
            <a:pPr indent="0" marL="0">
              <a:buNone/>
            </a:pPr>
            <a:r>
              <a:rPr lang="en-US" sz="1200" i="1" dirty="0">
                <a:solidFill>
                  <a:srgbClr val="5E6A78"/>
                </a:solidFill>
                <a:latin typeface="Arial" pitchFamily="34" charset="0"/>
                <a:ea typeface="Arial" pitchFamily="34" charset="-122"/>
                <a:cs typeface="Arial" pitchFamily="34" charset="-120"/>
              </a:rPr>
              <a:t>“Help me with this feedback.”</a:t>
            </a:r>
            <a:endParaRPr lang="en-US" sz="1200" dirty="0"/>
          </a:p>
        </p:txBody>
      </p:sp>
      <p:sp>
        <p:nvSpPr>
          <p:cNvPr id="26" name="Shape 23"/>
          <p:cNvSpPr/>
          <p:nvPr/>
        </p:nvSpPr>
        <p:spPr>
          <a:xfrm>
            <a:off x="5989320" y="2286000"/>
            <a:ext cx="5559552" cy="3840480"/>
          </a:xfrm>
          <a:prstGeom prst="roundRect">
            <a:avLst>
              <a:gd name="adj" fmla="val 2143"/>
            </a:avLst>
          </a:prstGeom>
          <a:solidFill>
            <a:srgbClr val="DCFCE7"/>
          </a:solidFill>
          <a:ln/>
        </p:spPr>
      </p:sp>
      <p:sp>
        <p:nvSpPr>
          <p:cNvPr id="27" name="Text 24"/>
          <p:cNvSpPr/>
          <p:nvPr/>
        </p:nvSpPr>
        <p:spPr>
          <a:xfrm>
            <a:off x="6263640" y="2523744"/>
            <a:ext cx="502920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SO FAR</a:t>
            </a:r>
            <a:endParaRPr lang="en-US" sz="1100" dirty="0"/>
          </a:p>
        </p:txBody>
      </p:sp>
      <p:sp>
        <p:nvSpPr>
          <p:cNvPr id="28" name="Text 25"/>
          <p:cNvSpPr/>
          <p:nvPr/>
        </p:nvSpPr>
        <p:spPr>
          <a:xfrm>
            <a:off x="6263640" y="2871216"/>
            <a:ext cx="5029200" cy="3017520"/>
          </a:xfrm>
          <a:prstGeom prst="rect">
            <a:avLst/>
          </a:prstGeom>
          <a:noFill/>
          <a:ln/>
        </p:spPr>
        <p:txBody>
          <a:bodyPr wrap="square" lIns="0" tIns="0" rIns="0" bIns="0" rtlCol="0" anchor="t"/>
          <a:lstStyle/>
          <a:p>
            <a:pPr indent="0" marL="0">
              <a:lnSpc>
                <a:spcPct val="125000"/>
              </a:lnSpc>
              <a:buNone/>
            </a:pPr>
            <a:r>
              <a:rPr lang="en-US" sz="1300" dirty="0">
                <a:solidFill>
                  <a:srgbClr val="1F2733"/>
                </a:solidFill>
                <a:latin typeface="Arial" pitchFamily="34" charset="0"/>
                <a:ea typeface="Arial" pitchFamily="34" charset="-122"/>
                <a:cs typeface="Arial" pitchFamily="34" charset="-120"/>
              </a:rPr>
              <a:t>You are reviewing 30 anonymized comments from last weekend's club survey. </a:t>
            </a:r>
            <a:pPr indent="0" marL="0">
              <a:lnSpc>
                <a:spcPct val="125000"/>
              </a:lnSpc>
              <a:buNone/>
            </a:pPr>
            <a:r>
              <a:rPr lang="en-US" sz="1300" b="1" dirty="0">
                <a:solidFill>
                  <a:srgbClr val="15803D"/>
                </a:solidFill>
                <a:latin typeface="Arial" pitchFamily="34" charset="0"/>
                <a:ea typeface="Arial" pitchFamily="34" charset="-122"/>
                <a:cs typeface="Arial" pitchFamily="34" charset="-120"/>
              </a:rPr>
              <a:t>Group the comments into themes and count each.</a:t>
            </a:r>
            <a:endParaRPr lang="en-US" sz="1300" dirty="0"/>
          </a:p>
        </p:txBody>
      </p:sp>
      <p:sp>
        <p:nvSpPr>
          <p:cNvPr id="29" name="Text 2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COMPOSING 2/5</a:t>
            </a:r>
            <a:endParaRPr lang="en-US" sz="850" dirty="0"/>
          </a:p>
        </p:txBody>
      </p:sp>
      <p:sp>
        <p:nvSpPr>
          <p:cNvPr id="30" name="Text 2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Building the prompt — element by element</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572768"/>
            <a:ext cx="475488" cy="475488"/>
          </a:xfrm>
          <a:prstGeom prst="roundRect">
            <a:avLst>
              <a:gd name="adj" fmla="val 19231"/>
            </a:avLst>
          </a:prstGeom>
          <a:solidFill>
            <a:srgbClr val="D31242"/>
          </a:solidFill>
          <a:ln/>
        </p:spPr>
      </p:sp>
      <p:sp>
        <p:nvSpPr>
          <p:cNvPr id="8" name="Text 5"/>
          <p:cNvSpPr/>
          <p:nvPr/>
        </p:nvSpPr>
        <p:spPr>
          <a:xfrm>
            <a:off x="64008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9" name="Shape 6"/>
          <p:cNvSpPr/>
          <p:nvPr/>
        </p:nvSpPr>
        <p:spPr>
          <a:xfrm>
            <a:off x="1225296" y="1572768"/>
            <a:ext cx="475488" cy="475488"/>
          </a:xfrm>
          <a:prstGeom prst="roundRect">
            <a:avLst>
              <a:gd name="adj" fmla="val 19231"/>
            </a:avLst>
          </a:prstGeom>
          <a:solidFill>
            <a:srgbClr val="D31242"/>
          </a:solidFill>
          <a:ln/>
        </p:spPr>
      </p:sp>
      <p:sp>
        <p:nvSpPr>
          <p:cNvPr id="10" name="Text 7"/>
          <p:cNvSpPr/>
          <p:nvPr/>
        </p:nvSpPr>
        <p:spPr>
          <a:xfrm>
            <a:off x="1225296"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a:t>
            </a:r>
            <a:endParaRPr lang="en-US" sz="1600" dirty="0"/>
          </a:p>
        </p:txBody>
      </p:sp>
      <p:sp>
        <p:nvSpPr>
          <p:cNvPr id="11" name="Shape 8"/>
          <p:cNvSpPr/>
          <p:nvPr/>
        </p:nvSpPr>
        <p:spPr>
          <a:xfrm>
            <a:off x="1810512" y="1572768"/>
            <a:ext cx="475488" cy="475488"/>
          </a:xfrm>
          <a:prstGeom prst="roundRect">
            <a:avLst>
              <a:gd name="adj" fmla="val 19231"/>
            </a:avLst>
          </a:prstGeom>
          <a:solidFill>
            <a:srgbClr val="F5F6F8"/>
          </a:solidFill>
          <a:ln w="12700">
            <a:solidFill>
              <a:srgbClr val="E7E9EE"/>
            </a:solidFill>
            <a:prstDash val="solid"/>
          </a:ln>
        </p:spPr>
      </p:sp>
      <p:sp>
        <p:nvSpPr>
          <p:cNvPr id="12" name="Text 9"/>
          <p:cNvSpPr/>
          <p:nvPr/>
        </p:nvSpPr>
        <p:spPr>
          <a:xfrm>
            <a:off x="1810512"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S</a:t>
            </a:r>
            <a:endParaRPr lang="en-US" sz="1600" dirty="0"/>
          </a:p>
        </p:txBody>
      </p:sp>
      <p:sp>
        <p:nvSpPr>
          <p:cNvPr id="13" name="Shape 10"/>
          <p:cNvSpPr/>
          <p:nvPr/>
        </p:nvSpPr>
        <p:spPr>
          <a:xfrm>
            <a:off x="2395728" y="1572768"/>
            <a:ext cx="475488" cy="475488"/>
          </a:xfrm>
          <a:prstGeom prst="roundRect">
            <a:avLst>
              <a:gd name="adj" fmla="val 19231"/>
            </a:avLst>
          </a:prstGeom>
          <a:solidFill>
            <a:srgbClr val="F5F6F8"/>
          </a:solidFill>
          <a:ln w="12700">
            <a:solidFill>
              <a:srgbClr val="E7E9EE"/>
            </a:solidFill>
            <a:prstDash val="solid"/>
          </a:ln>
        </p:spPr>
      </p:sp>
      <p:sp>
        <p:nvSpPr>
          <p:cNvPr id="14" name="Text 11"/>
          <p:cNvSpPr/>
          <p:nvPr/>
        </p:nvSpPr>
        <p:spPr>
          <a:xfrm>
            <a:off x="2395728"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T</a:t>
            </a:r>
            <a:endParaRPr lang="en-US" sz="1600" dirty="0"/>
          </a:p>
        </p:txBody>
      </p:sp>
      <p:sp>
        <p:nvSpPr>
          <p:cNvPr id="15" name="Shape 12"/>
          <p:cNvSpPr/>
          <p:nvPr/>
        </p:nvSpPr>
        <p:spPr>
          <a:xfrm>
            <a:off x="2980944" y="1572768"/>
            <a:ext cx="475488" cy="475488"/>
          </a:xfrm>
          <a:prstGeom prst="roundRect">
            <a:avLst>
              <a:gd name="adj" fmla="val 19231"/>
            </a:avLst>
          </a:prstGeom>
          <a:solidFill>
            <a:srgbClr val="D31242"/>
          </a:solidFill>
          <a:ln/>
        </p:spPr>
      </p:sp>
      <p:sp>
        <p:nvSpPr>
          <p:cNvPr id="16" name="Text 13"/>
          <p:cNvSpPr/>
          <p:nvPr/>
        </p:nvSpPr>
        <p:spPr>
          <a:xfrm>
            <a:off x="2980944"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7" name="Shape 14"/>
          <p:cNvSpPr/>
          <p:nvPr/>
        </p:nvSpPr>
        <p:spPr>
          <a:xfrm>
            <a:off x="3566160" y="1572768"/>
            <a:ext cx="475488" cy="475488"/>
          </a:xfrm>
          <a:prstGeom prst="roundRect">
            <a:avLst>
              <a:gd name="adj" fmla="val 19231"/>
            </a:avLst>
          </a:prstGeom>
          <a:solidFill>
            <a:srgbClr val="F5F6F8"/>
          </a:solidFill>
          <a:ln w="12700">
            <a:solidFill>
              <a:srgbClr val="E7E9EE"/>
            </a:solidFill>
            <a:prstDash val="solid"/>
          </a:ln>
        </p:spPr>
      </p:sp>
      <p:sp>
        <p:nvSpPr>
          <p:cNvPr id="18" name="Text 15"/>
          <p:cNvSpPr/>
          <p:nvPr/>
        </p:nvSpPr>
        <p:spPr>
          <a:xfrm>
            <a:off x="3566160"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R</a:t>
            </a:r>
            <a:endParaRPr lang="en-US" sz="1600" dirty="0"/>
          </a:p>
        </p:txBody>
      </p:sp>
      <p:sp>
        <p:nvSpPr>
          <p:cNvPr id="19" name="Text 16"/>
          <p:cNvSpPr/>
          <p:nvPr/>
        </p:nvSpPr>
        <p:spPr>
          <a:xfrm>
            <a:off x="4288536" y="1572768"/>
            <a:ext cx="4114800" cy="475488"/>
          </a:xfrm>
          <a:prstGeom prst="rect">
            <a:avLst/>
          </a:prstGeom>
          <a:noFill/>
          <a:ln/>
        </p:spPr>
        <p:txBody>
          <a:bodyPr wrap="square" lIns="0" tIns="0" rIns="0" bIns="0" rtlCol="0" anchor="ctr"/>
          <a:lstStyle/>
          <a:p>
            <a:pPr indent="0" marL="0">
              <a:buNone/>
            </a:pPr>
            <a:r>
              <a:rPr lang="en-US" sz="1100" i="1" dirty="0">
                <a:solidFill>
                  <a:srgbClr val="5E6A78"/>
                </a:solidFill>
                <a:latin typeface="Arial" pitchFamily="34" charset="0"/>
                <a:ea typeface="Arial" pitchFamily="34" charset="-122"/>
                <a:cs typeface="Arial" pitchFamily="34" charset="-120"/>
              </a:rPr>
              <a:t>Each element joins the prompt →</a:t>
            </a:r>
            <a:endParaRPr lang="en-US" sz="1100" dirty="0"/>
          </a:p>
        </p:txBody>
      </p:sp>
      <p:sp>
        <p:nvSpPr>
          <p:cNvPr id="20" name="Shape 17"/>
          <p:cNvSpPr/>
          <p:nvPr/>
        </p:nvSpPr>
        <p:spPr>
          <a:xfrm>
            <a:off x="640080" y="2286000"/>
            <a:ext cx="5120640" cy="3840480"/>
          </a:xfrm>
          <a:prstGeom prst="roundRect">
            <a:avLst>
              <a:gd name="adj" fmla="val 2143"/>
            </a:avLst>
          </a:prstGeom>
          <a:solidFill>
            <a:srgbClr val="F5F6F8"/>
          </a:solidFill>
          <a:ln w="12700">
            <a:solidFill>
              <a:srgbClr val="E7E9EE"/>
            </a:solidFill>
            <a:prstDash val="solid"/>
          </a:ln>
        </p:spPr>
      </p:sp>
      <p:sp>
        <p:nvSpPr>
          <p:cNvPr id="21" name="Shape 18"/>
          <p:cNvSpPr/>
          <p:nvPr/>
        </p:nvSpPr>
        <p:spPr>
          <a:xfrm>
            <a:off x="914400" y="2560320"/>
            <a:ext cx="548640" cy="548640"/>
          </a:xfrm>
          <a:prstGeom prst="roundRect">
            <a:avLst>
              <a:gd name="adj" fmla="val 16667"/>
            </a:avLst>
          </a:prstGeom>
          <a:solidFill>
            <a:srgbClr val="D31242"/>
          </a:solidFill>
          <a:ln/>
        </p:spPr>
      </p:sp>
      <p:sp>
        <p:nvSpPr>
          <p:cNvPr id="22" name="Text 19"/>
          <p:cNvSpPr/>
          <p:nvPr/>
        </p:nvSpPr>
        <p:spPr>
          <a:xfrm>
            <a:off x="914400" y="2560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23" name="Text 20"/>
          <p:cNvSpPr/>
          <p:nvPr/>
        </p:nvSpPr>
        <p:spPr>
          <a:xfrm>
            <a:off x="1600200" y="2560320"/>
            <a:ext cx="393192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Audience</a:t>
            </a:r>
            <a:endParaRPr lang="en-US" sz="2000" dirty="0"/>
          </a:p>
        </p:txBody>
      </p:sp>
      <p:sp>
        <p:nvSpPr>
          <p:cNvPr id="24" name="Text 21"/>
          <p:cNvSpPr/>
          <p:nvPr/>
        </p:nvSpPr>
        <p:spPr>
          <a:xfrm>
            <a:off x="914400" y="3337560"/>
            <a:ext cx="4572000" cy="1463040"/>
          </a:xfrm>
          <a:prstGeom prst="rect">
            <a:avLst/>
          </a:prstGeom>
          <a:noFill/>
          <a:ln/>
        </p:spPr>
        <p:txBody>
          <a:bodyPr wrap="square" lIns="0" tIns="0" rIns="0" bIns="0" rtlCol="0" anchor="t"/>
          <a:lstStyle/>
          <a:p>
            <a:pPr indent="0" marL="0">
              <a:lnSpc>
                <a:spcPct val="120000"/>
              </a:lnSpc>
              <a:buNone/>
            </a:pPr>
            <a:r>
              <a:rPr lang="en-US" sz="1300" dirty="0">
                <a:solidFill>
                  <a:srgbClr val="3A4452"/>
                </a:solidFill>
                <a:latin typeface="Arial" pitchFamily="34" charset="0"/>
                <a:ea typeface="Arial" pitchFamily="34" charset="-122"/>
                <a:cs typeface="Arial" pitchFamily="34" charset="-120"/>
              </a:rPr>
              <a:t>Name who will use the answer — it quietly decides style, tone, depth and length. The highest-leverage single sentence.</a:t>
            </a:r>
            <a:endParaRPr lang="en-US" sz="1300" dirty="0"/>
          </a:p>
        </p:txBody>
      </p:sp>
      <p:sp>
        <p:nvSpPr>
          <p:cNvPr id="25" name="Text 22"/>
          <p:cNvSpPr/>
          <p:nvPr/>
        </p:nvSpPr>
        <p:spPr>
          <a:xfrm>
            <a:off x="914400" y="5349240"/>
            <a:ext cx="4572000" cy="502920"/>
          </a:xfrm>
          <a:prstGeom prst="rect">
            <a:avLst/>
          </a:prstGeom>
          <a:noFill/>
          <a:ln/>
        </p:spPr>
        <p:txBody>
          <a:bodyPr wrap="square" lIns="0" tIns="0" rIns="0" bIns="0" rtlCol="0" anchor="t"/>
          <a:lstStyle/>
          <a:p>
            <a:pPr indent="0" marL="0">
              <a:buNone/>
            </a:pPr>
            <a:r>
              <a:rPr lang="en-US" sz="1200" b="1" dirty="0">
                <a:solidFill>
                  <a:srgbClr val="B91C1C"/>
                </a:solidFill>
                <a:latin typeface="Arial" pitchFamily="34" charset="0"/>
                <a:ea typeface="Arial" pitchFamily="34" charset="-122"/>
                <a:cs typeface="Arial" pitchFamily="34" charset="-120"/>
              </a:rPr>
              <a:t>✗  </a:t>
            </a:r>
            <a:pPr indent="0" marL="0">
              <a:buNone/>
            </a:pPr>
            <a:r>
              <a:rPr lang="en-US" sz="1200" i="1" dirty="0">
                <a:solidFill>
                  <a:srgbClr val="5E6A78"/>
                </a:solidFill>
                <a:latin typeface="Arial" pitchFamily="34" charset="0"/>
                <a:ea typeface="Arial" pitchFamily="34" charset="-122"/>
                <a:cs typeface="Arial" pitchFamily="34" charset="-120"/>
              </a:rPr>
              <a:t>(no reader named)</a:t>
            </a:r>
            <a:endParaRPr lang="en-US" sz="1200" dirty="0"/>
          </a:p>
        </p:txBody>
      </p:sp>
      <p:sp>
        <p:nvSpPr>
          <p:cNvPr id="26" name="Shape 23"/>
          <p:cNvSpPr/>
          <p:nvPr/>
        </p:nvSpPr>
        <p:spPr>
          <a:xfrm>
            <a:off x="5989320" y="2286000"/>
            <a:ext cx="5559552" cy="3840480"/>
          </a:xfrm>
          <a:prstGeom prst="roundRect">
            <a:avLst>
              <a:gd name="adj" fmla="val 2143"/>
            </a:avLst>
          </a:prstGeom>
          <a:solidFill>
            <a:srgbClr val="DCFCE7"/>
          </a:solidFill>
          <a:ln/>
        </p:spPr>
      </p:sp>
      <p:sp>
        <p:nvSpPr>
          <p:cNvPr id="27" name="Text 24"/>
          <p:cNvSpPr/>
          <p:nvPr/>
        </p:nvSpPr>
        <p:spPr>
          <a:xfrm>
            <a:off x="6263640" y="2523744"/>
            <a:ext cx="502920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SO FAR</a:t>
            </a:r>
            <a:endParaRPr lang="en-US" sz="1100" dirty="0"/>
          </a:p>
        </p:txBody>
      </p:sp>
      <p:sp>
        <p:nvSpPr>
          <p:cNvPr id="28" name="Text 25"/>
          <p:cNvSpPr/>
          <p:nvPr/>
        </p:nvSpPr>
        <p:spPr>
          <a:xfrm>
            <a:off x="6263640" y="2871216"/>
            <a:ext cx="5029200" cy="3017520"/>
          </a:xfrm>
          <a:prstGeom prst="rect">
            <a:avLst/>
          </a:prstGeom>
          <a:noFill/>
          <a:ln/>
        </p:spPr>
        <p:txBody>
          <a:bodyPr wrap="square" lIns="0" tIns="0" rIns="0" bIns="0" rtlCol="0" anchor="t"/>
          <a:lstStyle/>
          <a:p>
            <a:pPr indent="0" marL="0">
              <a:lnSpc>
                <a:spcPct val="125000"/>
              </a:lnSpc>
              <a:buNone/>
            </a:pPr>
            <a:r>
              <a:rPr lang="en-US" sz="1300" dirty="0">
                <a:solidFill>
                  <a:srgbClr val="1F2733"/>
                </a:solidFill>
                <a:latin typeface="Arial" pitchFamily="34" charset="0"/>
                <a:ea typeface="Arial" pitchFamily="34" charset="-122"/>
                <a:cs typeface="Arial" pitchFamily="34" charset="-120"/>
              </a:rPr>
              <a:t>You are reviewing 30 anonymized comments from last weekend's club survey.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Group the comments into themes and count each. </a:t>
            </a:r>
            <a:pPr indent="0" marL="0">
              <a:lnSpc>
                <a:spcPct val="125000"/>
              </a:lnSpc>
              <a:buNone/>
            </a:pPr>
            <a:r>
              <a:rPr lang="en-US" sz="1300" b="1" dirty="0">
                <a:solidFill>
                  <a:srgbClr val="15803D"/>
                </a:solidFill>
                <a:latin typeface="Arial" pitchFamily="34" charset="0"/>
                <a:ea typeface="Arial" pitchFamily="34" charset="-122"/>
                <a:cs typeface="Arial" pitchFamily="34" charset="-120"/>
              </a:rPr>
              <a:t>Write for a busy club manager.</a:t>
            </a:r>
            <a:endParaRPr lang="en-US" sz="1300" dirty="0"/>
          </a:p>
        </p:txBody>
      </p:sp>
      <p:sp>
        <p:nvSpPr>
          <p:cNvPr id="29" name="Text 2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COMPOSING 3/5</a:t>
            </a:r>
            <a:endParaRPr lang="en-US" sz="850" dirty="0"/>
          </a:p>
        </p:txBody>
      </p:sp>
      <p:sp>
        <p:nvSpPr>
          <p:cNvPr id="30" name="Text 2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Building the prompt — element by element</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572768"/>
            <a:ext cx="475488" cy="475488"/>
          </a:xfrm>
          <a:prstGeom prst="roundRect">
            <a:avLst>
              <a:gd name="adj" fmla="val 19231"/>
            </a:avLst>
          </a:prstGeom>
          <a:solidFill>
            <a:srgbClr val="D31242"/>
          </a:solidFill>
          <a:ln/>
        </p:spPr>
      </p:sp>
      <p:sp>
        <p:nvSpPr>
          <p:cNvPr id="8" name="Text 5"/>
          <p:cNvSpPr/>
          <p:nvPr/>
        </p:nvSpPr>
        <p:spPr>
          <a:xfrm>
            <a:off x="64008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9" name="Shape 6"/>
          <p:cNvSpPr/>
          <p:nvPr/>
        </p:nvSpPr>
        <p:spPr>
          <a:xfrm>
            <a:off x="1225296" y="1572768"/>
            <a:ext cx="475488" cy="475488"/>
          </a:xfrm>
          <a:prstGeom prst="roundRect">
            <a:avLst>
              <a:gd name="adj" fmla="val 19231"/>
            </a:avLst>
          </a:prstGeom>
          <a:solidFill>
            <a:srgbClr val="D31242"/>
          </a:solidFill>
          <a:ln/>
        </p:spPr>
      </p:sp>
      <p:sp>
        <p:nvSpPr>
          <p:cNvPr id="10" name="Text 7"/>
          <p:cNvSpPr/>
          <p:nvPr/>
        </p:nvSpPr>
        <p:spPr>
          <a:xfrm>
            <a:off x="1225296"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a:t>
            </a:r>
            <a:endParaRPr lang="en-US" sz="1600" dirty="0"/>
          </a:p>
        </p:txBody>
      </p:sp>
      <p:sp>
        <p:nvSpPr>
          <p:cNvPr id="11" name="Shape 8"/>
          <p:cNvSpPr/>
          <p:nvPr/>
        </p:nvSpPr>
        <p:spPr>
          <a:xfrm>
            <a:off x="1810512" y="1572768"/>
            <a:ext cx="475488" cy="475488"/>
          </a:xfrm>
          <a:prstGeom prst="roundRect">
            <a:avLst>
              <a:gd name="adj" fmla="val 19231"/>
            </a:avLst>
          </a:prstGeom>
          <a:solidFill>
            <a:srgbClr val="D31242"/>
          </a:solidFill>
          <a:ln/>
        </p:spPr>
      </p:sp>
      <p:sp>
        <p:nvSpPr>
          <p:cNvPr id="12" name="Text 9"/>
          <p:cNvSpPr/>
          <p:nvPr/>
        </p:nvSpPr>
        <p:spPr>
          <a:xfrm>
            <a:off x="1810512"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a:t>
            </a:r>
            <a:endParaRPr lang="en-US" sz="1600" dirty="0"/>
          </a:p>
        </p:txBody>
      </p:sp>
      <p:sp>
        <p:nvSpPr>
          <p:cNvPr id="13" name="Shape 10"/>
          <p:cNvSpPr/>
          <p:nvPr/>
        </p:nvSpPr>
        <p:spPr>
          <a:xfrm>
            <a:off x="2395728" y="1572768"/>
            <a:ext cx="475488" cy="475488"/>
          </a:xfrm>
          <a:prstGeom prst="roundRect">
            <a:avLst>
              <a:gd name="adj" fmla="val 19231"/>
            </a:avLst>
          </a:prstGeom>
          <a:solidFill>
            <a:srgbClr val="D31242"/>
          </a:solidFill>
          <a:ln/>
        </p:spPr>
      </p:sp>
      <p:sp>
        <p:nvSpPr>
          <p:cNvPr id="14" name="Text 11"/>
          <p:cNvSpPr/>
          <p:nvPr/>
        </p:nvSpPr>
        <p:spPr>
          <a:xfrm>
            <a:off x="2395728"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t>
            </a:r>
            <a:endParaRPr lang="en-US" sz="1600" dirty="0"/>
          </a:p>
        </p:txBody>
      </p:sp>
      <p:sp>
        <p:nvSpPr>
          <p:cNvPr id="15" name="Shape 12"/>
          <p:cNvSpPr/>
          <p:nvPr/>
        </p:nvSpPr>
        <p:spPr>
          <a:xfrm>
            <a:off x="2980944" y="1572768"/>
            <a:ext cx="475488" cy="475488"/>
          </a:xfrm>
          <a:prstGeom prst="roundRect">
            <a:avLst>
              <a:gd name="adj" fmla="val 19231"/>
            </a:avLst>
          </a:prstGeom>
          <a:solidFill>
            <a:srgbClr val="D31242"/>
          </a:solidFill>
          <a:ln/>
        </p:spPr>
      </p:sp>
      <p:sp>
        <p:nvSpPr>
          <p:cNvPr id="16" name="Text 13"/>
          <p:cNvSpPr/>
          <p:nvPr/>
        </p:nvSpPr>
        <p:spPr>
          <a:xfrm>
            <a:off x="2980944"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7" name="Shape 14"/>
          <p:cNvSpPr/>
          <p:nvPr/>
        </p:nvSpPr>
        <p:spPr>
          <a:xfrm>
            <a:off x="3566160" y="1572768"/>
            <a:ext cx="475488" cy="475488"/>
          </a:xfrm>
          <a:prstGeom prst="roundRect">
            <a:avLst>
              <a:gd name="adj" fmla="val 19231"/>
            </a:avLst>
          </a:prstGeom>
          <a:solidFill>
            <a:srgbClr val="F5F6F8"/>
          </a:solidFill>
          <a:ln w="12700">
            <a:solidFill>
              <a:srgbClr val="E7E9EE"/>
            </a:solidFill>
            <a:prstDash val="solid"/>
          </a:ln>
        </p:spPr>
      </p:sp>
      <p:sp>
        <p:nvSpPr>
          <p:cNvPr id="18" name="Text 15"/>
          <p:cNvSpPr/>
          <p:nvPr/>
        </p:nvSpPr>
        <p:spPr>
          <a:xfrm>
            <a:off x="3566160" y="1572768"/>
            <a:ext cx="475488" cy="475488"/>
          </a:xfrm>
          <a:prstGeom prst="rect">
            <a:avLst/>
          </a:prstGeom>
          <a:noFill/>
          <a:ln/>
        </p:spPr>
        <p:txBody>
          <a:bodyPr wrap="square" lIns="0" tIns="0" rIns="0" bIns="0" rtlCol="0" anchor="ctr"/>
          <a:lstStyle/>
          <a:p>
            <a:pPr algn="ctr" indent="0" marL="0">
              <a:buNone/>
            </a:pPr>
            <a:r>
              <a:rPr lang="en-US" sz="1600" b="1" dirty="0">
                <a:solidFill>
                  <a:srgbClr val="8A93A0"/>
                </a:solidFill>
                <a:latin typeface="Arial" pitchFamily="34" charset="0"/>
                <a:ea typeface="Arial" pitchFamily="34" charset="-122"/>
                <a:cs typeface="Arial" pitchFamily="34" charset="-120"/>
              </a:rPr>
              <a:t>R</a:t>
            </a:r>
            <a:endParaRPr lang="en-US" sz="1600" dirty="0"/>
          </a:p>
        </p:txBody>
      </p:sp>
      <p:sp>
        <p:nvSpPr>
          <p:cNvPr id="19" name="Text 16"/>
          <p:cNvSpPr/>
          <p:nvPr/>
        </p:nvSpPr>
        <p:spPr>
          <a:xfrm>
            <a:off x="4288536" y="1572768"/>
            <a:ext cx="4114800" cy="475488"/>
          </a:xfrm>
          <a:prstGeom prst="rect">
            <a:avLst/>
          </a:prstGeom>
          <a:noFill/>
          <a:ln/>
        </p:spPr>
        <p:txBody>
          <a:bodyPr wrap="square" lIns="0" tIns="0" rIns="0" bIns="0" rtlCol="0" anchor="ctr"/>
          <a:lstStyle/>
          <a:p>
            <a:pPr indent="0" marL="0">
              <a:buNone/>
            </a:pPr>
            <a:r>
              <a:rPr lang="en-US" sz="1100" i="1" dirty="0">
                <a:solidFill>
                  <a:srgbClr val="5E6A78"/>
                </a:solidFill>
                <a:latin typeface="Arial" pitchFamily="34" charset="0"/>
                <a:ea typeface="Arial" pitchFamily="34" charset="-122"/>
                <a:cs typeface="Arial" pitchFamily="34" charset="-120"/>
              </a:rPr>
              <a:t>Each element joins the prompt →</a:t>
            </a:r>
            <a:endParaRPr lang="en-US" sz="1100" dirty="0"/>
          </a:p>
        </p:txBody>
      </p:sp>
      <p:sp>
        <p:nvSpPr>
          <p:cNvPr id="20" name="Shape 17"/>
          <p:cNvSpPr/>
          <p:nvPr/>
        </p:nvSpPr>
        <p:spPr>
          <a:xfrm>
            <a:off x="640080" y="2286000"/>
            <a:ext cx="5120640" cy="3840480"/>
          </a:xfrm>
          <a:prstGeom prst="roundRect">
            <a:avLst>
              <a:gd name="adj" fmla="val 2143"/>
            </a:avLst>
          </a:prstGeom>
          <a:solidFill>
            <a:srgbClr val="F5F6F8"/>
          </a:solidFill>
          <a:ln w="12700">
            <a:solidFill>
              <a:srgbClr val="E7E9EE"/>
            </a:solidFill>
            <a:prstDash val="solid"/>
          </a:ln>
        </p:spPr>
      </p:sp>
      <p:sp>
        <p:nvSpPr>
          <p:cNvPr id="21" name="Shape 18"/>
          <p:cNvSpPr/>
          <p:nvPr/>
        </p:nvSpPr>
        <p:spPr>
          <a:xfrm>
            <a:off x="914400" y="2560320"/>
            <a:ext cx="548640" cy="548640"/>
          </a:xfrm>
          <a:prstGeom prst="roundRect">
            <a:avLst>
              <a:gd name="adj" fmla="val 16667"/>
            </a:avLst>
          </a:prstGeom>
          <a:solidFill>
            <a:srgbClr val="D31242"/>
          </a:solidFill>
          <a:ln/>
        </p:spPr>
      </p:sp>
      <p:sp>
        <p:nvSpPr>
          <p:cNvPr id="22" name="Text 19"/>
          <p:cNvSpPr/>
          <p:nvPr/>
        </p:nvSpPr>
        <p:spPr>
          <a:xfrm>
            <a:off x="914400" y="2560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t>
            </a:r>
            <a:endParaRPr lang="en-US" sz="1600" dirty="0"/>
          </a:p>
        </p:txBody>
      </p:sp>
      <p:sp>
        <p:nvSpPr>
          <p:cNvPr id="23" name="Text 20"/>
          <p:cNvSpPr/>
          <p:nvPr/>
        </p:nvSpPr>
        <p:spPr>
          <a:xfrm>
            <a:off x="1600200" y="2560320"/>
            <a:ext cx="393192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Style &amp; Tone</a:t>
            </a:r>
            <a:endParaRPr lang="en-US" sz="2000" dirty="0"/>
          </a:p>
        </p:txBody>
      </p:sp>
      <p:sp>
        <p:nvSpPr>
          <p:cNvPr id="24" name="Text 21"/>
          <p:cNvSpPr/>
          <p:nvPr/>
        </p:nvSpPr>
        <p:spPr>
          <a:xfrm>
            <a:off x="914400" y="3337560"/>
            <a:ext cx="4572000" cy="1463040"/>
          </a:xfrm>
          <a:prstGeom prst="rect">
            <a:avLst/>
          </a:prstGeom>
          <a:noFill/>
          <a:ln/>
        </p:spPr>
        <p:txBody>
          <a:bodyPr wrap="square" lIns="0" tIns="0" rIns="0" bIns="0" rtlCol="0" anchor="t"/>
          <a:lstStyle/>
          <a:p>
            <a:pPr indent="0" marL="0">
              <a:lnSpc>
                <a:spcPct val="120000"/>
              </a:lnSpc>
              <a:buNone/>
            </a:pPr>
            <a:r>
              <a:rPr lang="en-US" sz="1300" dirty="0">
                <a:solidFill>
                  <a:srgbClr val="3A4452"/>
                </a:solidFill>
                <a:latin typeface="Arial" pitchFamily="34" charset="0"/>
                <a:ea typeface="Arial" pitchFamily="34" charset="-122"/>
                <a:cs typeface="Arial" pitchFamily="34" charset="-120"/>
              </a:rPr>
              <a:t>The shape (bullets, summary, table) and the voice (neutral, urgent). The audience you just named implies both — say it anyway.</a:t>
            </a:r>
            <a:endParaRPr lang="en-US" sz="1300" dirty="0"/>
          </a:p>
        </p:txBody>
      </p:sp>
      <p:sp>
        <p:nvSpPr>
          <p:cNvPr id="25" name="Text 22"/>
          <p:cNvSpPr/>
          <p:nvPr/>
        </p:nvSpPr>
        <p:spPr>
          <a:xfrm>
            <a:off x="914400" y="5349240"/>
            <a:ext cx="4572000" cy="502920"/>
          </a:xfrm>
          <a:prstGeom prst="rect">
            <a:avLst/>
          </a:prstGeom>
          <a:noFill/>
          <a:ln/>
        </p:spPr>
        <p:txBody>
          <a:bodyPr wrap="square" lIns="0" tIns="0" rIns="0" bIns="0" rtlCol="0" anchor="t"/>
          <a:lstStyle/>
          <a:p>
            <a:pPr indent="0" marL="0">
              <a:buNone/>
            </a:pPr>
            <a:r>
              <a:rPr lang="en-US" sz="1200" b="1" dirty="0">
                <a:solidFill>
                  <a:srgbClr val="B91C1C"/>
                </a:solidFill>
                <a:latin typeface="Arial" pitchFamily="34" charset="0"/>
                <a:ea typeface="Arial" pitchFamily="34" charset="-122"/>
                <a:cs typeface="Arial" pitchFamily="34" charset="-120"/>
              </a:rPr>
              <a:t>✗  </a:t>
            </a:r>
            <a:pPr indent="0" marL="0">
              <a:buNone/>
            </a:pPr>
            <a:r>
              <a:rPr lang="en-US" sz="1200" i="1" dirty="0">
                <a:solidFill>
                  <a:srgbClr val="5E6A78"/>
                </a:solidFill>
                <a:latin typeface="Arial" pitchFamily="34" charset="0"/>
                <a:ea typeface="Arial" pitchFamily="34" charset="-122"/>
                <a:cs typeface="Arial" pitchFamily="34" charset="-120"/>
              </a:rPr>
              <a:t>“Make it sound professional.”</a:t>
            </a:r>
            <a:endParaRPr lang="en-US" sz="1200" dirty="0"/>
          </a:p>
        </p:txBody>
      </p:sp>
      <p:sp>
        <p:nvSpPr>
          <p:cNvPr id="26" name="Shape 23"/>
          <p:cNvSpPr/>
          <p:nvPr/>
        </p:nvSpPr>
        <p:spPr>
          <a:xfrm>
            <a:off x="5989320" y="2286000"/>
            <a:ext cx="5559552" cy="3840480"/>
          </a:xfrm>
          <a:prstGeom prst="roundRect">
            <a:avLst>
              <a:gd name="adj" fmla="val 2143"/>
            </a:avLst>
          </a:prstGeom>
          <a:solidFill>
            <a:srgbClr val="DCFCE7"/>
          </a:solidFill>
          <a:ln/>
        </p:spPr>
      </p:sp>
      <p:sp>
        <p:nvSpPr>
          <p:cNvPr id="27" name="Text 24"/>
          <p:cNvSpPr/>
          <p:nvPr/>
        </p:nvSpPr>
        <p:spPr>
          <a:xfrm>
            <a:off x="6263640" y="2523744"/>
            <a:ext cx="502920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SO FAR</a:t>
            </a:r>
            <a:endParaRPr lang="en-US" sz="1100" dirty="0"/>
          </a:p>
        </p:txBody>
      </p:sp>
      <p:sp>
        <p:nvSpPr>
          <p:cNvPr id="28" name="Text 25"/>
          <p:cNvSpPr/>
          <p:nvPr/>
        </p:nvSpPr>
        <p:spPr>
          <a:xfrm>
            <a:off x="6263640" y="2871216"/>
            <a:ext cx="5029200" cy="3017520"/>
          </a:xfrm>
          <a:prstGeom prst="rect">
            <a:avLst/>
          </a:prstGeom>
          <a:noFill/>
          <a:ln/>
        </p:spPr>
        <p:txBody>
          <a:bodyPr wrap="square" lIns="0" tIns="0" rIns="0" bIns="0" rtlCol="0" anchor="t"/>
          <a:lstStyle/>
          <a:p>
            <a:pPr indent="0" marL="0">
              <a:lnSpc>
                <a:spcPct val="125000"/>
              </a:lnSpc>
              <a:buNone/>
            </a:pPr>
            <a:r>
              <a:rPr lang="en-US" sz="1300" dirty="0">
                <a:solidFill>
                  <a:srgbClr val="1F2733"/>
                </a:solidFill>
                <a:latin typeface="Arial" pitchFamily="34" charset="0"/>
                <a:ea typeface="Arial" pitchFamily="34" charset="-122"/>
                <a:cs typeface="Arial" pitchFamily="34" charset="-120"/>
              </a:rPr>
              <a:t>You are reviewing 30 anonymized comments from last weekend's club survey.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Group the comments into themes and count each.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Write for a busy club manager. </a:t>
            </a:r>
            <a:pPr indent="0" marL="0">
              <a:lnSpc>
                <a:spcPct val="125000"/>
              </a:lnSpc>
              <a:buNone/>
            </a:pPr>
            <a:r>
              <a:rPr lang="en-US" sz="1300" b="1" dirty="0">
                <a:solidFill>
                  <a:srgbClr val="15803D"/>
                </a:solidFill>
                <a:latin typeface="Arial" pitchFamily="34" charset="0"/>
                <a:ea typeface="Arial" pitchFamily="34" charset="-122"/>
                <a:cs typeface="Arial" pitchFamily="34" charset="-120"/>
              </a:rPr>
              <a:t>Keep it concise and neutral — no technical terms.</a:t>
            </a:r>
            <a:endParaRPr lang="en-US" sz="1300" dirty="0"/>
          </a:p>
        </p:txBody>
      </p:sp>
      <p:sp>
        <p:nvSpPr>
          <p:cNvPr id="29" name="Text 2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COMPOSING 4/5</a:t>
            </a:r>
            <a:endParaRPr lang="en-US" sz="850" dirty="0"/>
          </a:p>
        </p:txBody>
      </p:sp>
      <p:sp>
        <p:nvSpPr>
          <p:cNvPr id="30" name="Text 2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Building the prompt — element by element</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572768"/>
            <a:ext cx="475488" cy="475488"/>
          </a:xfrm>
          <a:prstGeom prst="roundRect">
            <a:avLst>
              <a:gd name="adj" fmla="val 19231"/>
            </a:avLst>
          </a:prstGeom>
          <a:solidFill>
            <a:srgbClr val="D31242"/>
          </a:solidFill>
          <a:ln/>
        </p:spPr>
      </p:sp>
      <p:sp>
        <p:nvSpPr>
          <p:cNvPr id="8" name="Text 5"/>
          <p:cNvSpPr/>
          <p:nvPr/>
        </p:nvSpPr>
        <p:spPr>
          <a:xfrm>
            <a:off x="64008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9" name="Shape 6"/>
          <p:cNvSpPr/>
          <p:nvPr/>
        </p:nvSpPr>
        <p:spPr>
          <a:xfrm>
            <a:off x="1225296" y="1572768"/>
            <a:ext cx="475488" cy="475488"/>
          </a:xfrm>
          <a:prstGeom prst="roundRect">
            <a:avLst>
              <a:gd name="adj" fmla="val 19231"/>
            </a:avLst>
          </a:prstGeom>
          <a:solidFill>
            <a:srgbClr val="D31242"/>
          </a:solidFill>
          <a:ln/>
        </p:spPr>
      </p:sp>
      <p:sp>
        <p:nvSpPr>
          <p:cNvPr id="10" name="Text 7"/>
          <p:cNvSpPr/>
          <p:nvPr/>
        </p:nvSpPr>
        <p:spPr>
          <a:xfrm>
            <a:off x="1225296"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a:t>
            </a:r>
            <a:endParaRPr lang="en-US" sz="1600" dirty="0"/>
          </a:p>
        </p:txBody>
      </p:sp>
      <p:sp>
        <p:nvSpPr>
          <p:cNvPr id="11" name="Shape 8"/>
          <p:cNvSpPr/>
          <p:nvPr/>
        </p:nvSpPr>
        <p:spPr>
          <a:xfrm>
            <a:off x="1810512" y="1572768"/>
            <a:ext cx="475488" cy="475488"/>
          </a:xfrm>
          <a:prstGeom prst="roundRect">
            <a:avLst>
              <a:gd name="adj" fmla="val 19231"/>
            </a:avLst>
          </a:prstGeom>
          <a:solidFill>
            <a:srgbClr val="D31242"/>
          </a:solidFill>
          <a:ln/>
        </p:spPr>
      </p:sp>
      <p:sp>
        <p:nvSpPr>
          <p:cNvPr id="12" name="Text 9"/>
          <p:cNvSpPr/>
          <p:nvPr/>
        </p:nvSpPr>
        <p:spPr>
          <a:xfrm>
            <a:off x="1810512"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a:t>
            </a:r>
            <a:endParaRPr lang="en-US" sz="1600" dirty="0"/>
          </a:p>
        </p:txBody>
      </p:sp>
      <p:sp>
        <p:nvSpPr>
          <p:cNvPr id="13" name="Shape 10"/>
          <p:cNvSpPr/>
          <p:nvPr/>
        </p:nvSpPr>
        <p:spPr>
          <a:xfrm>
            <a:off x="2395728" y="1572768"/>
            <a:ext cx="475488" cy="475488"/>
          </a:xfrm>
          <a:prstGeom prst="roundRect">
            <a:avLst>
              <a:gd name="adj" fmla="val 19231"/>
            </a:avLst>
          </a:prstGeom>
          <a:solidFill>
            <a:srgbClr val="D31242"/>
          </a:solidFill>
          <a:ln/>
        </p:spPr>
      </p:sp>
      <p:sp>
        <p:nvSpPr>
          <p:cNvPr id="14" name="Text 11"/>
          <p:cNvSpPr/>
          <p:nvPr/>
        </p:nvSpPr>
        <p:spPr>
          <a:xfrm>
            <a:off x="2395728"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t>
            </a:r>
            <a:endParaRPr lang="en-US" sz="1600" dirty="0"/>
          </a:p>
        </p:txBody>
      </p:sp>
      <p:sp>
        <p:nvSpPr>
          <p:cNvPr id="15" name="Shape 12"/>
          <p:cNvSpPr/>
          <p:nvPr/>
        </p:nvSpPr>
        <p:spPr>
          <a:xfrm>
            <a:off x="2980944" y="1572768"/>
            <a:ext cx="475488" cy="475488"/>
          </a:xfrm>
          <a:prstGeom prst="roundRect">
            <a:avLst>
              <a:gd name="adj" fmla="val 19231"/>
            </a:avLst>
          </a:prstGeom>
          <a:solidFill>
            <a:srgbClr val="D31242"/>
          </a:solidFill>
          <a:ln/>
        </p:spPr>
      </p:sp>
      <p:sp>
        <p:nvSpPr>
          <p:cNvPr id="16" name="Text 13"/>
          <p:cNvSpPr/>
          <p:nvPr/>
        </p:nvSpPr>
        <p:spPr>
          <a:xfrm>
            <a:off x="2980944"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7" name="Shape 14"/>
          <p:cNvSpPr/>
          <p:nvPr/>
        </p:nvSpPr>
        <p:spPr>
          <a:xfrm>
            <a:off x="3566160" y="1572768"/>
            <a:ext cx="475488" cy="475488"/>
          </a:xfrm>
          <a:prstGeom prst="roundRect">
            <a:avLst>
              <a:gd name="adj" fmla="val 19231"/>
            </a:avLst>
          </a:prstGeom>
          <a:solidFill>
            <a:srgbClr val="D31242"/>
          </a:solidFill>
          <a:ln/>
        </p:spPr>
      </p:sp>
      <p:sp>
        <p:nvSpPr>
          <p:cNvPr id="18" name="Text 15"/>
          <p:cNvSpPr/>
          <p:nvPr/>
        </p:nvSpPr>
        <p:spPr>
          <a:xfrm>
            <a:off x="3566160" y="15727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a:t>
            </a:r>
            <a:endParaRPr lang="en-US" sz="1600" dirty="0"/>
          </a:p>
        </p:txBody>
      </p:sp>
      <p:sp>
        <p:nvSpPr>
          <p:cNvPr id="19" name="Text 16"/>
          <p:cNvSpPr/>
          <p:nvPr/>
        </p:nvSpPr>
        <p:spPr>
          <a:xfrm>
            <a:off x="4288536" y="1572768"/>
            <a:ext cx="4114800" cy="475488"/>
          </a:xfrm>
          <a:prstGeom prst="rect">
            <a:avLst/>
          </a:prstGeom>
          <a:noFill/>
          <a:ln/>
        </p:spPr>
        <p:txBody>
          <a:bodyPr wrap="square" lIns="0" tIns="0" rIns="0" bIns="0" rtlCol="0" anchor="ctr"/>
          <a:lstStyle/>
          <a:p>
            <a:pPr indent="0" marL="0">
              <a:buNone/>
            </a:pPr>
            <a:r>
              <a:rPr lang="en-US" sz="1100" i="1" dirty="0">
                <a:solidFill>
                  <a:srgbClr val="5E6A78"/>
                </a:solidFill>
                <a:latin typeface="Arial" pitchFamily="34" charset="0"/>
                <a:ea typeface="Arial" pitchFamily="34" charset="-122"/>
                <a:cs typeface="Arial" pitchFamily="34" charset="-120"/>
              </a:rPr>
              <a:t>Each element joins the prompt →</a:t>
            </a:r>
            <a:endParaRPr lang="en-US" sz="1100" dirty="0"/>
          </a:p>
        </p:txBody>
      </p:sp>
      <p:sp>
        <p:nvSpPr>
          <p:cNvPr id="20" name="Shape 17"/>
          <p:cNvSpPr/>
          <p:nvPr/>
        </p:nvSpPr>
        <p:spPr>
          <a:xfrm>
            <a:off x="640080" y="2286000"/>
            <a:ext cx="5120640" cy="3840480"/>
          </a:xfrm>
          <a:prstGeom prst="roundRect">
            <a:avLst>
              <a:gd name="adj" fmla="val 2143"/>
            </a:avLst>
          </a:prstGeom>
          <a:solidFill>
            <a:srgbClr val="F5F6F8"/>
          </a:solidFill>
          <a:ln w="12700">
            <a:solidFill>
              <a:srgbClr val="E7E9EE"/>
            </a:solidFill>
            <a:prstDash val="solid"/>
          </a:ln>
        </p:spPr>
      </p:sp>
      <p:sp>
        <p:nvSpPr>
          <p:cNvPr id="21" name="Shape 18"/>
          <p:cNvSpPr/>
          <p:nvPr/>
        </p:nvSpPr>
        <p:spPr>
          <a:xfrm>
            <a:off x="914400" y="2560320"/>
            <a:ext cx="548640" cy="548640"/>
          </a:xfrm>
          <a:prstGeom prst="roundRect">
            <a:avLst>
              <a:gd name="adj" fmla="val 16667"/>
            </a:avLst>
          </a:prstGeom>
          <a:solidFill>
            <a:srgbClr val="D31242"/>
          </a:solidFill>
          <a:ln/>
        </p:spPr>
      </p:sp>
      <p:sp>
        <p:nvSpPr>
          <p:cNvPr id="22" name="Text 19"/>
          <p:cNvSpPr/>
          <p:nvPr/>
        </p:nvSpPr>
        <p:spPr>
          <a:xfrm>
            <a:off x="914400" y="2560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a:t>
            </a:r>
            <a:endParaRPr lang="en-US" sz="1600" dirty="0"/>
          </a:p>
        </p:txBody>
      </p:sp>
      <p:sp>
        <p:nvSpPr>
          <p:cNvPr id="23" name="Text 20"/>
          <p:cNvSpPr/>
          <p:nvPr/>
        </p:nvSpPr>
        <p:spPr>
          <a:xfrm>
            <a:off x="1600200" y="2560320"/>
            <a:ext cx="393192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Response</a:t>
            </a:r>
            <a:endParaRPr lang="en-US" sz="2000" dirty="0"/>
          </a:p>
        </p:txBody>
      </p:sp>
      <p:sp>
        <p:nvSpPr>
          <p:cNvPr id="24" name="Text 21"/>
          <p:cNvSpPr/>
          <p:nvPr/>
        </p:nvSpPr>
        <p:spPr>
          <a:xfrm>
            <a:off x="914400" y="3337560"/>
            <a:ext cx="4572000" cy="1463040"/>
          </a:xfrm>
          <a:prstGeom prst="rect">
            <a:avLst/>
          </a:prstGeom>
          <a:noFill/>
          <a:ln/>
        </p:spPr>
        <p:txBody>
          <a:bodyPr wrap="square" lIns="0" tIns="0" rIns="0" bIns="0" rtlCol="0" anchor="t"/>
          <a:lstStyle/>
          <a:p>
            <a:pPr indent="0" marL="0">
              <a:lnSpc>
                <a:spcPct val="120000"/>
              </a:lnSpc>
              <a:buNone/>
            </a:pPr>
            <a:r>
              <a:rPr lang="en-US" sz="1300" dirty="0">
                <a:solidFill>
                  <a:srgbClr val="3A4452"/>
                </a:solidFill>
                <a:latin typeface="Arial" pitchFamily="34" charset="0"/>
                <a:ea typeface="Arial" pitchFamily="34" charset="-122"/>
                <a:cs typeface="Arial" pitchFamily="34" charset="-120"/>
              </a:rPr>
              <a:t>The exact output: how many bullets, what each must include, what comes first. Everything here is checkable later.</a:t>
            </a:r>
            <a:endParaRPr lang="en-US" sz="1300" dirty="0"/>
          </a:p>
        </p:txBody>
      </p:sp>
      <p:sp>
        <p:nvSpPr>
          <p:cNvPr id="25" name="Text 22"/>
          <p:cNvSpPr/>
          <p:nvPr/>
        </p:nvSpPr>
        <p:spPr>
          <a:xfrm>
            <a:off x="914400" y="5349240"/>
            <a:ext cx="4572000" cy="502920"/>
          </a:xfrm>
          <a:prstGeom prst="rect">
            <a:avLst/>
          </a:prstGeom>
          <a:noFill/>
          <a:ln/>
        </p:spPr>
        <p:txBody>
          <a:bodyPr wrap="square" lIns="0" tIns="0" rIns="0" bIns="0" rtlCol="0" anchor="t"/>
          <a:lstStyle/>
          <a:p>
            <a:pPr indent="0" marL="0">
              <a:buNone/>
            </a:pPr>
            <a:r>
              <a:rPr lang="en-US" sz="1200" b="1" dirty="0">
                <a:solidFill>
                  <a:srgbClr val="B91C1C"/>
                </a:solidFill>
                <a:latin typeface="Arial" pitchFamily="34" charset="0"/>
                <a:ea typeface="Arial" pitchFamily="34" charset="-122"/>
                <a:cs typeface="Arial" pitchFamily="34" charset="-120"/>
              </a:rPr>
              <a:t>✗  </a:t>
            </a:r>
            <a:pPr indent="0" marL="0">
              <a:buNone/>
            </a:pPr>
            <a:r>
              <a:rPr lang="en-US" sz="1200" i="1" dirty="0">
                <a:solidFill>
                  <a:srgbClr val="5E6A78"/>
                </a:solidFill>
                <a:latin typeface="Arial" pitchFamily="34" charset="0"/>
                <a:ea typeface="Arial" pitchFamily="34" charset="-122"/>
                <a:cs typeface="Arial" pitchFamily="34" charset="-120"/>
              </a:rPr>
              <a:t>“Summarize the feedback.”</a:t>
            </a:r>
            <a:endParaRPr lang="en-US" sz="1200" dirty="0"/>
          </a:p>
        </p:txBody>
      </p:sp>
      <p:sp>
        <p:nvSpPr>
          <p:cNvPr id="26" name="Shape 23"/>
          <p:cNvSpPr/>
          <p:nvPr/>
        </p:nvSpPr>
        <p:spPr>
          <a:xfrm>
            <a:off x="5989320" y="2286000"/>
            <a:ext cx="5559552" cy="3840480"/>
          </a:xfrm>
          <a:prstGeom prst="roundRect">
            <a:avLst>
              <a:gd name="adj" fmla="val 2143"/>
            </a:avLst>
          </a:prstGeom>
          <a:solidFill>
            <a:srgbClr val="DCFCE7"/>
          </a:solidFill>
          <a:ln/>
        </p:spPr>
      </p:sp>
      <p:sp>
        <p:nvSpPr>
          <p:cNvPr id="27" name="Text 24"/>
          <p:cNvSpPr/>
          <p:nvPr/>
        </p:nvSpPr>
        <p:spPr>
          <a:xfrm>
            <a:off x="6263640" y="2523744"/>
            <a:ext cx="502920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SO FAR</a:t>
            </a:r>
            <a:endParaRPr lang="en-US" sz="1100" dirty="0"/>
          </a:p>
        </p:txBody>
      </p:sp>
      <p:sp>
        <p:nvSpPr>
          <p:cNvPr id="28" name="Text 25"/>
          <p:cNvSpPr/>
          <p:nvPr/>
        </p:nvSpPr>
        <p:spPr>
          <a:xfrm>
            <a:off x="6263640" y="2871216"/>
            <a:ext cx="5029200" cy="3017520"/>
          </a:xfrm>
          <a:prstGeom prst="rect">
            <a:avLst/>
          </a:prstGeom>
          <a:noFill/>
          <a:ln/>
        </p:spPr>
        <p:txBody>
          <a:bodyPr wrap="square" lIns="0" tIns="0" rIns="0" bIns="0" rtlCol="0" anchor="t"/>
          <a:lstStyle/>
          <a:p>
            <a:pPr indent="0" marL="0">
              <a:lnSpc>
                <a:spcPct val="125000"/>
              </a:lnSpc>
              <a:buNone/>
            </a:pPr>
            <a:r>
              <a:rPr lang="en-US" sz="1300" dirty="0">
                <a:solidFill>
                  <a:srgbClr val="1F2733"/>
                </a:solidFill>
                <a:latin typeface="Arial" pitchFamily="34" charset="0"/>
                <a:ea typeface="Arial" pitchFamily="34" charset="-122"/>
                <a:cs typeface="Arial" pitchFamily="34" charset="-120"/>
              </a:rPr>
              <a:t>You are reviewing 30 anonymized comments from last weekend's club survey.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Group the comments into themes and count each.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Write for a busy club manager. </a:t>
            </a:r>
            <a:pPr indent="0" marL="0">
              <a:lnSpc>
                <a:spcPct val="125000"/>
              </a:lnSpc>
              <a:buNone/>
            </a:pPr>
            <a:r>
              <a:rPr lang="en-US" sz="1300" dirty="0">
                <a:solidFill>
                  <a:srgbClr val="1F2733"/>
                </a:solidFill>
                <a:latin typeface="Arial" pitchFamily="34" charset="0"/>
                <a:ea typeface="Arial" pitchFamily="34" charset="-122"/>
                <a:cs typeface="Arial" pitchFamily="34" charset="-120"/>
              </a:rPr>
              <a:t>Keep it concise and neutral — no technical terms. </a:t>
            </a:r>
            <a:pPr indent="0" marL="0">
              <a:lnSpc>
                <a:spcPct val="125000"/>
              </a:lnSpc>
              <a:buNone/>
            </a:pPr>
            <a:r>
              <a:rPr lang="en-US" sz="1300" b="1" dirty="0">
                <a:solidFill>
                  <a:srgbClr val="15803D"/>
                </a:solidFill>
                <a:latin typeface="Arial" pitchFamily="34" charset="0"/>
                <a:ea typeface="Arial" pitchFamily="34" charset="-122"/>
                <a:cs typeface="Arial" pitchFamily="34" charset="-120"/>
              </a:rPr>
              <a:t>Return at most five bullets, and put any potential safety issue first.</a:t>
            </a:r>
            <a:endParaRPr lang="en-US" sz="1300" dirty="0"/>
          </a:p>
        </p:txBody>
      </p:sp>
      <p:sp>
        <p:nvSpPr>
          <p:cNvPr id="29" name="Text 2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COMPOSING 5/5</a:t>
            </a:r>
            <a:endParaRPr lang="en-US" sz="850" dirty="0"/>
          </a:p>
        </p:txBody>
      </p:sp>
      <p:sp>
        <p:nvSpPr>
          <p:cNvPr id="30" name="Text 2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THE PAYOFF</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Run it — the prompt you just built</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One canvas, six elements, one prompt — assembled click by click in front of you, plus one guard line at the end that the next stage unpacks. Same batch, same model; the only thing that changed is what you told it.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WHERE WE STARTED (SLIDE 6)</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this feedback.</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Members had mixed feedback about their visit — some positive comments and some complaints. Overall it was a fairly typical weekend.</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You gave it six words — no role, no reader, no shape to aim at. It hedged because guessing was all it could do.</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YOU BUILT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You are reviewing 30 anonymized comments from last weekend's club survey. Group the comments into themes and count each. Write for a busy club manager. Keep it concise and neutral — no technical terms. Return at most five bullets, and put any potential safety issue first. Do not infer facts not stated in the comments.</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Safety: gas pump 4 down — 1.</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waits — 12.</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Produce quality — 7.</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Fresh food — 5 (+).</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issues — 4.</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Each element handed over a fact only you knew — and the guard line closed the door on invented claims.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THE PAYOFF</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CHECKPOINT · QUICK CHECK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Which elements are missing?</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Two minutes, with a neighbour: check this prompt against CO-STAR before we move on.</a:t>
            </a:r>
            <a:endParaRPr lang="en-US" sz="1300" dirty="0"/>
          </a:p>
        </p:txBody>
      </p:sp>
      <p:sp>
        <p:nvSpPr>
          <p:cNvPr id="8" name="Shape 5"/>
          <p:cNvSpPr/>
          <p:nvPr/>
        </p:nvSpPr>
        <p:spPr>
          <a:xfrm>
            <a:off x="640080" y="1956816"/>
            <a:ext cx="5486400" cy="3108960"/>
          </a:xfrm>
          <a:prstGeom prst="roundRect">
            <a:avLst>
              <a:gd name="adj" fmla="val 2647"/>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PROMPT TO CHECK</a:t>
            </a:r>
            <a:endParaRPr lang="en-US" sz="1100" dirty="0"/>
          </a:p>
        </p:txBody>
      </p:sp>
      <p:sp>
        <p:nvSpPr>
          <p:cNvPr id="10" name="Text 7"/>
          <p:cNvSpPr/>
          <p:nvPr/>
        </p:nvSpPr>
        <p:spPr>
          <a:xfrm>
            <a:off x="914400" y="2523744"/>
            <a:ext cx="4937760" cy="731520"/>
          </a:xfrm>
          <a:prstGeom prst="rect">
            <a:avLst/>
          </a:prstGeom>
          <a:noFill/>
          <a:ln/>
        </p:spPr>
        <p:txBody>
          <a:bodyPr wrap="square" lIns="0" tIns="0" rIns="0" bIns="0" rtlCol="0" anchor="t"/>
          <a:lstStyle/>
          <a:p>
            <a:pPr indent="0" marL="0">
              <a:lnSpc>
                <a:spcPct val="115000"/>
              </a:lnSpc>
              <a:buNone/>
            </a:pPr>
            <a:r>
              <a:rPr lang="en-US" sz="1400" i="1" dirty="0">
                <a:solidFill>
                  <a:srgbClr val="FFFFFF"/>
                </a:solidFill>
                <a:latin typeface="Arial" pitchFamily="34" charset="0"/>
                <a:ea typeface="Arial" pitchFamily="34" charset="-122"/>
                <a:cs typeface="Arial" pitchFamily="34" charset="-120"/>
              </a:rPr>
              <a:t>“Write a short summary of the produce complaints for me.”</a:t>
            </a:r>
            <a:endParaRPr lang="en-US" sz="1400" dirty="0"/>
          </a:p>
        </p:txBody>
      </p:sp>
      <p:sp>
        <p:nvSpPr>
          <p:cNvPr id="11" name="Text 8"/>
          <p:cNvSpPr/>
          <p:nvPr/>
        </p:nvSpPr>
        <p:spPr>
          <a:xfrm>
            <a:off x="914400" y="4389120"/>
            <a:ext cx="4937760" cy="457200"/>
          </a:xfrm>
          <a:prstGeom prst="rect">
            <a:avLst/>
          </a:prstGeom>
          <a:noFill/>
          <a:ln/>
        </p:spPr>
        <p:txBody>
          <a:bodyPr wrap="square" lIns="0" tIns="0" rIns="0" bIns="0" rtlCol="0" anchor="t"/>
          <a:lstStyle/>
          <a:p>
            <a:pPr indent="0" marL="0">
              <a:buNone/>
            </a:pPr>
            <a:r>
              <a:rPr lang="en-US" sz="1200" b="1" dirty="0">
                <a:solidFill>
                  <a:srgbClr val="FCE4EA"/>
                </a:solidFill>
                <a:latin typeface="Arial" pitchFamily="34" charset="0"/>
                <a:ea typeface="Arial" pitchFamily="34" charset="-122"/>
                <a:cs typeface="Arial" pitchFamily="34" charset="-120"/>
              </a:rPr>
              <a:t>Go letter by letter: C? O? S? T? A? R?</a:t>
            </a:r>
            <a:endParaRPr lang="en-US" sz="1200" dirty="0"/>
          </a:p>
        </p:txBody>
      </p:sp>
      <p:sp>
        <p:nvSpPr>
          <p:cNvPr id="12" name="Shape 9"/>
          <p:cNvSpPr/>
          <p:nvPr/>
        </p:nvSpPr>
        <p:spPr>
          <a:xfrm>
            <a:off x="6355080" y="1956816"/>
            <a:ext cx="5193792" cy="3108960"/>
          </a:xfrm>
          <a:prstGeom prst="roundRect">
            <a:avLst>
              <a:gd name="adj" fmla="val 2647"/>
            </a:avLst>
          </a:prstGeom>
          <a:solidFill>
            <a:srgbClr val="F5F6F8"/>
          </a:solidFill>
          <a:ln w="12700">
            <a:solidFill>
              <a:srgbClr val="E7E9EE"/>
            </a:solidFill>
            <a:prstDash val="solid"/>
          </a:ln>
        </p:spPr>
      </p:sp>
      <p:sp>
        <p:nvSpPr>
          <p:cNvPr id="13" name="Text 10"/>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CHECK IT AGAINST CO-STAR</a:t>
            </a:r>
            <a:endParaRPr lang="en-US" sz="1100" dirty="0"/>
          </a:p>
        </p:txBody>
      </p:sp>
      <p:sp>
        <p:nvSpPr>
          <p:cNvPr id="14" name="Text 11"/>
          <p:cNvSpPr/>
          <p:nvPr/>
        </p:nvSpPr>
        <p:spPr>
          <a:xfrm>
            <a:off x="6629400" y="2505456"/>
            <a:ext cx="4663440" cy="2423160"/>
          </a:xfrm>
          <a:prstGeom prst="rect">
            <a:avLst/>
          </a:prstGeom>
          <a:noFill/>
          <a:ln/>
        </p:spPr>
        <p:txBody>
          <a:bodyPr wrap="square" lIns="0" tIns="0" rIns="0" bIns="0" rtlCol="0" anchor="t"/>
          <a:lstStyle/>
          <a:p>
            <a:pPr indent="0" marL="0">
              <a:lnSpc>
                <a:spcPct val="125000"/>
              </a:lnSpc>
              <a:buNone/>
            </a:pPr>
            <a:r>
              <a:rPr lang="en-US" sz="1150" b="1" dirty="0">
                <a:solidFill>
                  <a:srgbClr val="D31242"/>
                </a:solidFill>
                <a:latin typeface="Arial" pitchFamily="34" charset="0"/>
                <a:ea typeface="Arial" pitchFamily="34" charset="-122"/>
                <a:cs typeface="Arial" pitchFamily="34" charset="-120"/>
              </a:rPr>
              <a:t>C</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which comments? from when? how many?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O</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“summary” is an action… of what, for what decision?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S / T</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shape and voice unspecified.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A</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“for me”: who are you, and who reads it next?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R</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“short”: how short? bullets? what must it include?</a:t>
            </a:r>
            <a:endParaRPr lang="en-US" sz="1150" dirty="0"/>
          </a:p>
        </p:txBody>
      </p:sp>
      <p:sp>
        <p:nvSpPr>
          <p:cNvPr id="15" name="Shape 12"/>
          <p:cNvSpPr/>
          <p:nvPr/>
        </p:nvSpPr>
        <p:spPr>
          <a:xfrm>
            <a:off x="640080" y="5303520"/>
            <a:ext cx="10881360" cy="777240"/>
          </a:xfrm>
          <a:prstGeom prst="roundRect">
            <a:avLst>
              <a:gd name="adj" fmla="val 10588"/>
            </a:avLst>
          </a:prstGeom>
          <a:solidFill>
            <a:srgbClr val="DCFCE7"/>
          </a:solidFill>
          <a:ln/>
        </p:spPr>
      </p:sp>
      <p:sp>
        <p:nvSpPr>
          <p:cNvPr id="16" name="Text 13"/>
          <p:cNvSpPr/>
          <p:nvPr/>
        </p:nvSpPr>
        <p:spPr>
          <a:xfrm>
            <a:off x="914400" y="5303520"/>
            <a:ext cx="10332720" cy="777240"/>
          </a:xfrm>
          <a:prstGeom prst="rect">
            <a:avLst/>
          </a:prstGeom>
          <a:noFill/>
          <a:ln/>
        </p:spPr>
        <p:txBody>
          <a:bodyPr wrap="square" lIns="0" tIns="0" rIns="0" bIns="0" rtlCol="0" anchor="ctr"/>
          <a:lstStyle/>
          <a:p>
            <a:pPr indent="0" marL="0">
              <a:lnSpc>
                <a:spcPct val="110000"/>
              </a:lnSpc>
              <a:buNone/>
            </a:pPr>
            <a:r>
              <a:rPr lang="en-US" sz="1200" b="1" dirty="0">
                <a:solidFill>
                  <a:srgbClr val="15803D"/>
                </a:solidFill>
                <a:latin typeface="Arial" pitchFamily="34" charset="0"/>
                <a:ea typeface="Arial" pitchFamily="34" charset="-122"/>
                <a:cs typeface="Arial" pitchFamily="34" charset="-120"/>
              </a:rPr>
              <a:t>The takeaway: </a:t>
            </a:r>
            <a:pPr indent="0" marL="0">
              <a:lnSpc>
                <a:spcPct val="110000"/>
              </a:lnSpc>
              <a:buNone/>
            </a:pPr>
            <a:r>
              <a:rPr lang="en-US" sz="1200" dirty="0">
                <a:solidFill>
                  <a:srgbClr val="1F2733"/>
                </a:solidFill>
                <a:latin typeface="Arial" pitchFamily="34" charset="0"/>
                <a:ea typeface="Arial" pitchFamily="34" charset="-122"/>
                <a:cs typeface="Arial" pitchFamily="34" charset="-120"/>
              </a:rPr>
              <a:t>a prompt can look reasonable and still leave almost everything to guesswork. The checklist finds the gaps in seconds — that's why it's a checklist.</a:t>
            </a:r>
            <a:endParaRPr lang="en-US" sz="12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CHECKPOINT</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FIRST STEPS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prompt is built — now reality pushes back</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Messy input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Long walls of text blur your task into the material → label the parts.</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Missing facts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fills gaps with confident guesses → ground it in the source.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Format drift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Descriptions of a format get ignored → show an example.</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Judgment calls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can't guess your priorities → give decision criteria.</a:t>
            </a:r>
            <a:endParaRPr lang="en-US" sz="155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DIRECTING</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4" name="Text 17"/>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25" name="Text 18"/>
          <p:cNvSpPr/>
          <p:nvPr/>
        </p:nvSpPr>
        <p:spPr>
          <a:xfrm>
            <a:off x="640080" y="605332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Four situations, four moves — one slide each. This is the start of Directing; the Intermediate module goes deeper on every one.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SEPARATE TASK FROM MATERIAL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Label what's instruction and what's material</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the input is long or messy, your task can blur into the material — so label the parts. Plain headings work: TASK, REQUIREMENTS, COMMENTS, OUTPUT. The exact words matter less than the separation.</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ONE BIG BLOB</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Group these into themes and count them. waited 22 min at checkout… chicken always fresh… pump 4 down… (+25 more)</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Sure — you'd like me to group and count these. The first few mention checkout waits and the rotisserie chicken, which sound positive overall…</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With no boundary, your task and the comments blur into one wall of text — it can't tell orders from material.</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CLEARLY LABELLED</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TASK — group the comments into themes; count each.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REQUIREMENTS — flag safety concerns; do not infer what isn't stated.</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COMMENTS — (the 30 pasted here)</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OUTPUT — theme, count, example quote, suggested follow-up.</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1 — SAFETY — escalate today</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12 — 'only 3 lanes open' — staffing review</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quality — 7 — 'wilted spinach' — check rotation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4 — 'froze on the coupon' — report to IT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Fresh food — 5 (+) — 'always fresh' — share the win</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headings draw the line between orders and material — it parses cleanly; your review still owns correctness.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STRUCTURE</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GROUND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Only the source, quoted — or “not stated”</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accuracy beats fluency — vendor terms, policies, anything with numbers — hand it the real document and close every exit: answer only from this, quote the line, and say “not stated” rather than guess.</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FROM MEMORY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What are this vendor's delivery terms?</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Typically 3–5 business days, with free returns within 30 days.
</a:t>
            </a:r>
            <a:pPr indent="0" marL="0">
              <a:lnSpc>
                <a:spcPct val="112000"/>
              </a:lnSpc>
              <a:buNone/>
            </a:pPr>
            <a:r>
              <a:rPr lang="en-US" sz="1050" i="1" dirty="0">
                <a:solidFill>
                  <a:srgbClr val="B91C1C"/>
                </a:solidFill>
                <a:latin typeface="Arial" pitchFamily="34" charset="0"/>
                <a:ea typeface="Arial" pitchFamily="34" charset="-122"/>
                <a:cs typeface="Arial" pitchFamily="34" charset="-120"/>
              </a:rPr>
              <a:t>(None of this appears in the document.)</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Asked from memory, it fills the gaps with plausible patterns — fluent, confident, and never checked against anything.</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GROUNDED IN THE DOC</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Using only the vendor one-pager below, list the delivery terms. Quote the relevant line for each. If a term is missing, write 'not stated'.</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'Orders ship within 10 business days.'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'Freight billed at cost.'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Return window — not stated in the document.</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'Only the document, quote it, or say not stated' leaves nowhere to invent — and makes your review a two-minute check, not a hunt.</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GROUNDING</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SHOW AN 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When describing the format isn't enough</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 format is hard to describe — or consistency across many items matters — show one or two done right and say “match these.” It copies the pattern faithfully. It copies mistakes just as faithfully, so check your examples first.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TOLD IT — “format these neatly”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Format these comments neatly.</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was really slow saturday,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The rotisserie chicken is great,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froze when I clipped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4 down again, ugh.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wilted spinach and moldy berries in produce</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'Neatly' is a wish, not a format — with nothing to copy, it picked a different shape for every row.</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SHOWED IT — two examples first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Here are two comments classified correctly:</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Checkout waits — Negative — 'slow.'</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Rotisserie chicken — Positive — 'fresh.'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Apply the same structure to the remaining comments.</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Negative — 'only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Rotisserie chicken — Positive —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Negative — 'froze on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Negative — 'pump 4 down again.'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 Negative — 'wilted spinach, moldy berries.'</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Two finished rows define the format better than a paragraph of rules — it simply continued the pattern it could see.</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EXAMPLES</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GIVE DECISION CRITERIA</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Tell it what matters before it judges</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 task needs judgment — ranking, escalating, choosing — name the factors that count and ask for an evidence-based reason per call. Your priorities cannot be guessed; they have to be stated.</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NO CRITERIA</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Which three issues should we escalate?</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Checkout waits (most comments)
2. Produce quality
3. App issues
</a:t>
            </a:r>
            <a:pPr indent="0" marL="0">
              <a:lnSpc>
                <a:spcPct val="112000"/>
              </a:lnSpc>
              <a:buNone/>
            </a:pPr>
            <a:r>
              <a:rPr lang="en-US" sz="1050" i="1" dirty="0">
                <a:solidFill>
                  <a:srgbClr val="5E6A78"/>
                </a:solidFill>
                <a:latin typeface="Arial" pitchFamily="34" charset="0"/>
                <a:ea typeface="Arial" pitchFamily="34" charset="-122"/>
                <a:cs typeface="Arial" pitchFamily="34" charset="-120"/>
              </a:rPr>
              <a:t>(Picks the most-repeated. The gas pump — a safety issue mentioned once — doesn't make the list.)</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With no factors named, it fell back on the loudest signal — repetition — which is not the same as importance.</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CRITERIA STATED</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Rank the issues by: 1) safety risk, 2) members affected, 3) urgency, 4) effort to resolve. Give a one-sentence, evidence-based reason for each ranking.</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Gas pump 4 — safety risk; 'down again' suggests a repeat failure.</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2. Checkout waits — 12 members affected; staffing is actionable.</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3. App issues — 4 members; a ticket for IT.</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Your priorities entered the decision, and the evidence-based reasons let you check every ranking in seconds.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CRITERIA</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IMPROVE · REFINE, DON'T RESTART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Improve it in one follow-up</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Even a well-built prompt rarely lands perfectly first time. Don't start over — everything you built stays in the conversation. Name what's off, change exactly that, and keep the rest.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FIRST TRY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Summarise this week's feedback in a short note to the manager.</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This week saw complaints about checkout waits and produce, plus praise for the fresh food. A few app and gas-pump issues too.</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 first prompt rarely names everything you care about — you only see what's missing once you read an answer.</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ONE REFINEMENT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Good start. Convert it into five bullets and put the safety issue first.</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Safety: gas pump 4 down.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waits — top complaint.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Produce quality.</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issues.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Wins: fresh food.</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follow-up kept all the context you'd built and changed only what you named — far cheaper than starting over.</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REFINE</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IMPROVE · DIAGNOSE THE MISS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Name the problem, then fix that one thing</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847088"/>
            <a:ext cx="10881360" cy="548640"/>
          </a:xfrm>
          <a:prstGeom prst="roundRect">
            <a:avLst>
              <a:gd name="adj" fmla="val 15000"/>
            </a:avLst>
          </a:prstGeom>
          <a:solidFill>
            <a:srgbClr val="F5F6F8"/>
          </a:solidFill>
          <a:ln w="12700">
            <a:solidFill>
              <a:srgbClr val="E7E9EE"/>
            </a:solidFill>
            <a:prstDash val="solid"/>
          </a:ln>
        </p:spPr>
      </p:sp>
      <p:sp>
        <p:nvSpPr>
          <p:cNvPr id="8" name="Text 5"/>
          <p:cNvSpPr/>
          <p:nvPr/>
        </p:nvSpPr>
        <p:spPr>
          <a:xfrm>
            <a:off x="914400" y="1847088"/>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Too generic</a:t>
            </a:r>
            <a:endParaRPr lang="en-US" sz="1300" dirty="0"/>
          </a:p>
        </p:txBody>
      </p:sp>
      <p:sp>
        <p:nvSpPr>
          <p:cNvPr id="9" name="Text 6"/>
          <p:cNvSpPr/>
          <p:nvPr/>
        </p:nvSpPr>
        <p:spPr>
          <a:xfrm>
            <a:off x="3977640" y="1847088"/>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0" name="Text 7"/>
          <p:cNvSpPr/>
          <p:nvPr/>
        </p:nvSpPr>
        <p:spPr>
          <a:xfrm>
            <a:off x="4480560" y="1847088"/>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the purpose, the audience, and the detail you need.</a:t>
            </a:r>
            <a:endParaRPr lang="en-US" sz="1250" dirty="0"/>
          </a:p>
        </p:txBody>
      </p:sp>
      <p:sp>
        <p:nvSpPr>
          <p:cNvPr id="11" name="Shape 8"/>
          <p:cNvSpPr/>
          <p:nvPr/>
        </p:nvSpPr>
        <p:spPr>
          <a:xfrm>
            <a:off x="640080" y="2450592"/>
            <a:ext cx="10881360" cy="548640"/>
          </a:xfrm>
          <a:prstGeom prst="roundRect">
            <a:avLst>
              <a:gd name="adj" fmla="val 15000"/>
            </a:avLst>
          </a:prstGeom>
          <a:solidFill>
            <a:srgbClr val="F5F6F8"/>
          </a:solidFill>
          <a:ln w="12700">
            <a:solidFill>
              <a:srgbClr val="E7E9EE"/>
            </a:solidFill>
            <a:prstDash val="solid"/>
          </a:ln>
        </p:spPr>
      </p:sp>
      <p:sp>
        <p:nvSpPr>
          <p:cNvPr id="12" name="Text 9"/>
          <p:cNvSpPr/>
          <p:nvPr/>
        </p:nvSpPr>
        <p:spPr>
          <a:xfrm>
            <a:off x="914400" y="2450592"/>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Wrong format</a:t>
            </a:r>
            <a:endParaRPr lang="en-US" sz="1300" dirty="0"/>
          </a:p>
        </p:txBody>
      </p:sp>
      <p:sp>
        <p:nvSpPr>
          <p:cNvPr id="13" name="Text 10"/>
          <p:cNvSpPr/>
          <p:nvPr/>
        </p:nvSpPr>
        <p:spPr>
          <a:xfrm>
            <a:off x="3977640" y="2450592"/>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4" name="Text 11"/>
          <p:cNvSpPr/>
          <p:nvPr/>
        </p:nvSpPr>
        <p:spPr>
          <a:xfrm>
            <a:off x="4480560" y="2450592"/>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Specify the structure and the length.</a:t>
            </a:r>
            <a:endParaRPr lang="en-US" sz="1250" dirty="0"/>
          </a:p>
        </p:txBody>
      </p:sp>
      <p:sp>
        <p:nvSpPr>
          <p:cNvPr id="15" name="Shape 12"/>
          <p:cNvSpPr/>
          <p:nvPr/>
        </p:nvSpPr>
        <p:spPr>
          <a:xfrm>
            <a:off x="640080" y="3054096"/>
            <a:ext cx="10881360" cy="548640"/>
          </a:xfrm>
          <a:prstGeom prst="roundRect">
            <a:avLst>
              <a:gd name="adj" fmla="val 15000"/>
            </a:avLst>
          </a:prstGeom>
          <a:solidFill>
            <a:srgbClr val="F5F6F8"/>
          </a:solidFill>
          <a:ln w="12700">
            <a:solidFill>
              <a:srgbClr val="E7E9EE"/>
            </a:solidFill>
            <a:prstDash val="solid"/>
          </a:ln>
        </p:spPr>
      </p:sp>
      <p:sp>
        <p:nvSpPr>
          <p:cNvPr id="16" name="Text 13"/>
          <p:cNvSpPr/>
          <p:nvPr/>
        </p:nvSpPr>
        <p:spPr>
          <a:xfrm>
            <a:off x="914400" y="3054096"/>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Unsupported claims</a:t>
            </a:r>
            <a:endParaRPr lang="en-US" sz="1300" dirty="0"/>
          </a:p>
        </p:txBody>
      </p:sp>
      <p:sp>
        <p:nvSpPr>
          <p:cNvPr id="17" name="Text 14"/>
          <p:cNvSpPr/>
          <p:nvPr/>
        </p:nvSpPr>
        <p:spPr>
          <a:xfrm>
            <a:off x="3977640" y="3054096"/>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8" name="Text 15"/>
          <p:cNvSpPr/>
          <p:nvPr/>
        </p:nvSpPr>
        <p:spPr>
          <a:xfrm>
            <a:off x="4480560" y="3054096"/>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Restrict it to the provided sources.</a:t>
            </a:r>
            <a:endParaRPr lang="en-US" sz="1250" dirty="0"/>
          </a:p>
        </p:txBody>
      </p:sp>
      <p:sp>
        <p:nvSpPr>
          <p:cNvPr id="19" name="Shape 16"/>
          <p:cNvSpPr/>
          <p:nvPr/>
        </p:nvSpPr>
        <p:spPr>
          <a:xfrm>
            <a:off x="640080" y="3657600"/>
            <a:ext cx="10881360" cy="548640"/>
          </a:xfrm>
          <a:prstGeom prst="roundRect">
            <a:avLst>
              <a:gd name="adj" fmla="val 15000"/>
            </a:avLst>
          </a:prstGeom>
          <a:solidFill>
            <a:srgbClr val="F5F6F8"/>
          </a:solidFill>
          <a:ln w="12700">
            <a:solidFill>
              <a:srgbClr val="E7E9EE"/>
            </a:solidFill>
            <a:prstDash val="solid"/>
          </a:ln>
        </p:spPr>
      </p:sp>
      <p:sp>
        <p:nvSpPr>
          <p:cNvPr id="20" name="Text 17"/>
          <p:cNvSpPr/>
          <p:nvPr/>
        </p:nvSpPr>
        <p:spPr>
          <a:xfrm>
            <a:off x="914400" y="3657600"/>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Missing priority</a:t>
            </a:r>
            <a:endParaRPr lang="en-US" sz="1300" dirty="0"/>
          </a:p>
        </p:txBody>
      </p:sp>
      <p:sp>
        <p:nvSpPr>
          <p:cNvPr id="21" name="Text 18"/>
          <p:cNvSpPr/>
          <p:nvPr/>
        </p:nvSpPr>
        <p:spPr>
          <a:xfrm>
            <a:off x="3977640" y="3657600"/>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22" name="Text 19"/>
          <p:cNvSpPr/>
          <p:nvPr/>
        </p:nvSpPr>
        <p:spPr>
          <a:xfrm>
            <a:off x="4480560" y="3657600"/>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your decision criteria.</a:t>
            </a:r>
            <a:endParaRPr lang="en-US" sz="1250" dirty="0"/>
          </a:p>
        </p:txBody>
      </p:sp>
      <p:sp>
        <p:nvSpPr>
          <p:cNvPr id="23" name="Shape 20"/>
          <p:cNvSpPr/>
          <p:nvPr/>
        </p:nvSpPr>
        <p:spPr>
          <a:xfrm>
            <a:off x="640080" y="4261104"/>
            <a:ext cx="10881360" cy="548640"/>
          </a:xfrm>
          <a:prstGeom prst="roundRect">
            <a:avLst>
              <a:gd name="adj" fmla="val 15000"/>
            </a:avLst>
          </a:prstGeom>
          <a:solidFill>
            <a:srgbClr val="F5F6F8"/>
          </a:solidFill>
          <a:ln w="12700">
            <a:solidFill>
              <a:srgbClr val="E7E9EE"/>
            </a:solidFill>
            <a:prstDash val="solid"/>
          </a:ln>
        </p:spPr>
      </p:sp>
      <p:sp>
        <p:nvSpPr>
          <p:cNvPr id="24" name="Text 21"/>
          <p:cNvSpPr/>
          <p:nvPr/>
        </p:nvSpPr>
        <p:spPr>
          <a:xfrm>
            <a:off x="914400" y="4261104"/>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Too verbose</a:t>
            </a:r>
            <a:endParaRPr lang="en-US" sz="1300" dirty="0"/>
          </a:p>
        </p:txBody>
      </p:sp>
      <p:sp>
        <p:nvSpPr>
          <p:cNvPr id="25" name="Text 22"/>
          <p:cNvSpPr/>
          <p:nvPr/>
        </p:nvSpPr>
        <p:spPr>
          <a:xfrm>
            <a:off x="3977640" y="4261104"/>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26" name="Text 23"/>
          <p:cNvSpPr/>
          <p:nvPr/>
        </p:nvSpPr>
        <p:spPr>
          <a:xfrm>
            <a:off x="4480560" y="4261104"/>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Set a limit and name the audience.</a:t>
            </a:r>
            <a:endParaRPr lang="en-US" sz="1250" dirty="0"/>
          </a:p>
        </p:txBody>
      </p:sp>
      <p:sp>
        <p:nvSpPr>
          <p:cNvPr id="27" name="Shape 24"/>
          <p:cNvSpPr/>
          <p:nvPr/>
        </p:nvSpPr>
        <p:spPr>
          <a:xfrm>
            <a:off x="640080" y="4864608"/>
            <a:ext cx="10881360" cy="548640"/>
          </a:xfrm>
          <a:prstGeom prst="roundRect">
            <a:avLst>
              <a:gd name="adj" fmla="val 15000"/>
            </a:avLst>
          </a:prstGeom>
          <a:solidFill>
            <a:srgbClr val="F5F6F8"/>
          </a:solidFill>
          <a:ln w="12700">
            <a:solidFill>
              <a:srgbClr val="E7E9EE"/>
            </a:solidFill>
            <a:prstDash val="solid"/>
          </a:ln>
        </p:spPr>
      </p:sp>
      <p:sp>
        <p:nvSpPr>
          <p:cNvPr id="28" name="Text 25"/>
          <p:cNvSpPr/>
          <p:nvPr/>
        </p:nvSpPr>
        <p:spPr>
          <a:xfrm>
            <a:off x="914400" y="4864608"/>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Important item omitted</a:t>
            </a:r>
            <a:endParaRPr lang="en-US" sz="1300" dirty="0"/>
          </a:p>
        </p:txBody>
      </p:sp>
      <p:sp>
        <p:nvSpPr>
          <p:cNvPr id="29" name="Text 26"/>
          <p:cNvSpPr/>
          <p:nvPr/>
        </p:nvSpPr>
        <p:spPr>
          <a:xfrm>
            <a:off x="3977640" y="4864608"/>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30" name="Text 27"/>
          <p:cNvSpPr/>
          <p:nvPr/>
        </p:nvSpPr>
        <p:spPr>
          <a:xfrm>
            <a:off x="4480560" y="4864608"/>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State what must be included.</a:t>
            </a:r>
            <a:endParaRPr lang="en-US" sz="1250" dirty="0"/>
          </a:p>
        </p:txBody>
      </p:sp>
      <p:sp>
        <p:nvSpPr>
          <p:cNvPr id="31" name="Shape 28"/>
          <p:cNvSpPr/>
          <p:nvPr/>
        </p:nvSpPr>
        <p:spPr>
          <a:xfrm>
            <a:off x="640080" y="5468112"/>
            <a:ext cx="10881360" cy="548640"/>
          </a:xfrm>
          <a:prstGeom prst="roundRect">
            <a:avLst>
              <a:gd name="adj" fmla="val 15000"/>
            </a:avLst>
          </a:prstGeom>
          <a:solidFill>
            <a:srgbClr val="F5F6F8"/>
          </a:solidFill>
          <a:ln w="12700">
            <a:solidFill>
              <a:srgbClr val="E7E9EE"/>
            </a:solidFill>
            <a:prstDash val="solid"/>
          </a:ln>
        </p:spPr>
      </p:sp>
      <p:sp>
        <p:nvSpPr>
          <p:cNvPr id="32" name="Text 29"/>
          <p:cNvSpPr/>
          <p:nvPr/>
        </p:nvSpPr>
        <p:spPr>
          <a:xfrm>
            <a:off x="914400" y="5468112"/>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Inconsistent output</a:t>
            </a:r>
            <a:endParaRPr lang="en-US" sz="1300" dirty="0"/>
          </a:p>
        </p:txBody>
      </p:sp>
      <p:sp>
        <p:nvSpPr>
          <p:cNvPr id="33" name="Text 30"/>
          <p:cNvSpPr/>
          <p:nvPr/>
        </p:nvSpPr>
        <p:spPr>
          <a:xfrm>
            <a:off x="3977640" y="5468112"/>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34" name="Text 31"/>
          <p:cNvSpPr/>
          <p:nvPr/>
        </p:nvSpPr>
        <p:spPr>
          <a:xfrm>
            <a:off x="4480560" y="5468112"/>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Provide an example to copy.</a:t>
            </a:r>
            <a:endParaRPr lang="en-US" sz="1250" dirty="0"/>
          </a:p>
        </p:txBody>
      </p:sp>
      <p:sp>
        <p:nvSpPr>
          <p:cNvPr id="35" name="Text 3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DIAGNOSE</a:t>
            </a:r>
            <a:endParaRPr lang="en-US" sz="850" dirty="0"/>
          </a:p>
        </p:txBody>
      </p:sp>
      <p:sp>
        <p:nvSpPr>
          <p:cNvPr id="36" name="Text 3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REVIEW · VERIFY BEFORE USING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strong prompt doesn't replace your review</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Facts supported?</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Every claim traces to the source material.</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Counts correct?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Numbers and totals actually add up.</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Citations real?</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Quoted lines exist in the source.</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Instructions followed?</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Format, length, and priorities as asked.</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Anything missing?</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important item didn't get dropped.</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Right for the reader?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Language fits the audience — and nothing restricted.</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VERIFY</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32" name="Text 2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REVIEW · RESPONSIBLE PROMPTING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Approved tools, approved information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Use only approved AI tools and approved information. Do not enter restricted, confidential, personal, payment, or sensitive member information unless the tool and the use case are explicitly approved for that data.</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And remember what a prompt is not: a prompt instruction is not a substitute for company policy, access controls, security review, or your own judgment.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THREE SAFEGUARDS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1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Use approved, properly handled source material.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2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Tell the model not to infer unsupported facts.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3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Review the result before you share or act on it.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RESPONSIBLE USE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PRACTICE · YOUR TURN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Rebuild this prompt with CO-STAR</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Everything from today, on one real task. Work in pairs against the practice dataset — then compare prompts before you compare outputs.</a:t>
            </a:r>
            <a:endParaRPr lang="en-US" sz="1300" dirty="0"/>
          </a:p>
        </p:txBody>
      </p:sp>
      <p:sp>
        <p:nvSpPr>
          <p:cNvPr id="8" name="Shape 5"/>
          <p:cNvSpPr/>
          <p:nvPr/>
        </p:nvSpPr>
        <p:spPr>
          <a:xfrm>
            <a:off x="640080" y="1956816"/>
            <a:ext cx="5486400" cy="3611880"/>
          </a:xfrm>
          <a:prstGeom prst="roundRect">
            <a:avLst>
              <a:gd name="adj" fmla="val 2278"/>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WEAK PROMPT</a:t>
            </a:r>
            <a:endParaRPr lang="en-US" sz="1100" dirty="0"/>
          </a:p>
        </p:txBody>
      </p:sp>
      <p:sp>
        <p:nvSpPr>
          <p:cNvPr id="10" name="Text 7"/>
          <p:cNvSpPr/>
          <p:nvPr/>
        </p:nvSpPr>
        <p:spPr>
          <a:xfrm>
            <a:off x="914400" y="2523744"/>
            <a:ext cx="4937760" cy="640080"/>
          </a:xfrm>
          <a:prstGeom prst="rect">
            <a:avLst/>
          </a:prstGeom>
          <a:noFill/>
          <a:ln/>
        </p:spPr>
        <p:txBody>
          <a:bodyPr wrap="square" lIns="0" tIns="0" rIns="0" bIns="0" rtlCol="0" anchor="t"/>
          <a:lstStyle/>
          <a:p>
            <a:pPr indent="0" marL="0">
              <a:lnSpc>
                <a:spcPct val="115000"/>
              </a:lnSpc>
              <a:buNone/>
            </a:pPr>
            <a:r>
              <a:rPr lang="en-US" sz="1400" i="1" dirty="0">
                <a:solidFill>
                  <a:srgbClr val="FFFFFF"/>
                </a:solidFill>
                <a:latin typeface="Arial" pitchFamily="34" charset="0"/>
                <a:ea typeface="Arial" pitchFamily="34" charset="-122"/>
                <a:cs typeface="Arial" pitchFamily="34" charset="-120"/>
              </a:rPr>
              <a:t>“Summarize these comments for leadership.”</a:t>
            </a:r>
            <a:endParaRPr lang="en-US" sz="1400" dirty="0"/>
          </a:p>
        </p:txBody>
      </p:sp>
      <p:sp>
        <p:nvSpPr>
          <p:cNvPr id="11" name="Text 8"/>
          <p:cNvSpPr/>
          <p:nvPr/>
        </p:nvSpPr>
        <p:spPr>
          <a:xfrm>
            <a:off x="914400" y="3383280"/>
            <a:ext cx="4937760" cy="9144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Rebuild it: add the context, the objective, the reader, the style and tone, and the exact output — then add the guard line.</a:t>
            </a:r>
            <a:endParaRPr lang="en-US" sz="1200" dirty="0"/>
          </a:p>
        </p:txBody>
      </p:sp>
      <p:sp>
        <p:nvSpPr>
          <p:cNvPr id="12" name="Text 9"/>
          <p:cNvSpPr/>
          <p:nvPr/>
        </p:nvSpPr>
        <p:spPr>
          <a:xfrm>
            <a:off x="914400" y="4983480"/>
            <a:ext cx="4937760" cy="457200"/>
          </a:xfrm>
          <a:prstGeom prst="rect">
            <a:avLst/>
          </a:prstGeom>
          <a:noFill/>
          <a:ln/>
        </p:spPr>
        <p:txBody>
          <a:bodyPr wrap="square" lIns="0" tIns="0" rIns="0" bIns="0" rtlCol="0" anchor="t"/>
          <a:lstStyle/>
          <a:p>
            <a:pPr indent="0" marL="0">
              <a:buNone/>
            </a:pPr>
            <a:r>
              <a:rPr lang="en-US" sz="1100" i="1" dirty="0">
                <a:solidFill>
                  <a:srgbClr val="C8CDD4"/>
                </a:solidFill>
                <a:latin typeface="Arial" pitchFamily="34" charset="0"/>
                <a:ea typeface="Arial" pitchFamily="34" charset="-122"/>
                <a:cs typeface="Arial" pitchFamily="34" charset="-120"/>
              </a:rPr>
              <a:t>Material: the 29-comment practice dataset handout.</a:t>
            </a:r>
            <a:endParaRPr lang="en-US" sz="1100" dirty="0"/>
          </a:p>
        </p:txBody>
      </p:sp>
      <p:sp>
        <p:nvSpPr>
          <p:cNvPr id="13" name="Shape 10"/>
          <p:cNvSpPr/>
          <p:nvPr/>
        </p:nvSpPr>
        <p:spPr>
          <a:xfrm>
            <a:off x="6355080" y="1956816"/>
            <a:ext cx="5193792" cy="3611880"/>
          </a:xfrm>
          <a:prstGeom prst="roundRect">
            <a:avLst>
              <a:gd name="adj" fmla="val 2278"/>
            </a:avLst>
          </a:prstGeom>
          <a:solidFill>
            <a:srgbClr val="DCFCE7"/>
          </a:solidFill>
          <a:ln/>
        </p:spPr>
      </p:sp>
      <p:sp>
        <p:nvSpPr>
          <p:cNvPr id="14" name="Text 11"/>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A STRONG ANSWER INCLUDES</a:t>
            </a:r>
            <a:endParaRPr lang="en-US" sz="1100" dirty="0"/>
          </a:p>
        </p:txBody>
      </p:sp>
      <p:sp>
        <p:nvSpPr>
          <p:cNvPr id="15" name="Text 12"/>
          <p:cNvSpPr/>
          <p:nvPr/>
        </p:nvSpPr>
        <p:spPr>
          <a:xfrm>
            <a:off x="6629400" y="2505456"/>
            <a:ext cx="4663440" cy="2926080"/>
          </a:xfrm>
          <a:prstGeom prst="rect">
            <a:avLst/>
          </a:prstGeom>
          <a:noFill/>
          <a:ln/>
        </p:spPr>
        <p:txBody>
          <a:bodyPr wrap="square" lIns="0" tIns="0" rIns="0" bIns="0" rtlCol="0" anchor="t"/>
          <a:lstStyle/>
          <a:p>
            <a:pPr indent="0" marL="0">
              <a:lnSpc>
                <a:spcPct val="130000"/>
              </a:lnSpc>
              <a:buNone/>
            </a:pPr>
            <a:r>
              <a:rPr lang="en-US" sz="1150" b="1" dirty="0">
                <a:solidFill>
                  <a:srgbClr val="15803D"/>
                </a:solidFill>
                <a:latin typeface="Arial" pitchFamily="34" charset="0"/>
                <a:ea typeface="Arial" pitchFamily="34" charset="-122"/>
                <a:cs typeface="Arial" pitchFamily="34" charset="-120"/>
              </a:rPr>
              <a:t>C</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batch, named: which survey, roughly how many.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O</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an action: group into themes and count.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A</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leader who will actually read it.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S/T</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concise, neutral, plain language.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R</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bullets with counts, safety first.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guard line: nothing invented, nothing restricted.</a:t>
            </a:r>
            <a:endParaRPr lang="en-US" sz="11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PRACTICE</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RECAP · TAKE IT WITH YOU</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Everything we promised, on one card</a:t>
            </a:r>
            <a:endParaRPr lang="en-US" sz="3000" dirty="0"/>
          </a:p>
        </p:txBody>
      </p:sp>
      <p:sp>
        <p:nvSpPr>
          <p:cNvPr id="6" name="Shape 3"/>
          <p:cNvSpPr/>
          <p:nvPr/>
        </p:nvSpPr>
        <p:spPr>
          <a:xfrm>
            <a:off x="640080" y="1847088"/>
            <a:ext cx="5349240" cy="3273552"/>
          </a:xfrm>
          <a:prstGeom prst="roundRect">
            <a:avLst>
              <a:gd name="adj" fmla="val 2514"/>
            </a:avLst>
          </a:prstGeom>
          <a:solidFill>
            <a:srgbClr val="F5F6F8"/>
          </a:solidFill>
          <a:ln w="12700">
            <a:solidFill>
              <a:srgbClr val="E7E9EE"/>
            </a:solidFill>
            <a:prstDash val="solid"/>
          </a:ln>
        </p:spPr>
      </p:sp>
      <p:sp>
        <p:nvSpPr>
          <p:cNvPr id="7" name="Text 4"/>
          <p:cNvSpPr/>
          <p:nvPr/>
        </p:nvSpPr>
        <p:spPr>
          <a:xfrm>
            <a:off x="914400" y="2048256"/>
            <a:ext cx="480060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THE JOB AID</a:t>
            </a:r>
            <a:endParaRPr lang="en-US" sz="1100" dirty="0"/>
          </a:p>
        </p:txBody>
      </p:sp>
      <p:sp>
        <p:nvSpPr>
          <p:cNvPr id="8" name="Text 5"/>
          <p:cNvSpPr/>
          <p:nvPr/>
        </p:nvSpPr>
        <p:spPr>
          <a:xfrm>
            <a:off x="914400" y="2395728"/>
            <a:ext cx="4800600" cy="2560320"/>
          </a:xfrm>
          <a:prstGeom prst="rect">
            <a:avLst/>
          </a:prstGeom>
          <a:noFill/>
          <a:ln/>
        </p:spPr>
        <p:txBody>
          <a:bodyPr wrap="square" lIns="0" tIns="0" rIns="0" bIns="0" rtlCol="0" anchor="t"/>
          <a:lstStyle/>
          <a:p>
            <a:pPr indent="0" marL="0">
              <a:lnSpc>
                <a:spcPct val="125000"/>
              </a:lnSpc>
              <a:buNone/>
            </a:pPr>
            <a:r>
              <a:rPr lang="en-US" sz="1250" b="1" dirty="0">
                <a:solidFill>
                  <a:srgbClr val="D31242"/>
                </a:solidFill>
                <a:latin typeface="Arial" pitchFamily="34" charset="0"/>
                <a:ea typeface="Arial" pitchFamily="34" charset="-122"/>
                <a:cs typeface="Arial" pitchFamily="34" charset="-120"/>
              </a:rPr>
              <a:t>C</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Context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O</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Objective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S</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Style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T</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Tone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A</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Audience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R</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Response
</a:t>
            </a:r>
            <a:pPr indent="0" marL="0">
              <a:lnSpc>
                <a:spcPct val="125000"/>
              </a:lnSpc>
              <a:buNone/>
            </a:pPr>
            <a:r>
              <a:rPr lang="en-US" sz="1250" dirty="0">
                <a:solidFill>
                  <a:srgbClr val="3A4452"/>
                </a:solidFill>
                <a:latin typeface="Arial" pitchFamily="34" charset="0"/>
                <a:ea typeface="Arial" pitchFamily="34" charset="-122"/>
                <a:cs typeface="Arial" pitchFamily="34" charset="-120"/>
              </a:rPr>
              <a:t>After prompting — three habits:
</a:t>
            </a:r>
            <a:pPr indent="0" marL="0">
              <a:lnSpc>
                <a:spcPct val="125000"/>
              </a:lnSpc>
              <a:buNone/>
            </a:pPr>
            <a:r>
              <a:rPr lang="en-US" sz="1600" b="1" dirty="0">
                <a:solidFill>
                  <a:srgbClr val="D31242"/>
                </a:solidFill>
                <a:latin typeface="Arial" pitchFamily="34" charset="0"/>
                <a:ea typeface="Arial" pitchFamily="34" charset="-122"/>
                <a:cs typeface="Arial" pitchFamily="34" charset="-120"/>
              </a:rPr>
              <a:t>Ground it.  Refine it.  Verify it.</a:t>
            </a:r>
            <a:endParaRPr lang="en-US" sz="1250" dirty="0"/>
          </a:p>
        </p:txBody>
      </p:sp>
      <p:sp>
        <p:nvSpPr>
          <p:cNvPr id="9" name="Shape 6"/>
          <p:cNvSpPr/>
          <p:nvPr/>
        </p:nvSpPr>
        <p:spPr>
          <a:xfrm>
            <a:off x="6172200" y="1847088"/>
            <a:ext cx="5349240" cy="3273552"/>
          </a:xfrm>
          <a:prstGeom prst="roundRect">
            <a:avLst>
              <a:gd name="adj" fmla="val 2514"/>
            </a:avLst>
          </a:prstGeom>
          <a:solidFill>
            <a:srgbClr val="F5F6F8"/>
          </a:solidFill>
          <a:ln w="12700">
            <a:solidFill>
              <a:srgbClr val="E7E9EE"/>
            </a:solidFill>
            <a:prstDash val="solid"/>
          </a:ln>
        </p:spPr>
      </p:sp>
      <p:sp>
        <p:nvSpPr>
          <p:cNvPr id="10" name="Text 7"/>
          <p:cNvSpPr/>
          <p:nvPr/>
        </p:nvSpPr>
        <p:spPr>
          <a:xfrm>
            <a:off x="6446520" y="2048256"/>
            <a:ext cx="480060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YOUR JOURNEY</a:t>
            </a:r>
            <a:endParaRPr lang="en-US" sz="1100" dirty="0"/>
          </a:p>
        </p:txBody>
      </p:sp>
      <p:sp>
        <p:nvSpPr>
          <p:cNvPr id="11" name="Text 8"/>
          <p:cNvSpPr/>
          <p:nvPr/>
        </p:nvSpPr>
        <p:spPr>
          <a:xfrm>
            <a:off x="6446520" y="2395728"/>
            <a:ext cx="4800600" cy="2560320"/>
          </a:xfrm>
          <a:prstGeom prst="rect">
            <a:avLst/>
          </a:prstGeom>
          <a:noFill/>
          <a:ln/>
        </p:spPr>
        <p:txBody>
          <a:bodyPr wrap="square" lIns="0" tIns="0" rIns="0" bIns="0" rtlCol="0" anchor="t"/>
          <a:lstStyle/>
          <a:p>
            <a:pPr indent="0" marL="0">
              <a:lnSpc>
                <a:spcPct val="125000"/>
              </a:lnSpc>
              <a:buNone/>
            </a:pPr>
            <a:r>
              <a:rPr lang="en-US" sz="1250" dirty="0">
                <a:solidFill>
                  <a:srgbClr val="3A4452"/>
                </a:solidFill>
                <a:latin typeface="Arial" pitchFamily="34" charset="0"/>
                <a:ea typeface="Arial" pitchFamily="34" charset="-122"/>
                <a:cs typeface="Arial" pitchFamily="34" charset="-120"/>
              </a:rPr>
              <a:t>Today you covered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Asking → Composing</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and took your first steps into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Directing</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Next stops when you're ready: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Intermediate</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 Directing, in depth.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Advanced</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 Designing: chains, templates, evaluation.</a:t>
            </a:r>
            <a:endParaRPr lang="en-US" sz="1250" dirty="0"/>
          </a:p>
        </p:txBody>
      </p:sp>
      <p:sp>
        <p:nvSpPr>
          <p:cNvPr id="12" name="Shape 9"/>
          <p:cNvSpPr/>
          <p:nvPr/>
        </p:nvSpPr>
        <p:spPr>
          <a:xfrm>
            <a:off x="640080" y="5321808"/>
            <a:ext cx="10881360" cy="777240"/>
          </a:xfrm>
          <a:prstGeom prst="roundRect">
            <a:avLst>
              <a:gd name="adj" fmla="val 10588"/>
            </a:avLst>
          </a:prstGeom>
          <a:solidFill>
            <a:srgbClr val="FCE4EA"/>
          </a:solidFill>
          <a:ln/>
        </p:spPr>
      </p:sp>
      <p:sp>
        <p:nvSpPr>
          <p:cNvPr id="13" name="Text 10"/>
          <p:cNvSpPr/>
          <p:nvPr/>
        </p:nvSpPr>
        <p:spPr>
          <a:xfrm>
            <a:off x="914400" y="5321808"/>
            <a:ext cx="10332720" cy="777240"/>
          </a:xfrm>
          <a:prstGeom prst="rect">
            <a:avLst/>
          </a:prstGeom>
          <a:noFill/>
          <a:ln/>
        </p:spPr>
        <p:txBody>
          <a:bodyPr wrap="square" lIns="0" tIns="0" rIns="0" bIns="0" rtlCol="0" anchor="ctr"/>
          <a:lstStyle/>
          <a:p>
            <a:pPr indent="0" marL="0">
              <a:lnSpc>
                <a:spcPct val="110000"/>
              </a:lnSpc>
              <a:buNone/>
            </a:pPr>
            <a:r>
              <a:rPr lang="en-US" sz="1250" b="1" dirty="0">
                <a:solidFill>
                  <a:srgbClr val="D31242"/>
                </a:solidFill>
                <a:latin typeface="Arial" pitchFamily="34" charset="0"/>
                <a:ea typeface="Arial" pitchFamily="34" charset="-122"/>
                <a:cs typeface="Arial" pitchFamily="34" charset="-120"/>
              </a:rPr>
              <a:t>This week: </a:t>
            </a:r>
            <a:pPr indent="0" marL="0">
              <a:lnSpc>
                <a:spcPct val="110000"/>
              </a:lnSpc>
              <a:buNone/>
            </a:pPr>
            <a:r>
              <a:rPr lang="en-US" sz="1250" dirty="0">
                <a:solidFill>
                  <a:srgbClr val="3A4452"/>
                </a:solidFill>
                <a:latin typeface="Arial" pitchFamily="34" charset="0"/>
                <a:ea typeface="Arial" pitchFamily="34" charset="-122"/>
                <a:cs typeface="Arial" pitchFamily="34" charset="-120"/>
              </a:rPr>
              <a:t>use CO-STAR on one real, approved task — then ground it, refine it, and verify it before it goes anywhere.</a:t>
            </a:r>
            <a:endParaRPr lang="en-US" sz="12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RECAP</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Fundamentals</dc:title>
  <dc:subject>PptxGenJS Presentation</dc:subject>
  <dc:creator>BJ's AI Enablement</dc:creator>
  <cp:lastModifiedBy>BJ's AI Enablement</cp:lastModifiedBy>
  <cp:revision>1</cp:revision>
  <dcterms:created xsi:type="dcterms:W3CDTF">2026-07-11T23:23:34Z</dcterms:created>
  <dcterms:modified xsi:type="dcterms:W3CDTF">2026-07-11T23:23:34Z</dcterms:modified>
</cp:coreProperties>
</file>