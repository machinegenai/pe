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Fundamentals course: CO-STAR taught element by element, strengthened with sources, structure, examples and criteria, then refine–diagnose–verify–protect. Sits inside the Asking→Composing→Directing→Designing journey: today covers Asking through Composing into the first steps of Directing; Designing lives in the Advanced module. ~60 min live with the two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90-second attention beat before the objectives. The phrase to repeat all session: 'it cannot infer what you haven't provided.' Everything that follows is a way of providing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observable promises, read as promises. The closing recap (slide 25) pays these off one-to-one. Objective 5 carries responsible use so it isn't a bolt-on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program's recurring roadmap — same four stages as the Beginner, Intermediate and Advanced decks, so this course visibly belongs to the same journey. Frame it honestly: today = Asking through Composing plus first steps of Directing; the full Directing and Designing depth lives in the Intermediate and Advanced modules. Point out the breadcrumb top-right of every following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foundational definition — 'prompt' means the whole package, which is why the rest of the session works on each part. Keep brisk.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of the journey — run it live if you can. Point at the right card, then the left output: a safety issue and 12 staffing complaints became 'mixed feedback.' Canonical batch: ~30 comments, five themes, fixed counts — checkout 12, produce 7, fresh food 5, app 4, gas pump 1 (safety). Full dataset in 'Fundamentals_Practice_Dataset.md' — used again in the closing exercise. Illustrative; swap in real club feedback when you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framework. Name the six parts, then say: over the next five slides we build ONE prompt with them, element by element, and then we run it. CO-STAR is a checklist against ambiguity, not a form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five build slides — one prompt assembled live, run on slide 13. Rhythm on each: what the element is, the weak line, then the green sentence that joins THE PROMPT SO FAR. Context tells the model what the material IS before asking anything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me with' is a feeling, not a task. Two action verbs — group and count — turn it into work the model can do. Point at the card: Context has settled into place; the Objective just joined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gets its own slide because it drives style and tone — decide the reader and the next slide almost writes itself. Ask the room: who do YOU write for most — manager, team, member,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Style and tone travel together and flow from the audience named on the previous slide. 'Professional' is a wish; 'concise and neutral, no technical terms' is an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under-used element — and what makes verification (slide 22) possible, because everything asked for is checkable: at most five, counts, safety first. The prompt is complete. Next slide: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the session builds to — this is word-for-word the prompt the room just watched grow, run against the batch, beside the slide-6 baseline. If you demo one thing live, demo this. One NEW line appears at the end — 'do not infer facts not stated' — flag it as the bridge into Directing: the next stage is about lines like that. The 29-comment dataset supports every count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Active-learning beat at the midpoint. Run as a 2-minute pair discussion, then walk the right card. It has a rough Objective and nothing else pinned down — the point is that plausible-looking prompts still fail the checklist. Self-readers get the answer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gear-shift into Stage 3, done as an advance organizer: name the four real-work situations and the four moves before teaching them. Each maps to one of the next four slides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(notes only): delimiters. Any clear marker works — headings, ALL-CAPS labels, tags; the TASK / REQUIREMENTS / COMMENTS / OUTPUT pattern is a reusable starter learners can copy verbatim. Honest calibration: headings help the model parse; they don't guarantee correctness — the review step still owns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(notes only): grounding. 'Traceable to the source' is the phrase to leave them with. Calibration to say out loud: grounding makes claims easier to verify — it does not remove the need to verify. First slide where real BJ's material enters a prompt, so pair it with: only approved material goes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term (notes only): few-shot prompting. Use when a format is hard to describe, categories are fuzzy, tone matters, or consistency matters. The caution is real teaching: the model copies your example faithfully — including its mistakes — so review the example before you rely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YOUR criteria in the prompt is more reliable than asking the model to expose its thinking — the priorities come from you, and the evidence-based justifications give you something to check. Reasoning-first is taught in the Intermediate module as a further directing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Targeted follow-ups to offer the room: make it shorter · change the audience · reorganize into a table · add missing evidence · remove unsupported claims · put the most urgent issue first · rewrite in simpler language. Core message: keep what works, change what doesn't — the context you built stays in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useful than telling people to regenerate: match the symptom to the fix and change exactly that. Live option: ask the room for a recent output that missed, find its row together, and write the one-line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checklist also includes: is the recommendation reasonable, and does the output contain restricted information (folded into the last two cells). Core message verbatim: a strong prompt improves the output — it does not eliminate the need for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Wording is illustrative — swap for BJ's official responsible-AI / data-handling policy when published. Frame as enabling: these safeguards are what let Champions use real material ambitiously and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5 to write, 3 to compare with a neighbour, 2 to debrief. A correct output groups into the five canonical themes with counts and puts the gas pump first as safety. The facilitator answer sketch is in the dataset handout. If tools are available, run the best prompt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objectives loop out loud: what a prompt is (1) — you used all of it; CO-STAR (2) — the job aid; sources and examples (3) — ground it; follow-ups (4) — refine it; review (5) — verify it. Then the journey: today = Asking→Composing + first steps of Directing; point to the Intermediate and Advanced modules by name. Hand out the job aid and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AI CHAMPIONS · FUNDAMENTALS</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Prompt Engineering Fundamentals</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How to give AI clear instructions, relevant information, and usable output requirements — in one session.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Prompt quality decides output quality</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An unclear request gets a generic, unreliable response — something you end up rewriting by hand. A clear request gets a relevant, usable, reviewable response — something you can check and send.</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reason is simple, and it is the core idea of this session: the model cannot infer important business context that you have not provided. It only knows what you tell it.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PATTERN</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B91C1C"/>
                </a:solidFill>
                <a:latin typeface="Arial" pitchFamily="34" charset="0"/>
                <a:ea typeface="Arial" pitchFamily="34" charset="-122"/>
                <a:cs typeface="Arial" pitchFamily="34" charset="-120"/>
              </a:rPr>
              <a:t>✗  Unclear ask
</a:t>
            </a:r>
            <a:pPr indent="0" marL="0">
              <a:lnSpc>
                <a:spcPct val="115000"/>
              </a:lnSpc>
              <a:buNone/>
            </a:pPr>
            <a:r>
              <a:rPr lang="en-US" sz="1450" dirty="0">
                <a:solidFill>
                  <a:srgbClr val="3A4452"/>
                </a:solidFill>
                <a:latin typeface="Arial" pitchFamily="34" charset="0"/>
                <a:ea typeface="Arial" pitchFamily="34" charset="-122"/>
                <a:cs typeface="Arial" pitchFamily="34" charset="-120"/>
              </a:rPr>
              <a:t>→ generic, unreliable, reworked by hand.
</a:t>
            </a:r>
            <a:pPr indent="0" marL="0">
              <a:lnSpc>
                <a:spcPct val="115000"/>
              </a:lnSpc>
              <a:buNone/>
            </a:pPr>
            <a:r>
              <a:rPr lang="en-US" sz="1450" b="1" dirty="0">
                <a:solidFill>
                  <a:srgbClr val="15803D"/>
                </a:solidFill>
                <a:latin typeface="Arial" pitchFamily="34" charset="0"/>
                <a:ea typeface="Arial" pitchFamily="34" charset="-122"/>
                <a:cs typeface="Arial" pitchFamily="34" charset="-120"/>
              </a:rPr>
              <a:t>✓  Clear ask
</a:t>
            </a:r>
            <a:pPr indent="0" marL="0">
              <a:lnSpc>
                <a:spcPct val="115000"/>
              </a:lnSpc>
              <a:buNone/>
            </a:pPr>
            <a:r>
              <a:rPr lang="en-US" sz="1450" dirty="0">
                <a:solidFill>
                  <a:srgbClr val="3A4452"/>
                </a:solidFill>
                <a:latin typeface="Arial" pitchFamily="34" charset="0"/>
                <a:ea typeface="Arial" pitchFamily="34" charset="-122"/>
                <a:cs typeface="Arial" pitchFamily="34" charset="-120"/>
              </a:rPr>
              <a:t>→ relevant, usable, reviewable.
</a:t>
            </a:r>
            <a:pPr indent="0" marL="0">
              <a:lnSpc>
                <a:spcPct val="115000"/>
              </a:lnSpc>
              <a:buNone/>
            </a:pPr>
            <a:r>
              <a:rPr lang="en-US" sz="1450" i="1" dirty="0">
                <a:solidFill>
                  <a:srgbClr val="5E6A78"/>
                </a:solidFill>
                <a:latin typeface="Arial" pitchFamily="34" charset="0"/>
                <a:ea typeface="Arial" pitchFamily="34" charset="-122"/>
                <a:cs typeface="Arial" pitchFamily="34" charset="-120"/>
              </a:rPr>
              <a:t>This session is about moving from the first line to the second — on your real work.</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WHY</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session, you will be able to:</a:t>
            </a:r>
            <a:endParaRPr lang="en-US" sz="3000" dirty="0"/>
          </a:p>
        </p:txBody>
      </p:sp>
      <p:sp>
        <p:nvSpPr>
          <p:cNvPr id="6" name="Shape 3"/>
          <p:cNvSpPr/>
          <p:nvPr/>
        </p:nvSpPr>
        <p:spPr>
          <a:xfrm>
            <a:off x="640080" y="1965960"/>
            <a:ext cx="10881360" cy="749808"/>
          </a:xfrm>
          <a:prstGeom prst="roundRect">
            <a:avLst>
              <a:gd name="adj" fmla="val 10976"/>
            </a:avLst>
          </a:prstGeom>
          <a:solidFill>
            <a:srgbClr val="F5F6F8"/>
          </a:solidFill>
          <a:ln w="12700">
            <a:solidFill>
              <a:srgbClr val="E7E9EE"/>
            </a:solidFill>
            <a:prstDash val="solid"/>
          </a:ln>
        </p:spPr>
      </p:sp>
      <p:sp>
        <p:nvSpPr>
          <p:cNvPr id="7" name="Shape 4"/>
          <p:cNvSpPr/>
          <p:nvPr/>
        </p:nvSpPr>
        <p:spPr>
          <a:xfrm>
            <a:off x="868680" y="2112264"/>
            <a:ext cx="457200" cy="457200"/>
          </a:xfrm>
          <a:prstGeom prst="ellipse">
            <a:avLst/>
          </a:prstGeom>
          <a:solidFill>
            <a:srgbClr val="D31242"/>
          </a:solidFill>
          <a:ln/>
        </p:spPr>
      </p:sp>
      <p:sp>
        <p:nvSpPr>
          <p:cNvPr id="8" name="Text 5"/>
          <p:cNvSpPr/>
          <p:nvPr/>
        </p:nvSpPr>
        <p:spPr>
          <a:xfrm>
            <a:off x="868680" y="211226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6"/>
          <p:cNvSpPr/>
          <p:nvPr/>
        </p:nvSpPr>
        <p:spPr>
          <a:xfrm>
            <a:off x="1600200" y="203911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Explain what a prompt is</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The parts that guide an AI response — and which of them you control.</a:t>
            </a:r>
            <a:endParaRPr lang="en-US" sz="1550" dirty="0"/>
          </a:p>
        </p:txBody>
      </p:sp>
      <p:sp>
        <p:nvSpPr>
          <p:cNvPr id="10" name="Shape 7"/>
          <p:cNvSpPr/>
          <p:nvPr/>
        </p:nvSpPr>
        <p:spPr>
          <a:xfrm>
            <a:off x="640080" y="2834640"/>
            <a:ext cx="10881360" cy="749808"/>
          </a:xfrm>
          <a:prstGeom prst="roundRect">
            <a:avLst>
              <a:gd name="adj" fmla="val 10976"/>
            </a:avLst>
          </a:prstGeom>
          <a:solidFill>
            <a:srgbClr val="F5F6F8"/>
          </a:solidFill>
          <a:ln w="12700">
            <a:solidFill>
              <a:srgbClr val="E7E9EE"/>
            </a:solidFill>
            <a:prstDash val="solid"/>
          </a:ln>
        </p:spPr>
      </p:sp>
      <p:sp>
        <p:nvSpPr>
          <p:cNvPr id="11" name="Shape 8"/>
          <p:cNvSpPr/>
          <p:nvPr/>
        </p:nvSpPr>
        <p:spPr>
          <a:xfrm>
            <a:off x="868680" y="2980944"/>
            <a:ext cx="457200" cy="457200"/>
          </a:xfrm>
          <a:prstGeom prst="ellipse">
            <a:avLst/>
          </a:prstGeom>
          <a:solidFill>
            <a:srgbClr val="D31242"/>
          </a:solidFill>
          <a:ln/>
        </p:spPr>
      </p:sp>
      <p:sp>
        <p:nvSpPr>
          <p:cNvPr id="12" name="Text 9"/>
          <p:cNvSpPr/>
          <p:nvPr/>
        </p:nvSpPr>
        <p:spPr>
          <a:xfrm>
            <a:off x="868680" y="298094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600200" y="290779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Build a clear prompt with CO-STAR</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Context, Objective, Style, Tone, Audience, Response.</a:t>
            </a:r>
            <a:endParaRPr lang="en-US" sz="1550" dirty="0"/>
          </a:p>
        </p:txBody>
      </p:sp>
      <p:sp>
        <p:nvSpPr>
          <p:cNvPr id="14" name="Shape 11"/>
          <p:cNvSpPr/>
          <p:nvPr/>
        </p:nvSpPr>
        <p:spPr>
          <a:xfrm>
            <a:off x="640080" y="3703320"/>
            <a:ext cx="10881360" cy="749808"/>
          </a:xfrm>
          <a:prstGeom prst="roundRect">
            <a:avLst>
              <a:gd name="adj" fmla="val 10976"/>
            </a:avLst>
          </a:prstGeom>
          <a:solidFill>
            <a:srgbClr val="F5F6F8"/>
          </a:solidFill>
          <a:ln w="12700">
            <a:solidFill>
              <a:srgbClr val="E7E9EE"/>
            </a:solidFill>
            <a:prstDash val="solid"/>
          </a:ln>
        </p:spPr>
      </p:sp>
      <p:sp>
        <p:nvSpPr>
          <p:cNvPr id="15" name="Shape 12"/>
          <p:cNvSpPr/>
          <p:nvPr/>
        </p:nvSpPr>
        <p:spPr>
          <a:xfrm>
            <a:off x="868680" y="3849624"/>
            <a:ext cx="457200" cy="457200"/>
          </a:xfrm>
          <a:prstGeom prst="ellipse">
            <a:avLst/>
          </a:prstGeom>
          <a:solidFill>
            <a:srgbClr val="D31242"/>
          </a:solidFill>
          <a:ln/>
        </p:spPr>
      </p:sp>
      <p:sp>
        <p:nvSpPr>
          <p:cNvPr id="16" name="Text 13"/>
          <p:cNvSpPr/>
          <p:nvPr/>
        </p:nvSpPr>
        <p:spPr>
          <a:xfrm>
            <a:off x="868680" y="384962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4"/>
          <p:cNvSpPr/>
          <p:nvPr/>
        </p:nvSpPr>
        <p:spPr>
          <a:xfrm>
            <a:off x="1600200" y="377647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Provide source material and examples</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Separate instructions from material; ground it; show one done right.</a:t>
            </a:r>
            <a:endParaRPr lang="en-US" sz="1550" dirty="0"/>
          </a:p>
        </p:txBody>
      </p:sp>
      <p:sp>
        <p:nvSpPr>
          <p:cNvPr id="18" name="Shape 15"/>
          <p:cNvSpPr/>
          <p:nvPr/>
        </p:nvSpPr>
        <p:spPr>
          <a:xfrm>
            <a:off x="640080" y="4572000"/>
            <a:ext cx="10881360" cy="749808"/>
          </a:xfrm>
          <a:prstGeom prst="roundRect">
            <a:avLst>
              <a:gd name="adj" fmla="val 10976"/>
            </a:avLst>
          </a:prstGeom>
          <a:solidFill>
            <a:srgbClr val="F5F6F8"/>
          </a:solidFill>
          <a:ln w="12700">
            <a:solidFill>
              <a:srgbClr val="E7E9EE"/>
            </a:solidFill>
            <a:prstDash val="solid"/>
          </a:ln>
        </p:spPr>
      </p:sp>
      <p:sp>
        <p:nvSpPr>
          <p:cNvPr id="19" name="Shape 16"/>
          <p:cNvSpPr/>
          <p:nvPr/>
        </p:nvSpPr>
        <p:spPr>
          <a:xfrm>
            <a:off x="868680" y="4718304"/>
            <a:ext cx="457200" cy="457200"/>
          </a:xfrm>
          <a:prstGeom prst="ellipse">
            <a:avLst/>
          </a:prstGeom>
          <a:solidFill>
            <a:srgbClr val="D31242"/>
          </a:solidFill>
          <a:ln/>
        </p:spPr>
      </p:sp>
      <p:sp>
        <p:nvSpPr>
          <p:cNvPr id="20" name="Text 17"/>
          <p:cNvSpPr/>
          <p:nvPr/>
        </p:nvSpPr>
        <p:spPr>
          <a:xfrm>
            <a:off x="868680" y="47183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8"/>
          <p:cNvSpPr/>
          <p:nvPr/>
        </p:nvSpPr>
        <p:spPr>
          <a:xfrm>
            <a:off x="1600200" y="464515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Improve a response with follow-ups</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Refine and diagnose instead of restarting.</a:t>
            </a:r>
            <a:endParaRPr lang="en-US" sz="1550" dirty="0"/>
          </a:p>
        </p:txBody>
      </p:sp>
      <p:sp>
        <p:nvSpPr>
          <p:cNvPr id="22" name="Shape 19"/>
          <p:cNvSpPr/>
          <p:nvPr/>
        </p:nvSpPr>
        <p:spPr>
          <a:xfrm>
            <a:off x="640080" y="5440680"/>
            <a:ext cx="10881360" cy="749808"/>
          </a:xfrm>
          <a:prstGeom prst="roundRect">
            <a:avLst>
              <a:gd name="adj" fmla="val 10976"/>
            </a:avLst>
          </a:prstGeom>
          <a:solidFill>
            <a:srgbClr val="F5F6F8"/>
          </a:solidFill>
          <a:ln w="12700">
            <a:solidFill>
              <a:srgbClr val="E7E9EE"/>
            </a:solidFill>
            <a:prstDash val="solid"/>
          </a:ln>
        </p:spPr>
      </p:sp>
      <p:sp>
        <p:nvSpPr>
          <p:cNvPr id="23" name="Shape 20"/>
          <p:cNvSpPr/>
          <p:nvPr/>
        </p:nvSpPr>
        <p:spPr>
          <a:xfrm>
            <a:off x="868680" y="5586984"/>
            <a:ext cx="457200" cy="457200"/>
          </a:xfrm>
          <a:prstGeom prst="ellipse">
            <a:avLst/>
          </a:prstGeom>
          <a:solidFill>
            <a:srgbClr val="D31242"/>
          </a:solidFill>
          <a:ln/>
        </p:spPr>
      </p:sp>
      <p:sp>
        <p:nvSpPr>
          <p:cNvPr id="24" name="Text 21"/>
          <p:cNvSpPr/>
          <p:nvPr/>
        </p:nvSpPr>
        <p:spPr>
          <a:xfrm>
            <a:off x="868680" y="55869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5" name="Text 22"/>
          <p:cNvSpPr/>
          <p:nvPr/>
        </p:nvSpPr>
        <p:spPr>
          <a:xfrm>
            <a:off x="1600200" y="5513832"/>
            <a:ext cx="9692640" cy="603504"/>
          </a:xfrm>
          <a:prstGeom prst="rect">
            <a:avLst/>
          </a:prstGeom>
          <a:noFill/>
          <a:ln/>
        </p:spPr>
        <p:txBody>
          <a:bodyPr wrap="square" lIns="0" tIns="0" rIns="0" bIns="0" rtlCol="0" anchor="ctr"/>
          <a:lstStyle/>
          <a:p>
            <a:pPr indent="0" marL="0">
              <a:lnSpc>
                <a:spcPct val="100000"/>
              </a:lnSpc>
              <a:buNone/>
            </a:pPr>
            <a:r>
              <a:rPr lang="en-US" sz="1550" b="1" dirty="0">
                <a:solidFill>
                  <a:srgbClr val="1F2733"/>
                </a:solidFill>
                <a:latin typeface="Arial" pitchFamily="34" charset="0"/>
                <a:ea typeface="Arial" pitchFamily="34" charset="-122"/>
                <a:cs typeface="Arial" pitchFamily="34" charset="-120"/>
              </a:rPr>
              <a:t>Review before you use it</a:t>
            </a:r>
            <a:endParaRPr lang="en-US" sz="1550" dirty="0"/>
          </a:p>
          <a:p>
            <a:pPr indent="0" marL="0">
              <a:lnSpc>
                <a:spcPct val="100000"/>
              </a:lnSpc>
              <a:buNone/>
            </a:pPr>
            <a:r>
              <a:rPr lang="en-US" sz="1200" dirty="0">
                <a:solidFill>
                  <a:srgbClr val="5E6A78"/>
                </a:solidFill>
                <a:latin typeface="Arial" pitchFamily="34" charset="0"/>
                <a:ea typeface="Arial" pitchFamily="34" charset="-122"/>
                <a:cs typeface="Arial" pitchFamily="34" charset="-120"/>
              </a:rPr>
              <a:t>Check accuracy and usefulness — and protect member data.</a:t>
            </a:r>
            <a:endParaRPr lang="en-US" sz="1550" dirty="0"/>
          </a:p>
        </p:txBody>
      </p:sp>
      <p:sp>
        <p:nvSpPr>
          <p:cNvPr id="26" name="Text 2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OBJECTIVES</a:t>
            </a:r>
            <a:endParaRPr lang="en-US" sz="850" dirty="0"/>
          </a:p>
        </p:txBody>
      </p:sp>
      <p:sp>
        <p:nvSpPr>
          <p:cNvPr id="27" name="Text 2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JOURNEY</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Four stages — and what today covers</a:t>
            </a:r>
            <a:endParaRPr lang="en-US" sz="3000" dirty="0"/>
          </a:p>
        </p:txBody>
      </p:sp>
      <p:sp>
        <p:nvSpPr>
          <p:cNvPr id="6" name="Shape 3"/>
          <p:cNvSpPr/>
          <p:nvPr/>
        </p:nvSpPr>
        <p:spPr>
          <a:xfrm>
            <a:off x="640080" y="2514600"/>
            <a:ext cx="2532888" cy="3063240"/>
          </a:xfrm>
          <a:prstGeom prst="roundRect">
            <a:avLst>
              <a:gd name="adj" fmla="val 3249"/>
            </a:avLst>
          </a:prstGeom>
          <a:solidFill>
            <a:srgbClr val="F5F6F8"/>
          </a:solidFill>
          <a:ln w="12700">
            <a:solidFill>
              <a:srgbClr val="E7E9EE"/>
            </a:solidFill>
            <a:prstDash val="solid"/>
          </a:ln>
        </p:spPr>
      </p:sp>
      <p:sp>
        <p:nvSpPr>
          <p:cNvPr id="7" name="Shape 4"/>
          <p:cNvSpPr/>
          <p:nvPr/>
        </p:nvSpPr>
        <p:spPr>
          <a:xfrm>
            <a:off x="900684" y="2121408"/>
            <a:ext cx="2011680" cy="365760"/>
          </a:xfrm>
          <a:prstGeom prst="roundRect">
            <a:avLst>
              <a:gd name="adj" fmla="val 25000"/>
            </a:avLst>
          </a:prstGeom>
          <a:solidFill>
            <a:srgbClr val="D31242"/>
          </a:solidFill>
          <a:ln/>
        </p:spPr>
      </p:sp>
      <p:sp>
        <p:nvSpPr>
          <p:cNvPr id="8" name="Text 5"/>
          <p:cNvSpPr/>
          <p:nvPr/>
        </p:nvSpPr>
        <p:spPr>
          <a:xfrm>
            <a:off x="900684" y="2121408"/>
            <a:ext cx="2011680" cy="365760"/>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Arial" pitchFamily="34" charset="0"/>
                <a:ea typeface="Arial" pitchFamily="34" charset="-122"/>
                <a:cs typeface="Arial" pitchFamily="34" charset="-120"/>
              </a:rPr>
              <a:t>TODAY</a:t>
            </a:r>
            <a:endParaRPr lang="en-US" sz="850" dirty="0"/>
          </a:p>
        </p:txBody>
      </p:sp>
      <p:sp>
        <p:nvSpPr>
          <p:cNvPr id="9" name="Shape 6"/>
          <p:cNvSpPr/>
          <p:nvPr/>
        </p:nvSpPr>
        <p:spPr>
          <a:xfrm>
            <a:off x="1613916" y="2761488"/>
            <a:ext cx="585216" cy="585216"/>
          </a:xfrm>
          <a:prstGeom prst="ellipse">
            <a:avLst/>
          </a:prstGeom>
          <a:solidFill>
            <a:srgbClr val="D31242"/>
          </a:solidFill>
          <a:ln/>
        </p:spPr>
      </p:sp>
      <p:sp>
        <p:nvSpPr>
          <p:cNvPr id="10" name="Text 7"/>
          <p:cNvSpPr/>
          <p:nvPr/>
        </p:nvSpPr>
        <p:spPr>
          <a:xfrm>
            <a:off x="1613916" y="2761488"/>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1" name="Text 8"/>
          <p:cNvSpPr/>
          <p:nvPr/>
        </p:nvSpPr>
        <p:spPr>
          <a:xfrm>
            <a:off x="749808" y="352044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Asking</a:t>
            </a:r>
            <a:endParaRPr lang="en-US" sz="1800" dirty="0"/>
          </a:p>
        </p:txBody>
      </p:sp>
      <p:sp>
        <p:nvSpPr>
          <p:cNvPr id="12" name="Text 9"/>
          <p:cNvSpPr/>
          <p:nvPr/>
        </p:nvSpPr>
        <p:spPr>
          <a:xfrm>
            <a:off x="804672" y="4041648"/>
            <a:ext cx="2203704" cy="1417320"/>
          </a:xfrm>
          <a:prstGeom prst="rect">
            <a:avLst/>
          </a:prstGeom>
          <a:noFill/>
          <a:ln/>
        </p:spPr>
        <p:txBody>
          <a:bodyPr wrap="square" lIns="0" tIns="0" rIns="0" bIns="0" rtlCol="0" anchor="t"/>
          <a:lstStyle/>
          <a:p>
            <a:pPr algn="ctr" indent="0" marL="0">
              <a:lnSpc>
                <a:spcPct val="108000"/>
              </a:lnSpc>
              <a:buNone/>
            </a:pPr>
            <a:r>
              <a:rPr lang="en-US" sz="1000" dirty="0">
                <a:solidFill>
                  <a:srgbClr val="5E6A78"/>
                </a:solidFill>
                <a:latin typeface="Arial" pitchFamily="34" charset="0"/>
                <a:ea typeface="Arial" pitchFamily="34" charset="-122"/>
                <a:cs typeface="Arial" pitchFamily="34" charset="-120"/>
              </a:rPr>
              <a:t>One-line requests, hit or miss. Where everyone starts — and where we start.</a:t>
            </a:r>
            <a:endParaRPr lang="en-US" sz="1000" dirty="0"/>
          </a:p>
        </p:txBody>
      </p:sp>
      <p:sp>
        <p:nvSpPr>
          <p:cNvPr id="13" name="Text 10"/>
          <p:cNvSpPr/>
          <p:nvPr/>
        </p:nvSpPr>
        <p:spPr>
          <a:xfrm>
            <a:off x="3145536" y="3703320"/>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14" name="Shape 11"/>
          <p:cNvSpPr/>
          <p:nvPr/>
        </p:nvSpPr>
        <p:spPr>
          <a:xfrm>
            <a:off x="3429000" y="2514600"/>
            <a:ext cx="2532888" cy="3063240"/>
          </a:xfrm>
          <a:prstGeom prst="roundRect">
            <a:avLst>
              <a:gd name="adj" fmla="val 3249"/>
            </a:avLst>
          </a:prstGeom>
          <a:solidFill>
            <a:srgbClr val="F5F6F8"/>
          </a:solidFill>
          <a:ln w="12700">
            <a:solidFill>
              <a:srgbClr val="E7E9EE"/>
            </a:solidFill>
            <a:prstDash val="solid"/>
          </a:ln>
        </p:spPr>
      </p:sp>
      <p:sp>
        <p:nvSpPr>
          <p:cNvPr id="15" name="Shape 12"/>
          <p:cNvSpPr/>
          <p:nvPr/>
        </p:nvSpPr>
        <p:spPr>
          <a:xfrm>
            <a:off x="3689604" y="2121408"/>
            <a:ext cx="2011680" cy="365760"/>
          </a:xfrm>
          <a:prstGeom prst="roundRect">
            <a:avLst>
              <a:gd name="adj" fmla="val 25000"/>
            </a:avLst>
          </a:prstGeom>
          <a:solidFill>
            <a:srgbClr val="D31242"/>
          </a:solidFill>
          <a:ln/>
        </p:spPr>
      </p:sp>
      <p:sp>
        <p:nvSpPr>
          <p:cNvPr id="16" name="Text 13"/>
          <p:cNvSpPr/>
          <p:nvPr/>
        </p:nvSpPr>
        <p:spPr>
          <a:xfrm>
            <a:off x="3689604" y="2121408"/>
            <a:ext cx="2011680" cy="365760"/>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Arial" pitchFamily="34" charset="0"/>
                <a:ea typeface="Arial" pitchFamily="34" charset="-122"/>
                <a:cs typeface="Arial" pitchFamily="34" charset="-120"/>
              </a:rPr>
              <a:t>TODAY</a:t>
            </a:r>
            <a:endParaRPr lang="en-US" sz="850" dirty="0"/>
          </a:p>
        </p:txBody>
      </p:sp>
      <p:sp>
        <p:nvSpPr>
          <p:cNvPr id="17" name="Shape 14"/>
          <p:cNvSpPr/>
          <p:nvPr/>
        </p:nvSpPr>
        <p:spPr>
          <a:xfrm>
            <a:off x="4402836" y="2761488"/>
            <a:ext cx="585216" cy="585216"/>
          </a:xfrm>
          <a:prstGeom prst="ellipse">
            <a:avLst/>
          </a:prstGeom>
          <a:solidFill>
            <a:srgbClr val="D31242"/>
          </a:solidFill>
          <a:ln/>
        </p:spPr>
      </p:sp>
      <p:sp>
        <p:nvSpPr>
          <p:cNvPr id="18" name="Text 15"/>
          <p:cNvSpPr/>
          <p:nvPr/>
        </p:nvSpPr>
        <p:spPr>
          <a:xfrm>
            <a:off x="4402836" y="2761488"/>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9" name="Text 16"/>
          <p:cNvSpPr/>
          <p:nvPr/>
        </p:nvSpPr>
        <p:spPr>
          <a:xfrm>
            <a:off x="3538728" y="352044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Composing</a:t>
            </a:r>
            <a:endParaRPr lang="en-US" sz="1800" dirty="0"/>
          </a:p>
        </p:txBody>
      </p:sp>
      <p:sp>
        <p:nvSpPr>
          <p:cNvPr id="20" name="Text 17"/>
          <p:cNvSpPr/>
          <p:nvPr/>
        </p:nvSpPr>
        <p:spPr>
          <a:xfrm>
            <a:off x="3593592" y="4041648"/>
            <a:ext cx="2203704" cy="1417320"/>
          </a:xfrm>
          <a:prstGeom prst="rect">
            <a:avLst/>
          </a:prstGeom>
          <a:noFill/>
          <a:ln/>
        </p:spPr>
        <p:txBody>
          <a:bodyPr wrap="square" lIns="0" tIns="0" rIns="0" bIns="0" rtlCol="0" anchor="t"/>
          <a:lstStyle/>
          <a:p>
            <a:pPr algn="ctr" indent="0" marL="0">
              <a:lnSpc>
                <a:spcPct val="108000"/>
              </a:lnSpc>
              <a:buNone/>
            </a:pPr>
            <a:r>
              <a:rPr lang="en-US" sz="1000" dirty="0">
                <a:solidFill>
                  <a:srgbClr val="5E6A78"/>
                </a:solidFill>
                <a:latin typeface="Arial" pitchFamily="34" charset="0"/>
                <a:ea typeface="Arial" pitchFamily="34" charset="-122"/>
                <a:cs typeface="Arial" pitchFamily="34" charset="-120"/>
              </a:rPr>
              <a:t>CO-STAR plus the refine habit — strong prompts on purpose. The heart of this session.</a:t>
            </a:r>
            <a:endParaRPr lang="en-US" sz="1000" dirty="0"/>
          </a:p>
        </p:txBody>
      </p:sp>
      <p:sp>
        <p:nvSpPr>
          <p:cNvPr id="21" name="Text 18"/>
          <p:cNvSpPr/>
          <p:nvPr/>
        </p:nvSpPr>
        <p:spPr>
          <a:xfrm>
            <a:off x="5934456" y="3703320"/>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22" name="Shape 19"/>
          <p:cNvSpPr/>
          <p:nvPr/>
        </p:nvSpPr>
        <p:spPr>
          <a:xfrm>
            <a:off x="6217920" y="2514600"/>
            <a:ext cx="2532888" cy="3063240"/>
          </a:xfrm>
          <a:prstGeom prst="roundRect">
            <a:avLst>
              <a:gd name="adj" fmla="val 3249"/>
            </a:avLst>
          </a:prstGeom>
          <a:solidFill>
            <a:srgbClr val="F5F6F8"/>
          </a:solidFill>
          <a:ln w="12700">
            <a:solidFill>
              <a:srgbClr val="E7E9EE"/>
            </a:solidFill>
            <a:prstDash val="solid"/>
          </a:ln>
        </p:spPr>
      </p:sp>
      <p:sp>
        <p:nvSpPr>
          <p:cNvPr id="23" name="Shape 20"/>
          <p:cNvSpPr/>
          <p:nvPr/>
        </p:nvSpPr>
        <p:spPr>
          <a:xfrm>
            <a:off x="6478524" y="2121408"/>
            <a:ext cx="2011680" cy="365760"/>
          </a:xfrm>
          <a:prstGeom prst="roundRect">
            <a:avLst>
              <a:gd name="adj" fmla="val 25000"/>
            </a:avLst>
          </a:prstGeom>
          <a:solidFill>
            <a:srgbClr val="D31242"/>
          </a:solidFill>
          <a:ln/>
        </p:spPr>
      </p:sp>
      <p:sp>
        <p:nvSpPr>
          <p:cNvPr id="24" name="Text 21"/>
          <p:cNvSpPr/>
          <p:nvPr/>
        </p:nvSpPr>
        <p:spPr>
          <a:xfrm>
            <a:off x="6478524" y="2121408"/>
            <a:ext cx="2011680" cy="365760"/>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Arial" pitchFamily="34" charset="0"/>
                <a:ea typeface="Arial" pitchFamily="34" charset="-122"/>
                <a:cs typeface="Arial" pitchFamily="34" charset="-120"/>
              </a:rPr>
              <a:t>TODAY · FIRST STEPS</a:t>
            </a:r>
            <a:endParaRPr lang="en-US" sz="850" dirty="0"/>
          </a:p>
        </p:txBody>
      </p:sp>
      <p:sp>
        <p:nvSpPr>
          <p:cNvPr id="25" name="Shape 22"/>
          <p:cNvSpPr/>
          <p:nvPr/>
        </p:nvSpPr>
        <p:spPr>
          <a:xfrm>
            <a:off x="7191756" y="2761488"/>
            <a:ext cx="585216" cy="585216"/>
          </a:xfrm>
          <a:prstGeom prst="ellipse">
            <a:avLst/>
          </a:prstGeom>
          <a:solidFill>
            <a:srgbClr val="D31242"/>
          </a:solidFill>
          <a:ln/>
        </p:spPr>
      </p:sp>
      <p:sp>
        <p:nvSpPr>
          <p:cNvPr id="26" name="Text 23"/>
          <p:cNvSpPr/>
          <p:nvPr/>
        </p:nvSpPr>
        <p:spPr>
          <a:xfrm>
            <a:off x="7191756" y="2761488"/>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27" name="Text 24"/>
          <p:cNvSpPr/>
          <p:nvPr/>
        </p:nvSpPr>
        <p:spPr>
          <a:xfrm>
            <a:off x="6327648" y="352044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Directing</a:t>
            </a:r>
            <a:endParaRPr lang="en-US" sz="1800" dirty="0"/>
          </a:p>
        </p:txBody>
      </p:sp>
      <p:sp>
        <p:nvSpPr>
          <p:cNvPr id="28" name="Text 25"/>
          <p:cNvSpPr/>
          <p:nvPr/>
        </p:nvSpPr>
        <p:spPr>
          <a:xfrm>
            <a:off x="6382512" y="4041648"/>
            <a:ext cx="2203704" cy="1417320"/>
          </a:xfrm>
          <a:prstGeom prst="rect">
            <a:avLst/>
          </a:prstGeom>
          <a:noFill/>
          <a:ln/>
        </p:spPr>
        <p:txBody>
          <a:bodyPr wrap="square" lIns="0" tIns="0" rIns="0" bIns="0" rtlCol="0" anchor="t"/>
          <a:lstStyle/>
          <a:p>
            <a:pPr algn="ctr" indent="0" marL="0">
              <a:lnSpc>
                <a:spcPct val="108000"/>
              </a:lnSpc>
              <a:buNone/>
            </a:pPr>
            <a:r>
              <a:rPr lang="en-US" sz="1000" dirty="0">
                <a:solidFill>
                  <a:srgbClr val="5E6A78"/>
                </a:solidFill>
                <a:latin typeface="Arial" pitchFamily="34" charset="0"/>
                <a:ea typeface="Arial" pitchFamily="34" charset="-122"/>
                <a:cs typeface="Arial" pitchFamily="34" charset="-120"/>
              </a:rPr>
              <a:t>Sources, structure, examples, criteria. First steps today; the Intermediate module goes deeper.</a:t>
            </a:r>
            <a:endParaRPr lang="en-US" sz="1000" dirty="0"/>
          </a:p>
        </p:txBody>
      </p:sp>
      <p:sp>
        <p:nvSpPr>
          <p:cNvPr id="29" name="Text 26"/>
          <p:cNvSpPr/>
          <p:nvPr/>
        </p:nvSpPr>
        <p:spPr>
          <a:xfrm>
            <a:off x="8723376" y="3703320"/>
            <a:ext cx="310896" cy="457200"/>
          </a:xfrm>
          <a:prstGeom prst="rect">
            <a:avLst/>
          </a:prstGeom>
          <a:noFill/>
          <a:ln/>
        </p:spPr>
        <p:txBody>
          <a:bodyPr wrap="square" lIns="0" tIns="0" rIns="0" bIns="0" rtlCol="0" anchor="ctr"/>
          <a:lstStyle/>
          <a:p>
            <a:pPr algn="ctr" indent="0" marL="0">
              <a:buNone/>
            </a:pPr>
            <a:r>
              <a:rPr lang="en-US" sz="2000" b="1" dirty="0">
                <a:solidFill>
                  <a:srgbClr val="8A93A0"/>
                </a:solidFill>
                <a:latin typeface="Arial" pitchFamily="34" charset="0"/>
                <a:ea typeface="Arial" pitchFamily="34" charset="-122"/>
                <a:cs typeface="Arial" pitchFamily="34" charset="-120"/>
              </a:rPr>
              <a:t>→</a:t>
            </a:r>
            <a:endParaRPr lang="en-US" sz="2000" dirty="0"/>
          </a:p>
        </p:txBody>
      </p:sp>
      <p:sp>
        <p:nvSpPr>
          <p:cNvPr id="30" name="Shape 27"/>
          <p:cNvSpPr/>
          <p:nvPr/>
        </p:nvSpPr>
        <p:spPr>
          <a:xfrm>
            <a:off x="9015984" y="2514600"/>
            <a:ext cx="2532888" cy="3063240"/>
          </a:xfrm>
          <a:prstGeom prst="roundRect">
            <a:avLst>
              <a:gd name="adj" fmla="val 3249"/>
            </a:avLst>
          </a:prstGeom>
          <a:solidFill>
            <a:srgbClr val="F5F6F8"/>
          </a:solidFill>
          <a:ln w="12700">
            <a:solidFill>
              <a:srgbClr val="E7E9EE"/>
            </a:solidFill>
            <a:prstDash val="solid"/>
          </a:ln>
        </p:spPr>
      </p:sp>
      <p:sp>
        <p:nvSpPr>
          <p:cNvPr id="31" name="Shape 28"/>
          <p:cNvSpPr/>
          <p:nvPr/>
        </p:nvSpPr>
        <p:spPr>
          <a:xfrm>
            <a:off x="9276588" y="2121408"/>
            <a:ext cx="2011680" cy="365760"/>
          </a:xfrm>
          <a:prstGeom prst="roundRect">
            <a:avLst>
              <a:gd name="adj" fmla="val 25000"/>
            </a:avLst>
          </a:prstGeom>
          <a:solidFill>
            <a:srgbClr val="F5F6F8"/>
          </a:solidFill>
          <a:ln w="12700">
            <a:solidFill>
              <a:srgbClr val="E7E9EE"/>
            </a:solidFill>
            <a:prstDash val="solid"/>
          </a:ln>
        </p:spPr>
      </p:sp>
      <p:sp>
        <p:nvSpPr>
          <p:cNvPr id="32" name="Text 29"/>
          <p:cNvSpPr/>
          <p:nvPr/>
        </p:nvSpPr>
        <p:spPr>
          <a:xfrm>
            <a:off x="9276588" y="2121408"/>
            <a:ext cx="2011680" cy="365760"/>
          </a:xfrm>
          <a:prstGeom prst="rect">
            <a:avLst/>
          </a:prstGeom>
          <a:noFill/>
          <a:ln/>
        </p:spPr>
        <p:txBody>
          <a:bodyPr wrap="square" lIns="0" tIns="0" rIns="0" bIns="0" rtlCol="0" anchor="ctr"/>
          <a:lstStyle/>
          <a:p>
            <a:pPr algn="ctr" indent="0" marL="0">
              <a:buNone/>
            </a:pPr>
            <a:r>
              <a:rPr lang="en-US" sz="850" b="1" spc="50" kern="0" dirty="0">
                <a:solidFill>
                  <a:srgbClr val="5E6A78"/>
                </a:solidFill>
                <a:latin typeface="Arial" pitchFamily="34" charset="0"/>
                <a:ea typeface="Arial" pitchFamily="34" charset="-122"/>
                <a:cs typeface="Arial" pitchFamily="34" charset="-120"/>
              </a:rPr>
              <a:t>ADVANCED MODULE</a:t>
            </a:r>
            <a:endParaRPr lang="en-US" sz="850" dirty="0"/>
          </a:p>
        </p:txBody>
      </p:sp>
      <p:sp>
        <p:nvSpPr>
          <p:cNvPr id="33" name="Shape 30"/>
          <p:cNvSpPr/>
          <p:nvPr/>
        </p:nvSpPr>
        <p:spPr>
          <a:xfrm>
            <a:off x="9989820" y="2761488"/>
            <a:ext cx="585216" cy="585216"/>
          </a:xfrm>
          <a:prstGeom prst="ellipse">
            <a:avLst/>
          </a:prstGeom>
          <a:solidFill>
            <a:srgbClr val="C8CDD4"/>
          </a:solidFill>
          <a:ln/>
        </p:spPr>
      </p:sp>
      <p:sp>
        <p:nvSpPr>
          <p:cNvPr id="34" name="Text 31"/>
          <p:cNvSpPr/>
          <p:nvPr/>
        </p:nvSpPr>
        <p:spPr>
          <a:xfrm>
            <a:off x="9989820" y="2761488"/>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35" name="Text 32"/>
          <p:cNvSpPr/>
          <p:nvPr/>
        </p:nvSpPr>
        <p:spPr>
          <a:xfrm>
            <a:off x="9125712" y="3520440"/>
            <a:ext cx="2313432" cy="457200"/>
          </a:xfrm>
          <a:prstGeom prst="rect">
            <a:avLst/>
          </a:prstGeom>
          <a:noFill/>
          <a:ln/>
        </p:spPr>
        <p:txBody>
          <a:bodyPr wrap="square" lIns="0" tIns="0" rIns="0" bIns="0" rtlCol="0" anchor="ctr"/>
          <a:lstStyle/>
          <a:p>
            <a:pPr algn="ctr" indent="0" marL="0">
              <a:buNone/>
            </a:pPr>
            <a:r>
              <a:rPr lang="en-US" sz="1800" b="1" dirty="0">
                <a:solidFill>
                  <a:srgbClr val="1F2733"/>
                </a:solidFill>
                <a:latin typeface="Arial" pitchFamily="34" charset="0"/>
                <a:ea typeface="Arial" pitchFamily="34" charset="-122"/>
                <a:cs typeface="Arial" pitchFamily="34" charset="-120"/>
              </a:rPr>
              <a:t>Designing</a:t>
            </a:r>
            <a:endParaRPr lang="en-US" sz="1800" dirty="0"/>
          </a:p>
        </p:txBody>
      </p:sp>
      <p:sp>
        <p:nvSpPr>
          <p:cNvPr id="36" name="Text 33"/>
          <p:cNvSpPr/>
          <p:nvPr/>
        </p:nvSpPr>
        <p:spPr>
          <a:xfrm>
            <a:off x="9180576" y="4041648"/>
            <a:ext cx="2203704" cy="1417320"/>
          </a:xfrm>
          <a:prstGeom prst="rect">
            <a:avLst/>
          </a:prstGeom>
          <a:noFill/>
          <a:ln/>
        </p:spPr>
        <p:txBody>
          <a:bodyPr wrap="square" lIns="0" tIns="0" rIns="0" bIns="0" rtlCol="0" anchor="t"/>
          <a:lstStyle/>
          <a:p>
            <a:pPr algn="ctr" indent="0" marL="0">
              <a:lnSpc>
                <a:spcPct val="108000"/>
              </a:lnSpc>
              <a:buNone/>
            </a:pPr>
            <a:r>
              <a:rPr lang="en-US" sz="1000" dirty="0">
                <a:solidFill>
                  <a:srgbClr val="5E6A78"/>
                </a:solidFill>
                <a:latin typeface="Arial" pitchFamily="34" charset="0"/>
                <a:ea typeface="Arial" pitchFamily="34" charset="-122"/>
                <a:cs typeface="Arial" pitchFamily="34" charset="-120"/>
              </a:rPr>
              <a:t>Chains, reusable templates, evaluation. Waiting for you in the Advanced module.</a:t>
            </a:r>
            <a:endParaRPr lang="en-US" sz="1000" dirty="0"/>
          </a:p>
        </p:txBody>
      </p:sp>
      <p:sp>
        <p:nvSpPr>
          <p:cNvPr id="37" name="Text 34"/>
          <p:cNvSpPr/>
          <p:nvPr/>
        </p:nvSpPr>
        <p:spPr>
          <a:xfrm>
            <a:off x="640080" y="5870448"/>
            <a:ext cx="1088136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Keep an eye on the top-right corner of every slide — it shows where you are on this journey.</a:t>
            </a:r>
            <a:endParaRPr lang="en-US" sz="1150" dirty="0"/>
          </a:p>
        </p:txBody>
      </p:sp>
      <p:sp>
        <p:nvSpPr>
          <p:cNvPr id="38" name="Text 3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THE JOURNEY</a:t>
            </a:r>
            <a:endParaRPr lang="en-US" sz="850" dirty="0"/>
          </a:p>
        </p:txBody>
      </p:sp>
      <p:sp>
        <p:nvSpPr>
          <p:cNvPr id="39" name="Text 3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THE BASICS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What is a prompt?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 prompt is the combination of instructions, context, source information, examples, and output requirements you provide to guide an AI response.</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It is not just the sentence you type. Everything you give the model shapes what comes back — and everything you leave out, it has to guess.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 PROMPT CAN INCLUDE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300" dirty="0">
                <a:solidFill>
                  <a:srgbClr val="1F2733"/>
                </a:solidFill>
                <a:latin typeface="Arial" pitchFamily="34" charset="0"/>
                <a:ea typeface="Arial" pitchFamily="34" charset="-122"/>
                <a:cs typeface="Arial" pitchFamily="34" charset="-120"/>
              </a:rPr>
              <a:t>• Typed instructions</a:t>
            </a:r>
            <a:endParaRPr lang="en-US" sz="1450" dirty="0"/>
          </a:p>
          <a:p>
            <a:pPr indent="0" marL="0">
              <a:lnSpc>
                <a:spcPct val="115000"/>
              </a:lnSpc>
              <a:buNone/>
            </a:pPr>
            <a:r>
              <a:rPr lang="en-US" sz="1300" dirty="0">
                <a:solidFill>
                  <a:srgbClr val="1F2733"/>
                </a:solidFill>
                <a:latin typeface="Arial" pitchFamily="34" charset="0"/>
                <a:ea typeface="Arial" pitchFamily="34" charset="-122"/>
                <a:cs typeface="Arial" pitchFamily="34" charset="-120"/>
              </a:rPr>
              <a:t>• Pasted text</a:t>
            </a:r>
            <a:endParaRPr lang="en-US" sz="1450" dirty="0"/>
          </a:p>
          <a:p>
            <a:pPr indent="0" marL="0">
              <a:lnSpc>
                <a:spcPct val="115000"/>
              </a:lnSpc>
              <a:buNone/>
            </a:pPr>
            <a:r>
              <a:rPr lang="en-US" sz="1300" dirty="0">
                <a:solidFill>
                  <a:srgbClr val="1F2733"/>
                </a:solidFill>
                <a:latin typeface="Arial" pitchFamily="34" charset="0"/>
                <a:ea typeface="Arial" pitchFamily="34" charset="-122"/>
                <a:cs typeface="Arial" pitchFamily="34" charset="-120"/>
              </a:rPr>
              <a:t>• Uploaded documents</a:t>
            </a:r>
            <a:endParaRPr lang="en-US" sz="1450" dirty="0"/>
          </a:p>
          <a:p>
            <a:pPr indent="0" marL="0">
              <a:lnSpc>
                <a:spcPct val="115000"/>
              </a:lnSpc>
              <a:buNone/>
            </a:pPr>
            <a:r>
              <a:rPr lang="en-US" sz="1300" dirty="0">
                <a:solidFill>
                  <a:srgbClr val="1F2733"/>
                </a:solidFill>
                <a:latin typeface="Arial" pitchFamily="34" charset="0"/>
                <a:ea typeface="Arial" pitchFamily="34" charset="-122"/>
                <a:cs typeface="Arial" pitchFamily="34" charset="-120"/>
              </a:rPr>
              <a:t>• Examples of what you want</a:t>
            </a:r>
            <a:endParaRPr lang="en-US" sz="1450" dirty="0"/>
          </a:p>
          <a:p>
            <a:pPr indent="0" marL="0">
              <a:lnSpc>
                <a:spcPct val="115000"/>
              </a:lnSpc>
              <a:buNone/>
            </a:pPr>
            <a:r>
              <a:rPr lang="en-US" sz="1300" dirty="0">
                <a:solidFill>
                  <a:srgbClr val="1F2733"/>
                </a:solidFill>
                <a:latin typeface="Arial" pitchFamily="34" charset="0"/>
                <a:ea typeface="Arial" pitchFamily="34" charset="-122"/>
                <a:cs typeface="Arial" pitchFamily="34" charset="-120"/>
              </a:rPr>
              <a:t>• Earlier turns in the same conversation</a:t>
            </a:r>
            <a:endParaRPr lang="en-US" sz="1450" dirty="0"/>
          </a:p>
          <a:p>
            <a:pPr indent="0" marL="0">
              <a:lnSpc>
                <a:spcPct val="115000"/>
              </a:lnSpc>
              <a:buNone/>
            </a:pPr>
            <a:r>
              <a:rPr lang="en-US" sz="1300" dirty="0">
                <a:solidFill>
                  <a:srgbClr val="1F2733"/>
                </a:solidFill>
                <a:latin typeface="Arial" pitchFamily="34" charset="0"/>
                <a:ea typeface="Arial" pitchFamily="34" charset="-122"/>
                <a:cs typeface="Arial" pitchFamily="34" charset="-120"/>
              </a:rPr>
              <a:t>• Approved connected information</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WHAT IS A PROMPT</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12" name="Text 9"/>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1 · ASKING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Where everyone starts</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D31242"/>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7" name="Text 4"/>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The most common prompt in the building — not wrong, just incomplete. Today we build the prompt that fixes it, on one real batch of feedback.</a:t>
            </a:r>
            <a:endParaRPr lang="en-US" sz="1300" dirty="0"/>
          </a:p>
        </p:txBody>
      </p:sp>
      <p:sp>
        <p:nvSpPr>
          <p:cNvPr id="8" name="Shape 5"/>
          <p:cNvSpPr/>
          <p:nvPr/>
        </p:nvSpPr>
        <p:spPr>
          <a:xfrm>
            <a:off x="640080" y="1956816"/>
            <a:ext cx="5486400" cy="4169664"/>
          </a:xfrm>
          <a:prstGeom prst="roundRect">
            <a:avLst>
              <a:gd name="adj" fmla="val 1974"/>
            </a:avLst>
          </a:prstGeom>
          <a:solidFill>
            <a:srgbClr val="1F2733"/>
          </a:solidFill>
          <a:ln/>
          <a:effectLst>
            <a:outerShdw sx="100000" sy="100000" kx="0" ky="0" algn="bl" rotWithShape="0" blurRad="88900" dist="38100" dir="5400000">
              <a:srgbClr val="1F2733">
                <a:alpha val="10000"/>
              </a:srgbClr>
            </a:outerShdw>
          </a:effectLst>
        </p:spPr>
      </p:sp>
      <p:sp>
        <p:nvSpPr>
          <p:cNvPr id="9" name="Text 6"/>
          <p:cNvSpPr/>
          <p:nvPr/>
        </p:nvSpPr>
        <p:spPr>
          <a:xfrm>
            <a:off x="914400" y="2157984"/>
            <a:ext cx="4937760" cy="256032"/>
          </a:xfrm>
          <a:prstGeom prst="rect">
            <a:avLst/>
          </a:prstGeom>
          <a:noFill/>
          <a:ln/>
        </p:spPr>
        <p:txBody>
          <a:bodyPr wrap="square" lIns="0" tIns="0" rIns="0" bIns="0" rtlCol="0" anchor="ctr"/>
          <a:lstStyle/>
          <a:p>
            <a:pPr indent="0" marL="0">
              <a:buNone/>
            </a:pPr>
            <a:r>
              <a:rPr lang="en-US" sz="1100" b="1" spc="100" kern="0" dirty="0">
                <a:solidFill>
                  <a:srgbClr val="FCE4EA"/>
                </a:solidFill>
                <a:latin typeface="Arial" pitchFamily="34" charset="0"/>
                <a:ea typeface="Arial" pitchFamily="34" charset="-122"/>
                <a:cs typeface="Arial" pitchFamily="34" charset="-120"/>
              </a:rPr>
              <a:t>▶  THE ONE-LINE PROMPT</a:t>
            </a:r>
            <a:endParaRPr lang="en-US" sz="1100" dirty="0"/>
          </a:p>
        </p:txBody>
      </p:sp>
      <p:sp>
        <p:nvSpPr>
          <p:cNvPr id="10" name="Text 7"/>
          <p:cNvSpPr/>
          <p:nvPr/>
        </p:nvSpPr>
        <p:spPr>
          <a:xfrm>
            <a:off x="914400" y="2487168"/>
            <a:ext cx="4937760" cy="365760"/>
          </a:xfrm>
          <a:prstGeom prst="rect">
            <a:avLst/>
          </a:prstGeom>
          <a:noFill/>
          <a:ln/>
        </p:spPr>
        <p:txBody>
          <a:bodyPr wrap="square" lIns="0" tIns="0" rIns="0" bIns="0" rtlCol="0" anchor="t"/>
          <a:lstStyle/>
          <a:p>
            <a:pPr indent="0" marL="0">
              <a:buNone/>
            </a:pPr>
            <a:r>
              <a:rPr lang="en-US" sz="1300" i="1" dirty="0">
                <a:solidFill>
                  <a:srgbClr val="FFFFFF"/>
                </a:solidFill>
                <a:latin typeface="Arial" pitchFamily="34" charset="0"/>
                <a:ea typeface="Arial" pitchFamily="34" charset="-122"/>
                <a:cs typeface="Arial" pitchFamily="34" charset="-120"/>
              </a:rPr>
              <a:t>Summarize this feedback.</a:t>
            </a:r>
            <a:endParaRPr lang="en-US" sz="1300" dirty="0"/>
          </a:p>
        </p:txBody>
      </p:sp>
      <p:sp>
        <p:nvSpPr>
          <p:cNvPr id="11" name="Text 8"/>
          <p:cNvSpPr/>
          <p:nvPr/>
        </p:nvSpPr>
        <p:spPr>
          <a:xfrm>
            <a:off x="914400" y="3054096"/>
            <a:ext cx="4937760" cy="237744"/>
          </a:xfrm>
          <a:prstGeom prst="rect">
            <a:avLst/>
          </a:prstGeom>
          <a:noFill/>
          <a:ln/>
        </p:spPr>
        <p:txBody>
          <a:bodyPr wrap="square" lIns="0" tIns="0" rIns="0" bIns="0" rtlCol="0" anchor="ctr"/>
          <a:lstStyle/>
          <a:p>
            <a:pPr indent="0" marL="0">
              <a:buNone/>
            </a:pPr>
            <a:r>
              <a:rPr lang="en-US" sz="1000" b="1" spc="100" kern="0" dirty="0">
                <a:solidFill>
                  <a:srgbClr val="C8CDD4"/>
                </a:solidFill>
                <a:latin typeface="Arial" pitchFamily="34" charset="0"/>
                <a:ea typeface="Arial" pitchFamily="34" charset="-122"/>
                <a:cs typeface="Arial" pitchFamily="34" charset="-120"/>
              </a:rPr>
              <a:t>WHAT COMES BACK</a:t>
            </a:r>
            <a:endParaRPr lang="en-US" sz="1000" dirty="0"/>
          </a:p>
        </p:txBody>
      </p:sp>
      <p:sp>
        <p:nvSpPr>
          <p:cNvPr id="12" name="Text 9"/>
          <p:cNvSpPr/>
          <p:nvPr/>
        </p:nvSpPr>
        <p:spPr>
          <a:xfrm>
            <a:off x="914400" y="3328416"/>
            <a:ext cx="4937760" cy="118872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“Members had mixed feedback about their visit — some positive comments and some complaints. Overall it was a fairly typical weekend.”</a:t>
            </a:r>
            <a:endParaRPr lang="en-US" sz="1200" dirty="0"/>
          </a:p>
        </p:txBody>
      </p:sp>
      <p:sp>
        <p:nvSpPr>
          <p:cNvPr id="13" name="Text 10"/>
          <p:cNvSpPr/>
          <p:nvPr/>
        </p:nvSpPr>
        <p:spPr>
          <a:xfrm>
            <a:off x="914400" y="5120640"/>
            <a:ext cx="4937760" cy="868680"/>
          </a:xfrm>
          <a:prstGeom prst="rect">
            <a:avLst/>
          </a:prstGeom>
          <a:noFill/>
          <a:ln/>
        </p:spPr>
        <p:txBody>
          <a:bodyPr wrap="square" lIns="0" tIns="0" rIns="0" bIns="0" rtlCol="0" anchor="t"/>
          <a:lstStyle/>
          <a:p>
            <a:pPr indent="0" marL="0">
              <a:lnSpc>
                <a:spcPct val="115000"/>
              </a:lnSpc>
              <a:buNone/>
            </a:pPr>
            <a:r>
              <a:rPr lang="en-US" sz="1150" b="1" i="1" dirty="0">
                <a:solidFill>
                  <a:srgbClr val="FCE4EA"/>
                </a:solidFill>
                <a:latin typeface="Arial" pitchFamily="34" charset="0"/>
                <a:ea typeface="Arial" pitchFamily="34" charset="-122"/>
                <a:cs typeface="Arial" pitchFamily="34" charset="-120"/>
              </a:rPr>
              <a:t>No audience. No purpose. No format. No priorities. No guard against invented claims.</a:t>
            </a:r>
            <a:endParaRPr lang="en-US" sz="1150" dirty="0"/>
          </a:p>
        </p:txBody>
      </p:sp>
      <p:sp>
        <p:nvSpPr>
          <p:cNvPr id="14" name="Shape 11"/>
          <p:cNvSpPr/>
          <p:nvPr/>
        </p:nvSpPr>
        <p:spPr>
          <a:xfrm>
            <a:off x="6355080" y="1956816"/>
            <a:ext cx="5193792" cy="4169664"/>
          </a:xfrm>
          <a:prstGeom prst="roundRect">
            <a:avLst>
              <a:gd name="adj" fmla="val 1974"/>
            </a:avLst>
          </a:prstGeom>
          <a:solidFill>
            <a:srgbClr val="F5F6F8"/>
          </a:solidFill>
          <a:ln w="12700">
            <a:solidFill>
              <a:srgbClr val="E7E9EE"/>
            </a:solidFill>
            <a:prstDash val="solid"/>
          </a:ln>
        </p:spPr>
      </p:sp>
      <p:sp>
        <p:nvSpPr>
          <p:cNvPr id="15" name="Text 12"/>
          <p:cNvSpPr/>
          <p:nvPr/>
        </p:nvSpPr>
        <p:spPr>
          <a:xfrm>
            <a:off x="6629400" y="2157984"/>
            <a:ext cx="4663440" cy="256032"/>
          </a:xfrm>
          <a:prstGeom prst="rect">
            <a:avLst/>
          </a:prstGeom>
          <a:noFill/>
          <a:ln/>
        </p:spPr>
        <p:txBody>
          <a:bodyPr wrap="square" lIns="0" tIns="0" rIns="0" bIns="0" rtlCol="0" anchor="ctr"/>
          <a:lstStyle/>
          <a:p>
            <a:pPr indent="0" marL="0">
              <a:buNone/>
            </a:pPr>
            <a:r>
              <a:rPr lang="en-US" sz="1100" b="1" spc="100" kern="0" dirty="0">
                <a:solidFill>
                  <a:srgbClr val="D31242"/>
                </a:solidFill>
                <a:latin typeface="Arial" pitchFamily="34" charset="0"/>
                <a:ea typeface="Arial" pitchFamily="34" charset="-122"/>
                <a:cs typeface="Arial" pitchFamily="34" charset="-120"/>
              </a:rPr>
              <a:t>OUR RUNNING EXAMPLE</a:t>
            </a:r>
            <a:endParaRPr lang="en-US" sz="1100" dirty="0"/>
          </a:p>
        </p:txBody>
      </p:sp>
      <p:sp>
        <p:nvSpPr>
          <p:cNvPr id="16" name="Text 13"/>
          <p:cNvSpPr/>
          <p:nvPr/>
        </p:nvSpPr>
        <p:spPr>
          <a:xfrm>
            <a:off x="6629400" y="2468880"/>
            <a:ext cx="4663440" cy="3566160"/>
          </a:xfrm>
          <a:prstGeom prst="rect">
            <a:avLst/>
          </a:prstGeom>
          <a:noFill/>
          <a:ln/>
        </p:spPr>
        <p:txBody>
          <a:bodyPr wrap="square" lIns="0" tIns="0" rIns="0" bIns="0" rtlCol="0" anchor="t"/>
          <a:lstStyle/>
          <a:p>
            <a:pPr indent="0" marL="0">
              <a:lnSpc>
                <a:spcPct val="112000"/>
              </a:lnSpc>
              <a:buNone/>
            </a:pPr>
            <a:r>
              <a:rPr lang="en-US" sz="1100" i="1" dirty="0">
                <a:solidFill>
                  <a:srgbClr val="5E6A78"/>
                </a:solidFill>
                <a:latin typeface="Arial" pitchFamily="34" charset="0"/>
                <a:ea typeface="Arial" pitchFamily="34" charset="-122"/>
                <a:cs typeface="Arial" pitchFamily="34" charset="-120"/>
              </a:rPr>
              <a:t>What it was asked to summarize — last weekend's survey, about 30 comments. Five of them:
</a:t>
            </a:r>
            <a:pPr indent="0" marL="0">
              <a:lnSpc>
                <a:spcPct val="112000"/>
              </a:lnSpc>
              <a:buNone/>
            </a:pPr>
            <a:r>
              <a:rPr lang="en-US" sz="1100" dirty="0">
                <a:solidFill>
                  <a:srgbClr val="1F2733"/>
                </a:solidFill>
                <a:latin typeface="Arial" pitchFamily="34" charset="0"/>
                <a:ea typeface="Arial" pitchFamily="34" charset="-122"/>
                <a:cs typeface="Arial" pitchFamily="34" charset="-120"/>
              </a:rPr>
              <a:t>“Waited 22 min at checkout — only 3 lanes open.”
“Rotisserie chicken is always fresh!”
“The app froze when I clipped the gas coupon.”
“Gas pump 4 is down again.”
“Wilted spinach and moldy berries in produce.”
</a:t>
            </a:r>
            <a:pPr indent="0" marL="0">
              <a:lnSpc>
                <a:spcPct val="112000"/>
              </a:lnSpc>
              <a:buNone/>
            </a:pPr>
            <a:r>
              <a:rPr lang="en-US" sz="1100" i="1" dirty="0">
                <a:solidFill>
                  <a:srgbClr val="B91C1C"/>
                </a:solidFill>
                <a:latin typeface="Arial" pitchFamily="34" charset="0"/>
                <a:ea typeface="Arial" pitchFamily="34" charset="-122"/>
                <a:cs typeface="Arial" pitchFamily="34" charset="-120"/>
              </a:rPr>
              <a:t>A safety issue, a staffing problem, a broken app — all flattened into “mixed feedback.”</a:t>
            </a:r>
            <a:endParaRPr lang="en-US" sz="110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ASKING</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CO-STAR: a practical checklist for a strong prompt</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C — Context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Relevant background and source information.</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O — Objective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What you want it to accomplish.</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S — Style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How it should be written or presented.</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T — Tone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voice it should use.</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A — Audience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Who will read or use the output.</a:t>
            </a:r>
            <a:endParaRPr lang="en-US" sz="1550" dirty="0"/>
          </a:p>
        </p:txBody>
      </p:sp>
      <p:sp>
        <p:nvSpPr>
          <p:cNvPr id="26" name="Shape 18"/>
          <p:cNvSpPr/>
          <p:nvPr/>
        </p:nvSpPr>
        <p:spPr>
          <a:xfrm>
            <a:off x="6172200" y="4745736"/>
            <a:ext cx="5349240" cy="1225296"/>
          </a:xfrm>
          <a:prstGeom prst="roundRect">
            <a:avLst>
              <a:gd name="adj" fmla="val 6716"/>
            </a:avLst>
          </a:prstGeom>
          <a:solidFill>
            <a:srgbClr val="F5F6F8"/>
          </a:solidFill>
          <a:ln w="12700">
            <a:solidFill>
              <a:srgbClr val="E7E9EE"/>
            </a:solidFill>
            <a:prstDash val="solid"/>
          </a:ln>
        </p:spPr>
      </p:sp>
      <p:sp>
        <p:nvSpPr>
          <p:cNvPr id="27" name="Shape 19"/>
          <p:cNvSpPr/>
          <p:nvPr/>
        </p:nvSpPr>
        <p:spPr>
          <a:xfrm>
            <a:off x="6446520" y="5129784"/>
            <a:ext cx="457200" cy="457200"/>
          </a:xfrm>
          <a:prstGeom prst="ellipse">
            <a:avLst/>
          </a:prstGeom>
          <a:solidFill>
            <a:srgbClr val="D31242"/>
          </a:solidFill>
          <a:ln/>
        </p:spPr>
      </p:sp>
      <p:pic>
        <p:nvPicPr>
          <p:cNvPr id="28" name="Image 6" descr="preencoded.png">    </p:cNvPr>
          <p:cNvPicPr>
            <a:picLocks noChangeAspect="1"/>
          </p:cNvPicPr>
          <p:nvPr/>
        </p:nvPicPr>
        <p:blipFill>
          <a:blip r:embed="rId7"/>
          <a:stretch>
            <a:fillRect/>
          </a:stretch>
        </p:blipFill>
        <p:spPr>
          <a:xfrm>
            <a:off x="6556248" y="5239512"/>
            <a:ext cx="237744" cy="237744"/>
          </a:xfrm>
          <a:prstGeom prst="rect">
            <a:avLst/>
          </a:prstGeom>
        </p:spPr>
      </p:pic>
      <p:sp>
        <p:nvSpPr>
          <p:cNvPr id="29" name="Text 20"/>
          <p:cNvSpPr/>
          <p:nvPr/>
        </p:nvSpPr>
        <p:spPr>
          <a:xfrm>
            <a:off x="708660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R — Response</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exact output structure you need.</a:t>
            </a:r>
            <a:endParaRPr lang="en-US" sz="1550" dirty="0"/>
          </a:p>
        </p:txBody>
      </p:sp>
      <p:sp>
        <p:nvSpPr>
          <p:cNvPr id="30" name="Text 2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CO-STAR</a:t>
            </a:r>
            <a:endParaRPr lang="en-US" sz="850" dirty="0"/>
          </a:p>
        </p:txBody>
      </p:sp>
      <p:sp>
        <p:nvSpPr>
          <p:cNvPr id="31" name="Text 2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32" name="Text 2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33" name="Text 24"/>
          <p:cNvSpPr/>
          <p:nvPr/>
        </p:nvSpPr>
        <p:spPr>
          <a:xfrm>
            <a:off x="640080" y="6053328"/>
            <a:ext cx="1088136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Not every prompt needs every element — use the ones that reduce ambiguity.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 — C · CONTEXT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Give it the background only you have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Useful context is the business situation, your role, the time period, background facts, approved source material, and known constraints — the things the model cannot know unless you say them.</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Relevant context helps. Unnecessary background does not — pick what the task needs.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PROMPT SO FAR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150" b="1" dirty="0">
                <a:solidFill>
                  <a:srgbClr val="B91C1C"/>
                </a:solidFill>
                <a:latin typeface="Arial" pitchFamily="34" charset="0"/>
                <a:ea typeface="Arial" pitchFamily="34" charset="-122"/>
                <a:cs typeface="Arial" pitchFamily="34" charset="-120"/>
              </a:rPr>
              <a:t>✗  </a:t>
            </a:r>
            <a:pPr indent="0" marL="0">
              <a:lnSpc>
                <a:spcPct val="115000"/>
              </a:lnSpc>
              <a:buNone/>
            </a:pPr>
            <a:r>
              <a:rPr lang="en-US" sz="1150" i="1" dirty="0">
                <a:solidFill>
                  <a:srgbClr val="5E6A78"/>
                </a:solidFill>
                <a:latin typeface="Arial" pitchFamily="34" charset="0"/>
                <a:ea typeface="Arial" pitchFamily="34" charset="-122"/>
                <a:cs typeface="Arial" pitchFamily="34" charset="-120"/>
              </a:rPr>
              <a:t>“Analyze this.”
</a:t>
            </a:r>
            <a:pPr indent="0" marL="0">
              <a:lnSpc>
                <a:spcPct val="115000"/>
              </a:lnSpc>
              <a:buNone/>
            </a:pPr>
            <a:r>
              <a:rPr lang="en-US" sz="1150" b="1" dirty="0">
                <a:solidFill>
                  <a:srgbClr val="15803D"/>
                </a:solidFill>
                <a:latin typeface="Arial" pitchFamily="34" charset="0"/>
                <a:ea typeface="Arial" pitchFamily="34" charset="-122"/>
                <a:cs typeface="Arial" pitchFamily="34" charset="-120"/>
              </a:rPr>
              <a:t>You are reviewing 30 anonymized comments from last weekend's club survey.</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CONTEXT</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12" name="Text 9"/>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 — O · OBJECTIVE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State the task as an action</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objective answers one question: what should the model do? Start with an action word — summarize, compare, classify, rewrite, identify, prioritize, draft, extract.</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If you don't name the action, the model picks one for you — and it may not be the one you needed.</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PROMPT SO FAR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150" b="1" dirty="0">
                <a:solidFill>
                  <a:srgbClr val="B91C1C"/>
                </a:solidFill>
                <a:latin typeface="Arial" pitchFamily="34" charset="0"/>
                <a:ea typeface="Arial" pitchFamily="34" charset="-122"/>
                <a:cs typeface="Arial" pitchFamily="34" charset="-120"/>
              </a:rPr>
              <a:t>✗  </a:t>
            </a:r>
            <a:pPr indent="0" marL="0">
              <a:lnSpc>
                <a:spcPct val="115000"/>
              </a:lnSpc>
              <a:buNone/>
            </a:pPr>
            <a:r>
              <a:rPr lang="en-US" sz="1150" i="1" dirty="0">
                <a:solidFill>
                  <a:srgbClr val="5E6A78"/>
                </a:solidFill>
                <a:latin typeface="Arial" pitchFamily="34" charset="0"/>
                <a:ea typeface="Arial" pitchFamily="34" charset="-122"/>
                <a:cs typeface="Arial" pitchFamily="34" charset="-120"/>
              </a:rPr>
              <a:t>“Help me with this feedback.”
</a:t>
            </a:r>
            <a:pPr indent="0" marL="0">
              <a:lnSpc>
                <a:spcPct val="115000"/>
              </a:lnSpc>
              <a:buNone/>
            </a:pPr>
            <a:r>
              <a:rPr lang="en-US" sz="1150" dirty="0">
                <a:solidFill>
                  <a:srgbClr val="1F2733"/>
                </a:solidFill>
                <a:latin typeface="Arial" pitchFamily="34" charset="0"/>
                <a:ea typeface="Arial" pitchFamily="34" charset="-122"/>
                <a:cs typeface="Arial" pitchFamily="34" charset="-120"/>
              </a:rPr>
              <a:t>You are reviewing 30 anonymized comments from last weekend's club survey. </a:t>
            </a:r>
            <a:pPr indent="0" marL="0">
              <a:lnSpc>
                <a:spcPct val="115000"/>
              </a:lnSpc>
              <a:buNone/>
            </a:pPr>
            <a:r>
              <a:rPr lang="en-US" sz="1150" b="1" dirty="0">
                <a:solidFill>
                  <a:srgbClr val="15803D"/>
                </a:solidFill>
                <a:latin typeface="Arial" pitchFamily="34" charset="0"/>
                <a:ea typeface="Arial" pitchFamily="34" charset="-122"/>
                <a:cs typeface="Arial" pitchFamily="34" charset="-120"/>
              </a:rPr>
              <a:t>Group the comments into themes and count each.</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OBJECTIVE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12" name="Text 9"/>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 — A · AUDIENCE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Name who will use the answer</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Audience is the element that quietly decides the others. A busy club manager needs different output than an executive, a frontline team member, or a vendor — different depth, different vocabulary, different length.</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Name the reader and the model stops writing for nobody. It is the highest-leverage single sentence you can add.</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PROMPT SO FAR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150" b="1" dirty="0">
                <a:solidFill>
                  <a:srgbClr val="B91C1C"/>
                </a:solidFill>
                <a:latin typeface="Arial" pitchFamily="34" charset="0"/>
                <a:ea typeface="Arial" pitchFamily="34" charset="-122"/>
                <a:cs typeface="Arial" pitchFamily="34" charset="-120"/>
              </a:rPr>
              <a:t>✗  </a:t>
            </a:r>
            <a:pPr indent="0" marL="0">
              <a:lnSpc>
                <a:spcPct val="115000"/>
              </a:lnSpc>
              <a:buNone/>
            </a:pPr>
            <a:r>
              <a:rPr lang="en-US" sz="1150" i="1" dirty="0">
                <a:solidFill>
                  <a:srgbClr val="5E6A78"/>
                </a:solidFill>
                <a:latin typeface="Arial" pitchFamily="34" charset="0"/>
                <a:ea typeface="Arial" pitchFamily="34" charset="-122"/>
                <a:cs typeface="Arial" pitchFamily="34" charset="-120"/>
              </a:rPr>
              <a:t>(no reader named — it writes for nobody)
</a:t>
            </a:r>
            <a:pPr indent="0" marL="0">
              <a:lnSpc>
                <a:spcPct val="115000"/>
              </a:lnSpc>
              <a:buNone/>
            </a:pPr>
            <a:r>
              <a:rPr lang="en-US" sz="1150" dirty="0">
                <a:solidFill>
                  <a:srgbClr val="1F2733"/>
                </a:solidFill>
                <a:latin typeface="Arial" pitchFamily="34" charset="0"/>
                <a:ea typeface="Arial" pitchFamily="34" charset="-122"/>
                <a:cs typeface="Arial" pitchFamily="34" charset="-120"/>
              </a:rPr>
              <a:t>You are reviewing 30 anonymized comments from last weekend's club survey. Group the comments into themes and count each. </a:t>
            </a:r>
            <a:pPr indent="0" marL="0">
              <a:lnSpc>
                <a:spcPct val="115000"/>
              </a:lnSpc>
              <a:buNone/>
            </a:pPr>
            <a:r>
              <a:rPr lang="en-US" sz="1150" b="1" dirty="0">
                <a:solidFill>
                  <a:srgbClr val="15803D"/>
                </a:solidFill>
                <a:latin typeface="Arial" pitchFamily="34" charset="0"/>
                <a:ea typeface="Arial" pitchFamily="34" charset="-122"/>
                <a:cs typeface="Arial" pitchFamily="34" charset="-120"/>
              </a:rPr>
              <a:t>Write for a busy club manager.</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AUDIENCE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12" name="Text 9"/>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 — S &amp; T · STYLE AND TONE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Choose the shape and the voice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Style is the shape — concise bullets, an executive summary, a table, a step-by-step guide. Tone is the voice — neutral, professional, supportive, urgent.</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Because you named the audience, both usually follow: a busy club manager implies concise and neutral. Say it anyway — one short sentence removes the last of the guessing.</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PROMPT SO FAR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100" b="1" dirty="0">
                <a:solidFill>
                  <a:srgbClr val="B91C1C"/>
                </a:solidFill>
                <a:latin typeface="Arial" pitchFamily="34" charset="0"/>
                <a:ea typeface="Arial" pitchFamily="34" charset="-122"/>
                <a:cs typeface="Arial" pitchFamily="34" charset="-120"/>
              </a:rPr>
              <a:t>✗  </a:t>
            </a:r>
            <a:pPr indent="0" marL="0">
              <a:lnSpc>
                <a:spcPct val="115000"/>
              </a:lnSpc>
              <a:buNone/>
            </a:pPr>
            <a:r>
              <a:rPr lang="en-US" sz="1100" i="1" dirty="0">
                <a:solidFill>
                  <a:srgbClr val="5E6A78"/>
                </a:solidFill>
                <a:latin typeface="Arial" pitchFamily="34" charset="0"/>
                <a:ea typeface="Arial" pitchFamily="34" charset="-122"/>
                <a:cs typeface="Arial" pitchFamily="34" charset="-120"/>
              </a:rPr>
              <a:t>“Make it sound professional.”
</a:t>
            </a:r>
            <a:pPr indent="0" marL="0">
              <a:lnSpc>
                <a:spcPct val="115000"/>
              </a:lnSpc>
              <a:buNone/>
            </a:pPr>
            <a:r>
              <a:rPr lang="en-US" sz="1100" dirty="0">
                <a:solidFill>
                  <a:srgbClr val="1F2733"/>
                </a:solidFill>
                <a:latin typeface="Arial" pitchFamily="34" charset="0"/>
                <a:ea typeface="Arial" pitchFamily="34" charset="-122"/>
                <a:cs typeface="Arial" pitchFamily="34" charset="-120"/>
              </a:rPr>
              <a:t>You are reviewing 30 anonymized comments from last weekend's club survey. Group the comments into themes and count each. Write for a busy club manager. </a:t>
            </a:r>
            <a:pPr indent="0" marL="0">
              <a:lnSpc>
                <a:spcPct val="115000"/>
              </a:lnSpc>
              <a:buNone/>
            </a:pPr>
            <a:r>
              <a:rPr lang="en-US" sz="1100" b="1" dirty="0">
                <a:solidFill>
                  <a:srgbClr val="15803D"/>
                </a:solidFill>
                <a:latin typeface="Arial" pitchFamily="34" charset="0"/>
                <a:ea typeface="Arial" pitchFamily="34" charset="-122"/>
                <a:cs typeface="Arial" pitchFamily="34" charset="-120"/>
              </a:rPr>
              <a:t>Keep it concise and neutral — no technical terms.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STYLE &amp; TONE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12" name="Text 9"/>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 — R · RESPONSE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for the exact output you need</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Say precisely what should come back: five bullets, a table with named columns, an email under 150 words, three recommendations with a reason for each, a summary followed by next actions.</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For business use this is the highest-payoff element — the difference between output you reformat and output you use. And everything you specify here is checkable later.</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PROMPT SO FAR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050" b="1" dirty="0">
                <a:solidFill>
                  <a:srgbClr val="B91C1C"/>
                </a:solidFill>
                <a:latin typeface="Arial" pitchFamily="34" charset="0"/>
                <a:ea typeface="Arial" pitchFamily="34" charset="-122"/>
                <a:cs typeface="Arial" pitchFamily="34" charset="-120"/>
              </a:rPr>
              <a:t>✗  </a:t>
            </a:r>
            <a:pPr indent="0" marL="0">
              <a:lnSpc>
                <a:spcPct val="115000"/>
              </a:lnSpc>
              <a:buNone/>
            </a:pPr>
            <a:r>
              <a:rPr lang="en-US" sz="1050" i="1" dirty="0">
                <a:solidFill>
                  <a:srgbClr val="5E6A78"/>
                </a:solidFill>
                <a:latin typeface="Arial" pitchFamily="34" charset="0"/>
                <a:ea typeface="Arial" pitchFamily="34" charset="-122"/>
                <a:cs typeface="Arial" pitchFamily="34" charset="-120"/>
              </a:rPr>
              <a:t>“Summarize the feedback.”
</a:t>
            </a:r>
            <a:pPr indent="0" marL="0">
              <a:lnSpc>
                <a:spcPct val="115000"/>
              </a:lnSpc>
              <a:buNone/>
            </a:pPr>
            <a:r>
              <a:rPr lang="en-US" sz="1050" dirty="0">
                <a:solidFill>
                  <a:srgbClr val="1F2733"/>
                </a:solidFill>
                <a:latin typeface="Arial" pitchFamily="34" charset="0"/>
                <a:ea typeface="Arial" pitchFamily="34" charset="-122"/>
                <a:cs typeface="Arial" pitchFamily="34" charset="-120"/>
              </a:rPr>
              <a:t>You are reviewing 30 anonymized comments from last weekend's club survey. Group the comments into themes and count each. Write for a busy club manager. Keep it concise and neutral — no technical terms. </a:t>
            </a:r>
            <a:pPr indent="0" marL="0">
              <a:lnSpc>
                <a:spcPct val="115000"/>
              </a:lnSpc>
              <a:buNone/>
            </a:pPr>
            <a:r>
              <a:rPr lang="en-US" sz="1050" b="1" dirty="0">
                <a:solidFill>
                  <a:srgbClr val="15803D"/>
                </a:solidFill>
                <a:latin typeface="Arial" pitchFamily="34" charset="0"/>
                <a:ea typeface="Arial" pitchFamily="34" charset="-122"/>
                <a:cs typeface="Arial" pitchFamily="34" charset="-120"/>
              </a:rPr>
              <a:t>Return at most five bullets, and put any potential safety issue first.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RESPONSE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12" name="Text 9"/>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2 · COMPOSING — THE PAYOFF</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Run it — the prompt you just built</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Five slides, six elements, one prompt — assembled in front of you, plus one guard line at the end that the next stage unpacks. Same batch, same model; the only thing that changed is what you told it.</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WHERE WE STARTED (SLIDE 6)</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Summarize this feedback.</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Members had mixed feedback about their visit — some positive comments and some complaints. Overall it was a fairly typical weekend.</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You gave it six words — no role, no reader, no shape to aim at. It hedged because guessing was all it could do.</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PROMPT YOU BUILT</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You are reviewing 30 anonymized comments from last weekend's club survey. Group the comments into themes and count each. Write for a busy club manager. Keep it concise and neutral — no technical terms. Return at most five bullets, and put any potential safety issue first. Do not infer facts not stated in the comments.</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Safety: gas pump 4 down — 1.</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Checkout waits — 12.</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Produce quality — 7.</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Fresh food — 5 (+).</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App issues — 4.</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Each element handed over a fact only you knew — and the guard line closed the door on invented claims.</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THE PAYOFF</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CHECKPOINT · QUICK CHECK</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Which elements are missing?</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7" name="Text 4"/>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Two minutes, with a neighbour: check this prompt against CO-STAR before we move on.</a:t>
            </a:r>
            <a:endParaRPr lang="en-US" sz="1300" dirty="0"/>
          </a:p>
        </p:txBody>
      </p:sp>
      <p:sp>
        <p:nvSpPr>
          <p:cNvPr id="8" name="Shape 5"/>
          <p:cNvSpPr/>
          <p:nvPr/>
        </p:nvSpPr>
        <p:spPr>
          <a:xfrm>
            <a:off x="640080" y="1956816"/>
            <a:ext cx="5486400" cy="3108960"/>
          </a:xfrm>
          <a:prstGeom prst="roundRect">
            <a:avLst>
              <a:gd name="adj" fmla="val 2647"/>
            </a:avLst>
          </a:prstGeom>
          <a:solidFill>
            <a:srgbClr val="1F2733"/>
          </a:solidFill>
          <a:ln/>
          <a:effectLst>
            <a:outerShdw sx="100000" sy="100000" kx="0" ky="0" algn="bl" rotWithShape="0" blurRad="88900" dist="38100" dir="5400000">
              <a:srgbClr val="1F2733">
                <a:alpha val="10000"/>
              </a:srgbClr>
            </a:outerShdw>
          </a:effectLst>
        </p:spPr>
      </p:sp>
      <p:sp>
        <p:nvSpPr>
          <p:cNvPr id="9" name="Text 6"/>
          <p:cNvSpPr/>
          <p:nvPr/>
        </p:nvSpPr>
        <p:spPr>
          <a:xfrm>
            <a:off x="914400" y="2157984"/>
            <a:ext cx="4937760" cy="256032"/>
          </a:xfrm>
          <a:prstGeom prst="rect">
            <a:avLst/>
          </a:prstGeom>
          <a:noFill/>
          <a:ln/>
        </p:spPr>
        <p:txBody>
          <a:bodyPr wrap="square" lIns="0" tIns="0" rIns="0" bIns="0" rtlCol="0" anchor="ctr"/>
          <a:lstStyle/>
          <a:p>
            <a:pPr indent="0" marL="0">
              <a:buNone/>
            </a:pPr>
            <a:r>
              <a:rPr lang="en-US" sz="1100" b="1" spc="100" kern="0" dirty="0">
                <a:solidFill>
                  <a:srgbClr val="FCE4EA"/>
                </a:solidFill>
                <a:latin typeface="Arial" pitchFamily="34" charset="0"/>
                <a:ea typeface="Arial" pitchFamily="34" charset="-122"/>
                <a:cs typeface="Arial" pitchFamily="34" charset="-120"/>
              </a:rPr>
              <a:t>▶  THE PROMPT TO CHECK</a:t>
            </a:r>
            <a:endParaRPr lang="en-US" sz="1100" dirty="0"/>
          </a:p>
        </p:txBody>
      </p:sp>
      <p:sp>
        <p:nvSpPr>
          <p:cNvPr id="10" name="Text 7"/>
          <p:cNvSpPr/>
          <p:nvPr/>
        </p:nvSpPr>
        <p:spPr>
          <a:xfrm>
            <a:off x="914400" y="2523744"/>
            <a:ext cx="4937760" cy="731520"/>
          </a:xfrm>
          <a:prstGeom prst="rect">
            <a:avLst/>
          </a:prstGeom>
          <a:noFill/>
          <a:ln/>
        </p:spPr>
        <p:txBody>
          <a:bodyPr wrap="square" lIns="0" tIns="0" rIns="0" bIns="0" rtlCol="0" anchor="t"/>
          <a:lstStyle/>
          <a:p>
            <a:pPr indent="0" marL="0">
              <a:lnSpc>
                <a:spcPct val="115000"/>
              </a:lnSpc>
              <a:buNone/>
            </a:pPr>
            <a:r>
              <a:rPr lang="en-US" sz="1400" i="1" dirty="0">
                <a:solidFill>
                  <a:srgbClr val="FFFFFF"/>
                </a:solidFill>
                <a:latin typeface="Arial" pitchFamily="34" charset="0"/>
                <a:ea typeface="Arial" pitchFamily="34" charset="-122"/>
                <a:cs typeface="Arial" pitchFamily="34" charset="-120"/>
              </a:rPr>
              <a:t>“Write a short summary of the produce complaints for me.”</a:t>
            </a:r>
            <a:endParaRPr lang="en-US" sz="1400" dirty="0"/>
          </a:p>
        </p:txBody>
      </p:sp>
      <p:sp>
        <p:nvSpPr>
          <p:cNvPr id="11" name="Text 8"/>
          <p:cNvSpPr/>
          <p:nvPr/>
        </p:nvSpPr>
        <p:spPr>
          <a:xfrm>
            <a:off x="914400" y="4389120"/>
            <a:ext cx="4937760" cy="457200"/>
          </a:xfrm>
          <a:prstGeom prst="rect">
            <a:avLst/>
          </a:prstGeom>
          <a:noFill/>
          <a:ln/>
        </p:spPr>
        <p:txBody>
          <a:bodyPr wrap="square" lIns="0" tIns="0" rIns="0" bIns="0" rtlCol="0" anchor="t"/>
          <a:lstStyle/>
          <a:p>
            <a:pPr indent="0" marL="0">
              <a:buNone/>
            </a:pPr>
            <a:r>
              <a:rPr lang="en-US" sz="1200" b="1" dirty="0">
                <a:solidFill>
                  <a:srgbClr val="FCE4EA"/>
                </a:solidFill>
                <a:latin typeface="Arial" pitchFamily="34" charset="0"/>
                <a:ea typeface="Arial" pitchFamily="34" charset="-122"/>
                <a:cs typeface="Arial" pitchFamily="34" charset="-120"/>
              </a:rPr>
              <a:t>Go letter by letter: C? O? S? T? A? R?</a:t>
            </a:r>
            <a:endParaRPr lang="en-US" sz="1200" dirty="0"/>
          </a:p>
        </p:txBody>
      </p:sp>
      <p:sp>
        <p:nvSpPr>
          <p:cNvPr id="12" name="Shape 9"/>
          <p:cNvSpPr/>
          <p:nvPr/>
        </p:nvSpPr>
        <p:spPr>
          <a:xfrm>
            <a:off x="6355080" y="1956816"/>
            <a:ext cx="5193792" cy="3108960"/>
          </a:xfrm>
          <a:prstGeom prst="roundRect">
            <a:avLst>
              <a:gd name="adj" fmla="val 2647"/>
            </a:avLst>
          </a:prstGeom>
          <a:solidFill>
            <a:srgbClr val="F5F6F8"/>
          </a:solidFill>
          <a:ln w="12700">
            <a:solidFill>
              <a:srgbClr val="E7E9EE"/>
            </a:solidFill>
            <a:prstDash val="solid"/>
          </a:ln>
        </p:spPr>
      </p:sp>
      <p:sp>
        <p:nvSpPr>
          <p:cNvPr id="13" name="Text 10"/>
          <p:cNvSpPr/>
          <p:nvPr/>
        </p:nvSpPr>
        <p:spPr>
          <a:xfrm>
            <a:off x="6629400" y="2157984"/>
            <a:ext cx="4663440" cy="256032"/>
          </a:xfrm>
          <a:prstGeom prst="rect">
            <a:avLst/>
          </a:prstGeom>
          <a:noFill/>
          <a:ln/>
        </p:spPr>
        <p:txBody>
          <a:bodyPr wrap="square" lIns="0" tIns="0" rIns="0" bIns="0" rtlCol="0" anchor="ctr"/>
          <a:lstStyle/>
          <a:p>
            <a:pPr indent="0" marL="0">
              <a:buNone/>
            </a:pPr>
            <a:r>
              <a:rPr lang="en-US" sz="1100" b="1" spc="100" kern="0" dirty="0">
                <a:solidFill>
                  <a:srgbClr val="D31242"/>
                </a:solidFill>
                <a:latin typeface="Arial" pitchFamily="34" charset="0"/>
                <a:ea typeface="Arial" pitchFamily="34" charset="-122"/>
                <a:cs typeface="Arial" pitchFamily="34" charset="-120"/>
              </a:rPr>
              <a:t>CHECK IT AGAINST CO-STAR</a:t>
            </a:r>
            <a:endParaRPr lang="en-US" sz="1100" dirty="0"/>
          </a:p>
        </p:txBody>
      </p:sp>
      <p:sp>
        <p:nvSpPr>
          <p:cNvPr id="14" name="Text 11"/>
          <p:cNvSpPr/>
          <p:nvPr/>
        </p:nvSpPr>
        <p:spPr>
          <a:xfrm>
            <a:off x="6629400" y="2505456"/>
            <a:ext cx="4663440" cy="2423160"/>
          </a:xfrm>
          <a:prstGeom prst="rect">
            <a:avLst/>
          </a:prstGeom>
          <a:noFill/>
          <a:ln/>
        </p:spPr>
        <p:txBody>
          <a:bodyPr wrap="square" lIns="0" tIns="0" rIns="0" bIns="0" rtlCol="0" anchor="t"/>
          <a:lstStyle/>
          <a:p>
            <a:pPr indent="0" marL="0">
              <a:lnSpc>
                <a:spcPct val="125000"/>
              </a:lnSpc>
              <a:buNone/>
            </a:pPr>
            <a:r>
              <a:rPr lang="en-US" sz="1150" b="1" dirty="0">
                <a:solidFill>
                  <a:srgbClr val="D31242"/>
                </a:solidFill>
                <a:latin typeface="Arial" pitchFamily="34" charset="0"/>
                <a:ea typeface="Arial" pitchFamily="34" charset="-122"/>
                <a:cs typeface="Arial" pitchFamily="34" charset="-120"/>
              </a:rPr>
              <a:t>C</a:t>
            </a:r>
            <a:pPr indent="0" marL="0">
              <a:lnSpc>
                <a:spcPct val="125000"/>
              </a:lnSpc>
              <a:buNone/>
            </a:pPr>
            <a:r>
              <a:rPr lang="en-US" sz="1150" dirty="0">
                <a:solidFill>
                  <a:srgbClr val="3A4452"/>
                </a:solidFill>
                <a:latin typeface="Arial" pitchFamily="34" charset="0"/>
                <a:ea typeface="Arial" pitchFamily="34" charset="-122"/>
                <a:cs typeface="Arial" pitchFamily="34" charset="-120"/>
              </a:rPr>
              <a:t> — which comments? from when? how many?
</a:t>
            </a:r>
            <a:pPr indent="0" marL="0">
              <a:lnSpc>
                <a:spcPct val="125000"/>
              </a:lnSpc>
              <a:buNone/>
            </a:pPr>
            <a:r>
              <a:rPr lang="en-US" sz="1150" b="1" dirty="0">
                <a:solidFill>
                  <a:srgbClr val="D31242"/>
                </a:solidFill>
                <a:latin typeface="Arial" pitchFamily="34" charset="0"/>
                <a:ea typeface="Arial" pitchFamily="34" charset="-122"/>
                <a:cs typeface="Arial" pitchFamily="34" charset="-120"/>
              </a:rPr>
              <a:t>O</a:t>
            </a:r>
            <a:pPr indent="0" marL="0">
              <a:lnSpc>
                <a:spcPct val="125000"/>
              </a:lnSpc>
              <a:buNone/>
            </a:pPr>
            <a:r>
              <a:rPr lang="en-US" sz="1150" dirty="0">
                <a:solidFill>
                  <a:srgbClr val="3A4452"/>
                </a:solidFill>
                <a:latin typeface="Arial" pitchFamily="34" charset="0"/>
                <a:ea typeface="Arial" pitchFamily="34" charset="-122"/>
                <a:cs typeface="Arial" pitchFamily="34" charset="-120"/>
              </a:rPr>
              <a:t> — “summary” is an action… of what, for what decision?
</a:t>
            </a:r>
            <a:pPr indent="0" marL="0">
              <a:lnSpc>
                <a:spcPct val="125000"/>
              </a:lnSpc>
              <a:buNone/>
            </a:pPr>
            <a:r>
              <a:rPr lang="en-US" sz="1150" b="1" dirty="0">
                <a:solidFill>
                  <a:srgbClr val="D31242"/>
                </a:solidFill>
                <a:latin typeface="Arial" pitchFamily="34" charset="0"/>
                <a:ea typeface="Arial" pitchFamily="34" charset="-122"/>
                <a:cs typeface="Arial" pitchFamily="34" charset="-120"/>
              </a:rPr>
              <a:t>S / T</a:t>
            </a:r>
            <a:pPr indent="0" marL="0">
              <a:lnSpc>
                <a:spcPct val="125000"/>
              </a:lnSpc>
              <a:buNone/>
            </a:pPr>
            <a:r>
              <a:rPr lang="en-US" sz="1150" dirty="0">
                <a:solidFill>
                  <a:srgbClr val="3A4452"/>
                </a:solidFill>
                <a:latin typeface="Arial" pitchFamily="34" charset="0"/>
                <a:ea typeface="Arial" pitchFamily="34" charset="-122"/>
                <a:cs typeface="Arial" pitchFamily="34" charset="-120"/>
              </a:rPr>
              <a:t> — shape and voice unspecified.
</a:t>
            </a:r>
            <a:pPr indent="0" marL="0">
              <a:lnSpc>
                <a:spcPct val="125000"/>
              </a:lnSpc>
              <a:buNone/>
            </a:pPr>
            <a:r>
              <a:rPr lang="en-US" sz="1150" b="1" dirty="0">
                <a:solidFill>
                  <a:srgbClr val="D31242"/>
                </a:solidFill>
                <a:latin typeface="Arial" pitchFamily="34" charset="0"/>
                <a:ea typeface="Arial" pitchFamily="34" charset="-122"/>
                <a:cs typeface="Arial" pitchFamily="34" charset="-120"/>
              </a:rPr>
              <a:t>A</a:t>
            </a:r>
            <a:pPr indent="0" marL="0">
              <a:lnSpc>
                <a:spcPct val="125000"/>
              </a:lnSpc>
              <a:buNone/>
            </a:pPr>
            <a:r>
              <a:rPr lang="en-US" sz="1150" dirty="0">
                <a:solidFill>
                  <a:srgbClr val="3A4452"/>
                </a:solidFill>
                <a:latin typeface="Arial" pitchFamily="34" charset="0"/>
                <a:ea typeface="Arial" pitchFamily="34" charset="-122"/>
                <a:cs typeface="Arial" pitchFamily="34" charset="-120"/>
              </a:rPr>
              <a:t> — “for me”: who are you, and who reads it next?
</a:t>
            </a:r>
            <a:pPr indent="0" marL="0">
              <a:lnSpc>
                <a:spcPct val="125000"/>
              </a:lnSpc>
              <a:buNone/>
            </a:pPr>
            <a:r>
              <a:rPr lang="en-US" sz="1150" b="1" dirty="0">
                <a:solidFill>
                  <a:srgbClr val="D31242"/>
                </a:solidFill>
                <a:latin typeface="Arial" pitchFamily="34" charset="0"/>
                <a:ea typeface="Arial" pitchFamily="34" charset="-122"/>
                <a:cs typeface="Arial" pitchFamily="34" charset="-120"/>
              </a:rPr>
              <a:t>R</a:t>
            </a:r>
            <a:pPr indent="0" marL="0">
              <a:lnSpc>
                <a:spcPct val="125000"/>
              </a:lnSpc>
              <a:buNone/>
            </a:pPr>
            <a:r>
              <a:rPr lang="en-US" sz="1150" dirty="0">
                <a:solidFill>
                  <a:srgbClr val="3A4452"/>
                </a:solidFill>
                <a:latin typeface="Arial" pitchFamily="34" charset="0"/>
                <a:ea typeface="Arial" pitchFamily="34" charset="-122"/>
                <a:cs typeface="Arial" pitchFamily="34" charset="-120"/>
              </a:rPr>
              <a:t> — “short”: how short? bullets? what must it include?</a:t>
            </a:r>
            <a:endParaRPr lang="en-US" sz="1150" dirty="0"/>
          </a:p>
        </p:txBody>
      </p:sp>
      <p:sp>
        <p:nvSpPr>
          <p:cNvPr id="15" name="Shape 12"/>
          <p:cNvSpPr/>
          <p:nvPr/>
        </p:nvSpPr>
        <p:spPr>
          <a:xfrm>
            <a:off x="640080" y="5303520"/>
            <a:ext cx="10881360" cy="777240"/>
          </a:xfrm>
          <a:prstGeom prst="roundRect">
            <a:avLst>
              <a:gd name="adj" fmla="val 10588"/>
            </a:avLst>
          </a:prstGeom>
          <a:solidFill>
            <a:srgbClr val="DCFCE7"/>
          </a:solidFill>
          <a:ln/>
        </p:spPr>
      </p:sp>
      <p:sp>
        <p:nvSpPr>
          <p:cNvPr id="16" name="Text 13"/>
          <p:cNvSpPr/>
          <p:nvPr/>
        </p:nvSpPr>
        <p:spPr>
          <a:xfrm>
            <a:off x="914400" y="5303520"/>
            <a:ext cx="10332720" cy="777240"/>
          </a:xfrm>
          <a:prstGeom prst="rect">
            <a:avLst/>
          </a:prstGeom>
          <a:noFill/>
          <a:ln/>
        </p:spPr>
        <p:txBody>
          <a:bodyPr wrap="square" lIns="0" tIns="0" rIns="0" bIns="0" rtlCol="0" anchor="ctr"/>
          <a:lstStyle/>
          <a:p>
            <a:pPr indent="0" marL="0">
              <a:lnSpc>
                <a:spcPct val="110000"/>
              </a:lnSpc>
              <a:buNone/>
            </a:pPr>
            <a:r>
              <a:rPr lang="en-US" sz="1200" b="1" dirty="0">
                <a:solidFill>
                  <a:srgbClr val="15803D"/>
                </a:solidFill>
                <a:latin typeface="Arial" pitchFamily="34" charset="0"/>
                <a:ea typeface="Arial" pitchFamily="34" charset="-122"/>
                <a:cs typeface="Arial" pitchFamily="34" charset="-120"/>
              </a:rPr>
              <a:t>The takeaway: </a:t>
            </a:r>
            <a:pPr indent="0" marL="0">
              <a:lnSpc>
                <a:spcPct val="110000"/>
              </a:lnSpc>
              <a:buNone/>
            </a:pPr>
            <a:r>
              <a:rPr lang="en-US" sz="1200" dirty="0">
                <a:solidFill>
                  <a:srgbClr val="1F2733"/>
                </a:solidFill>
                <a:latin typeface="Arial" pitchFamily="34" charset="0"/>
                <a:ea typeface="Arial" pitchFamily="34" charset="-122"/>
                <a:cs typeface="Arial" pitchFamily="34" charset="-120"/>
              </a:rPr>
              <a:t>a prompt can look reasonable and still leave almost everything to guesswork. The checklist finds the gaps in seconds — that's why it's a checklist.</a:t>
            </a:r>
            <a:endParaRPr lang="en-US" sz="120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CHECKPOINT</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3 · DIRECTING — FIRST STEPS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Your prompt is built — now reality pushes back</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Messy input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Long walls of text blur your task into the material → label the parts.</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Missing facts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It fills gaps with confident guesses → ground it in the source.</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Format drift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Descriptions of a format get ignored → show an example.</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Judgment calls</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It can't guess your priorities → give decision criteria.</a:t>
            </a:r>
            <a:endParaRPr lang="en-US" sz="155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DIRECTING</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4" name="Text 17"/>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
        <p:nvSpPr>
          <p:cNvPr id="25" name="Text 18"/>
          <p:cNvSpPr/>
          <p:nvPr/>
        </p:nvSpPr>
        <p:spPr>
          <a:xfrm>
            <a:off x="640080" y="6053328"/>
            <a:ext cx="10881360" cy="274320"/>
          </a:xfrm>
          <a:prstGeom prst="rect">
            <a:avLst/>
          </a:prstGeom>
          <a:noFill/>
          <a:ln/>
        </p:spPr>
        <p:txBody>
          <a:bodyPr wrap="square" lIns="0" tIns="0" rIns="0" bIns="0" rtlCol="0" anchor="ctr"/>
          <a:lstStyle/>
          <a:p>
            <a:pPr indent="0" marL="0">
              <a:buNone/>
            </a:pPr>
            <a:r>
              <a:rPr lang="en-US" sz="1150" i="1" dirty="0">
                <a:solidFill>
                  <a:srgbClr val="5E6A78"/>
                </a:solidFill>
                <a:latin typeface="Arial" pitchFamily="34" charset="0"/>
                <a:ea typeface="Arial" pitchFamily="34" charset="-122"/>
                <a:cs typeface="Arial" pitchFamily="34" charset="-120"/>
              </a:rPr>
              <a:t>Four situations, four moves — one slide each. This is the start of Directing; the Intermediate module goes deeper on every one.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3 · DIRECTING — SEPARATE TASK FROM MATERIAL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Label what's instruction and what's material</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When the input is long or messy, your task can blur into the material — so label the parts. Plain headings work: TASK, REQUIREMENTS, COMMENTS, OUTPUT. The exact words matter less than the separation.</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ONE BIG BLOB</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Group these into themes and count them. waited 22 min at checkout… chicken always fresh… pump 4 down… (+25 more)</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Sure — you'd like me to group and count these. The first few mention checkout waits and the rotisserie chicken, which sound positive overall…</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With no boundary, your task and the comments blur into one wall of text — it can't tell orders from material.</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CLEARLY LABELLED</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TASK — group the comments into themes; count each.</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REQUIREMENTS — flag safety concerns; do not infer what isn't stated.</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COMMENTS — (the 30 pasted here)</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OUTPUT — theme, count, example quote, suggested follow-up.</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Gas pump — 1 — SAFETY — escalate today</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Checkout waits — 12 — 'only 3 lanes open' — staffing review</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Produce quality — 7 — 'wilted spinach' — check rotation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App issues — 4 — 'froze on the coupon' — report to IT</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Fresh food — 5 (+) — 'always fresh' — share the win</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The headings draw the line between orders and material — it parses cleanly; your review still owns correctness.</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STRUCTURE</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3 · DIRECTING — GROUND 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Only the source, quoted — or “not stated”</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When accuracy beats fluency — vendor terms, policies, anything with numbers — hand it the real document and close every exit: answer only from this, quote the line, and say “not stated” rather than guess.</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FROM MEMORY</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What are this vendor's delivery terms?</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Typically 3–5 business days, with free returns within 30 days.
</a:t>
            </a:r>
            <a:pPr indent="0" marL="0">
              <a:lnSpc>
                <a:spcPct val="112000"/>
              </a:lnSpc>
              <a:buNone/>
            </a:pPr>
            <a:r>
              <a:rPr lang="en-US" sz="1050" i="1" dirty="0">
                <a:solidFill>
                  <a:srgbClr val="B91C1C"/>
                </a:solidFill>
                <a:latin typeface="Arial" pitchFamily="34" charset="0"/>
                <a:ea typeface="Arial" pitchFamily="34" charset="-122"/>
                <a:cs typeface="Arial" pitchFamily="34" charset="-120"/>
              </a:rPr>
              <a:t>(None of this appears in the document.)</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Asked from memory, it fills the gaps with plausible patterns — fluent, confident, and never checked against anything.</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GROUNDED IN THE DOC</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Using only the vendor one-pager below, list the delivery terms. Quote the relevant line for each. If a term is missing, write 'not stated'.</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'Orders ship within 10 business days.'</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'Freight billed at cost.'</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Return window — not stated in the document.</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'Only the document, quote it, or say not stated' leaves nowhere to invent — and makes your review a two-minute check, not a hunt.</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GROUNDING</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3 · DIRECTING — SHOW AN 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When describing the format isn't enough</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When a format is hard to describe — or consistency across many items matters — show one or two done right and say “match these.” It copies the pattern faithfully. It copies mistakes just as faithfully, so check your examples first.</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TOLD IT — “format these neatly”</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Format these comments neatly.</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checkout was really slow saturday, 3 lanes open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The rotisserie chicken is great, always fresh!</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app froze when I clipped the gas coupon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Gas pump 4 down again, ugh.</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wilted spinach and moldy berries in produce</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'Neatly' is a wish, not a format — with nothing to copy, it picked a different shape for every row.</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SHOWED IT — two examples first</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Here are two comments classified correctly:</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Checkout waits — Negative — 'slow.'</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Rotisserie chicken — Positive — 'fresh.'</a:t>
            </a:r>
            <a:endParaRPr lang="en-US" sz="1050" dirty="0"/>
          </a:p>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Apply the same structure to the remaining comments.</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Checkout waits — Negative — 'only 3 lanes open.'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Rotisserie chicken — Positive — 'always fresh.'</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App issues — Negative — 'froze on the gas coupon.'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Gas pump — Negative — 'pump 4 down again.'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Produce — Negative — 'wilted spinach, moldy berries.'</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Two finished rows define the format better than a paragraph of rules — it simply continued the pattern it could see.</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EXAMPLES</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STAGE 3 · DIRECTING — GIVE DECISION CRITERIA</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Tell it what matters before it judges</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When a task needs judgment — ranking, escalating, choosing — name the factors that count and ask for an evidence-based reason per call. Your priorities cannot be guessed; they have to be stated.</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NO CRITERIA</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Which three issues should we escalate?</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1. Checkout waits (most comments)
2. Produce quality
3. App issues
</a:t>
            </a:r>
            <a:pPr indent="0" marL="0">
              <a:lnSpc>
                <a:spcPct val="112000"/>
              </a:lnSpc>
              <a:buNone/>
            </a:pPr>
            <a:r>
              <a:rPr lang="en-US" sz="1050" i="1" dirty="0">
                <a:solidFill>
                  <a:srgbClr val="5E6A78"/>
                </a:solidFill>
                <a:latin typeface="Arial" pitchFamily="34" charset="0"/>
                <a:ea typeface="Arial" pitchFamily="34" charset="-122"/>
                <a:cs typeface="Arial" pitchFamily="34" charset="-120"/>
              </a:rPr>
              <a:t>(Picks the most-repeated. The gas pump — a safety issue mentioned once — doesn't make the list.)</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With no factors named, it fell back on the loudest signal — repetition — which is not the same as importance.</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CRITERIA STATED</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Rank the issues by: 1) safety risk, 2) members affected, 3) urgency, 4) effort to resolve. Give a one-sentence, evidence-based reason for each ranking.</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1. Gas pump 4 — safety risk; 'down again' suggests a repeat failure.</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2. Checkout waits — 12 members affected; staffing is actionable.</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3. App issues — 4 members; a ticket for IT.</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Your priorities entered the decision, and the evidence-based reasons let you check every ranking in seconds.</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CRITERIA</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spc="100" kern="0" dirty="0">
                <a:solidFill>
                  <a:srgbClr val="8A93A0"/>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D31242"/>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spc="100" kern="0" dirty="0">
                <a:solidFill>
                  <a:srgbClr val="8A93A0"/>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IMPROVE · REFINE, DON'T RESTART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Improve it in one follow-up</a:t>
            </a:r>
            <a:endParaRPr lang="en-US" sz="3000" dirty="0"/>
          </a:p>
        </p:txBody>
      </p:sp>
      <p:sp>
        <p:nvSpPr>
          <p:cNvPr id="6" name="Text 3"/>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Even a well-built prompt rarely lands perfectly first time. Don't start over — everything you built stays in the conversation. Name what's off, change exactly that, and keep the rest.</a:t>
            </a:r>
            <a:endParaRPr lang="en-US" sz="1300" dirty="0"/>
          </a:p>
        </p:txBody>
      </p:sp>
      <p:sp>
        <p:nvSpPr>
          <p:cNvPr id="7" name="Shape 4"/>
          <p:cNvSpPr/>
          <p:nvPr/>
        </p:nvSpPr>
        <p:spPr>
          <a:xfrm>
            <a:off x="640080" y="1920240"/>
            <a:ext cx="5303520" cy="4279392"/>
          </a:xfrm>
          <a:prstGeom prst="roundRect">
            <a:avLst>
              <a:gd name="adj" fmla="val 1923"/>
            </a:avLst>
          </a:prstGeom>
          <a:solidFill>
            <a:srgbClr val="F5F6F8"/>
          </a:solidFill>
          <a:ln w="12700">
            <a:solidFill>
              <a:srgbClr val="E7E9EE"/>
            </a:solidFill>
            <a:prstDash val="solid"/>
          </a:ln>
        </p:spPr>
      </p:sp>
      <p:sp>
        <p:nvSpPr>
          <p:cNvPr id="8" name="Text 5"/>
          <p:cNvSpPr/>
          <p:nvPr/>
        </p:nvSpPr>
        <p:spPr>
          <a:xfrm>
            <a:off x="914400" y="210312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FIRST TRY</a:t>
            </a:r>
            <a:endParaRPr lang="en-US" sz="1100" dirty="0"/>
          </a:p>
        </p:txBody>
      </p:sp>
      <p:sp>
        <p:nvSpPr>
          <p:cNvPr id="9" name="Text 6"/>
          <p:cNvSpPr/>
          <p:nvPr/>
        </p:nvSpPr>
        <p:spPr>
          <a:xfrm>
            <a:off x="914400"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0" name="Text 7"/>
          <p:cNvSpPr/>
          <p:nvPr/>
        </p:nvSpPr>
        <p:spPr>
          <a:xfrm>
            <a:off x="914400"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Summarise this week's feedback in a short note to the manager.</a:t>
            </a:r>
            <a:endParaRPr lang="en-US" sz="1050" dirty="0"/>
          </a:p>
        </p:txBody>
      </p:sp>
      <p:sp>
        <p:nvSpPr>
          <p:cNvPr id="11" name="Text 8"/>
          <p:cNvSpPr/>
          <p:nvPr/>
        </p:nvSpPr>
        <p:spPr>
          <a:xfrm>
            <a:off x="914400" y="3621024"/>
            <a:ext cx="4754880" cy="219456"/>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WHAT YOU GET BACK</a:t>
            </a:r>
            <a:endParaRPr lang="en-US" sz="950" dirty="0"/>
          </a:p>
        </p:txBody>
      </p:sp>
      <p:sp>
        <p:nvSpPr>
          <p:cNvPr id="12" name="Text 9"/>
          <p:cNvSpPr/>
          <p:nvPr/>
        </p:nvSpPr>
        <p:spPr>
          <a:xfrm>
            <a:off x="914400"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This week saw complaints about checkout waits and produce, plus praise for the fresh food. A few app and gas-pump issues too.</a:t>
            </a:r>
            <a:endParaRPr lang="en-US" sz="1050" dirty="0"/>
          </a:p>
        </p:txBody>
      </p:sp>
      <p:sp>
        <p:nvSpPr>
          <p:cNvPr id="13" name="Text 10"/>
          <p:cNvSpPr/>
          <p:nvPr/>
        </p:nvSpPr>
        <p:spPr>
          <a:xfrm>
            <a:off x="914400" y="5285232"/>
            <a:ext cx="4754880" cy="201168"/>
          </a:xfrm>
          <a:prstGeom prst="rect">
            <a:avLst/>
          </a:prstGeom>
          <a:noFill/>
          <a:ln/>
        </p:spPr>
        <p:txBody>
          <a:bodyPr wrap="square" lIns="0" tIns="0" rIns="0" bIns="0" rtlCol="0" anchor="ctr"/>
          <a:lstStyle/>
          <a:p>
            <a:pPr indent="0" marL="0">
              <a:buNone/>
            </a:pPr>
            <a:r>
              <a:rPr lang="en-US" sz="950" b="1" spc="100" kern="0" dirty="0">
                <a:solidFill>
                  <a:srgbClr val="B91C1C"/>
                </a:solidFill>
                <a:latin typeface="Arial" pitchFamily="34" charset="0"/>
                <a:ea typeface="Arial" pitchFamily="34" charset="-122"/>
                <a:cs typeface="Arial" pitchFamily="34" charset="-120"/>
              </a:rPr>
              <a:t>WHY IT FALLS SHORT</a:t>
            </a:r>
            <a:endParaRPr lang="en-US" sz="950" dirty="0"/>
          </a:p>
        </p:txBody>
      </p:sp>
      <p:sp>
        <p:nvSpPr>
          <p:cNvPr id="14" name="Text 11"/>
          <p:cNvSpPr/>
          <p:nvPr/>
        </p:nvSpPr>
        <p:spPr>
          <a:xfrm>
            <a:off x="914400"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A first prompt rarely names everything you care about — you only see what's missing once you read an answer.</a:t>
            </a:r>
            <a:endParaRPr lang="en-US" sz="1000" dirty="0"/>
          </a:p>
        </p:txBody>
      </p:sp>
      <p:sp>
        <p:nvSpPr>
          <p:cNvPr id="15" name="Shape 12"/>
          <p:cNvSpPr/>
          <p:nvPr/>
        </p:nvSpPr>
        <p:spPr>
          <a:xfrm>
            <a:off x="6245352" y="1920240"/>
            <a:ext cx="5303520" cy="4279392"/>
          </a:xfrm>
          <a:prstGeom prst="roundRect">
            <a:avLst>
              <a:gd name="adj" fmla="val 1923"/>
            </a:avLst>
          </a:prstGeom>
          <a:solidFill>
            <a:srgbClr val="DCFCE7"/>
          </a:solidFill>
          <a:ln/>
        </p:spPr>
      </p:sp>
      <p:sp>
        <p:nvSpPr>
          <p:cNvPr id="16" name="Text 13"/>
          <p:cNvSpPr/>
          <p:nvPr/>
        </p:nvSpPr>
        <p:spPr>
          <a:xfrm>
            <a:off x="6519672" y="210312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ONE REFINEMENT</a:t>
            </a:r>
            <a:endParaRPr lang="en-US" sz="1100" dirty="0"/>
          </a:p>
        </p:txBody>
      </p:sp>
      <p:sp>
        <p:nvSpPr>
          <p:cNvPr id="17" name="Text 14"/>
          <p:cNvSpPr/>
          <p:nvPr/>
        </p:nvSpPr>
        <p:spPr>
          <a:xfrm>
            <a:off x="6519672" y="2450592"/>
            <a:ext cx="4754880" cy="219456"/>
          </a:xfrm>
          <a:prstGeom prst="rect">
            <a:avLst/>
          </a:prstGeom>
          <a:noFill/>
          <a:ln/>
        </p:spPr>
        <p:txBody>
          <a:bodyPr wrap="square" lIns="0" tIns="0" rIns="0" bIns="0" rtlCol="0" anchor="ctr"/>
          <a:lstStyle/>
          <a:p>
            <a:pPr indent="0" marL="0">
              <a:buNone/>
            </a:pPr>
            <a:r>
              <a:rPr lang="en-US" sz="950" b="1" spc="100" kern="0" dirty="0">
                <a:solidFill>
                  <a:srgbClr val="5E6A78"/>
                </a:solidFill>
                <a:latin typeface="Arial" pitchFamily="34" charset="0"/>
                <a:ea typeface="Arial" pitchFamily="34" charset="-122"/>
                <a:cs typeface="Arial" pitchFamily="34" charset="-120"/>
              </a:rPr>
              <a:t>THE PROMPT</a:t>
            </a:r>
            <a:endParaRPr lang="en-US" sz="950" dirty="0"/>
          </a:p>
        </p:txBody>
      </p:sp>
      <p:sp>
        <p:nvSpPr>
          <p:cNvPr id="18" name="Text 15"/>
          <p:cNvSpPr/>
          <p:nvPr/>
        </p:nvSpPr>
        <p:spPr>
          <a:xfrm>
            <a:off x="6519672" y="2670048"/>
            <a:ext cx="4754880" cy="896112"/>
          </a:xfrm>
          <a:prstGeom prst="rect">
            <a:avLst/>
          </a:prstGeom>
          <a:noFill/>
          <a:ln/>
        </p:spPr>
        <p:txBody>
          <a:bodyPr wrap="square" lIns="0" tIns="0" rIns="0" bIns="0" rtlCol="0" anchor="t"/>
          <a:lstStyle/>
          <a:p>
            <a:pPr indent="0" marL="0">
              <a:lnSpc>
                <a:spcPct val="105000"/>
              </a:lnSpc>
              <a:buNone/>
            </a:pPr>
            <a:r>
              <a:rPr lang="en-US" sz="1050" i="1" dirty="0">
                <a:solidFill>
                  <a:srgbClr val="3A4452"/>
                </a:solidFill>
                <a:latin typeface="Arial" pitchFamily="34" charset="0"/>
                <a:ea typeface="Arial" pitchFamily="34" charset="-122"/>
                <a:cs typeface="Arial" pitchFamily="34" charset="-120"/>
              </a:rPr>
              <a:t>Good start. Convert it into five bullets and put the safety issue first.</a:t>
            </a:r>
            <a:endParaRPr lang="en-US" sz="1050" dirty="0"/>
          </a:p>
        </p:txBody>
      </p:sp>
      <p:sp>
        <p:nvSpPr>
          <p:cNvPr id="19" name="Text 16"/>
          <p:cNvSpPr/>
          <p:nvPr/>
        </p:nvSpPr>
        <p:spPr>
          <a:xfrm>
            <a:off x="6519672" y="3621024"/>
            <a:ext cx="4754880" cy="219456"/>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WHAT YOU GET BACK</a:t>
            </a:r>
            <a:endParaRPr lang="en-US" sz="950" dirty="0"/>
          </a:p>
        </p:txBody>
      </p:sp>
      <p:sp>
        <p:nvSpPr>
          <p:cNvPr id="20" name="Text 17"/>
          <p:cNvSpPr/>
          <p:nvPr/>
        </p:nvSpPr>
        <p:spPr>
          <a:xfrm>
            <a:off x="6519672" y="3858768"/>
            <a:ext cx="4754880" cy="1371600"/>
          </a:xfrm>
          <a:prstGeom prst="rect">
            <a:avLst/>
          </a:prstGeom>
          <a:noFill/>
          <a:ln/>
        </p:spPr>
        <p:txBody>
          <a:bodyPr wrap="square" lIns="0" tIns="0" rIns="0" bIns="0" rtlCol="0" anchor="t"/>
          <a:lstStyle/>
          <a:p>
            <a:pPr indent="0" marL="0">
              <a:lnSpc>
                <a:spcPct val="112000"/>
              </a:lnSpc>
              <a:buNone/>
            </a:pPr>
            <a:r>
              <a:rPr lang="en-US" sz="1050" dirty="0">
                <a:solidFill>
                  <a:srgbClr val="1F2733"/>
                </a:solidFill>
                <a:latin typeface="Arial" pitchFamily="34" charset="0"/>
                <a:ea typeface="Arial" pitchFamily="34" charset="-122"/>
                <a:cs typeface="Arial" pitchFamily="34" charset="-120"/>
              </a:rPr>
              <a:t>• Safety: gas pump 4 down.</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Checkout waits — top complaint.</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Produce quality.</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App issues.</a:t>
            </a:r>
            <a:endParaRPr lang="en-US" sz="1050" dirty="0"/>
          </a:p>
          <a:p>
            <a:pPr indent="0" marL="0">
              <a:lnSpc>
                <a:spcPct val="112000"/>
              </a:lnSpc>
              <a:buNone/>
            </a:pPr>
            <a:r>
              <a:rPr lang="en-US" sz="1050" dirty="0">
                <a:solidFill>
                  <a:srgbClr val="1F2733"/>
                </a:solidFill>
                <a:latin typeface="Arial" pitchFamily="34" charset="0"/>
                <a:ea typeface="Arial" pitchFamily="34" charset="-122"/>
                <a:cs typeface="Arial" pitchFamily="34" charset="-120"/>
              </a:rPr>
              <a:t>• Wins: fresh food.</a:t>
            </a:r>
            <a:endParaRPr lang="en-US" sz="1050" dirty="0"/>
          </a:p>
        </p:txBody>
      </p:sp>
      <p:sp>
        <p:nvSpPr>
          <p:cNvPr id="21" name="Text 18"/>
          <p:cNvSpPr/>
          <p:nvPr/>
        </p:nvSpPr>
        <p:spPr>
          <a:xfrm>
            <a:off x="6519672" y="5285232"/>
            <a:ext cx="4754880" cy="201168"/>
          </a:xfrm>
          <a:prstGeom prst="rect">
            <a:avLst/>
          </a:prstGeom>
          <a:noFill/>
          <a:ln/>
        </p:spPr>
        <p:txBody>
          <a:bodyPr wrap="square" lIns="0" tIns="0" rIns="0" bIns="0" rtlCol="0" anchor="ctr"/>
          <a:lstStyle/>
          <a:p>
            <a:pPr indent="0" marL="0">
              <a:buNone/>
            </a:pPr>
            <a:r>
              <a:rPr lang="en-US" sz="950" b="1" spc="100" kern="0" dirty="0">
                <a:solidFill>
                  <a:srgbClr val="15803D"/>
                </a:solidFill>
                <a:latin typeface="Arial" pitchFamily="34" charset="0"/>
                <a:ea typeface="Arial" pitchFamily="34" charset="-122"/>
                <a:cs typeface="Arial" pitchFamily="34" charset="-120"/>
              </a:rPr>
              <a:t>WHY IT WORKS</a:t>
            </a:r>
            <a:endParaRPr lang="en-US" sz="950" dirty="0"/>
          </a:p>
        </p:txBody>
      </p:sp>
      <p:sp>
        <p:nvSpPr>
          <p:cNvPr id="22" name="Text 19"/>
          <p:cNvSpPr/>
          <p:nvPr/>
        </p:nvSpPr>
        <p:spPr>
          <a:xfrm>
            <a:off x="6519672" y="5495544"/>
            <a:ext cx="4754880" cy="640080"/>
          </a:xfrm>
          <a:prstGeom prst="rect">
            <a:avLst/>
          </a:prstGeom>
          <a:noFill/>
          <a:ln/>
        </p:spPr>
        <p:txBody>
          <a:bodyPr wrap="square" lIns="0" tIns="0" rIns="0" bIns="0" rtlCol="0" anchor="t"/>
          <a:lstStyle/>
          <a:p>
            <a:pPr indent="0" marL="0">
              <a:lnSpc>
                <a:spcPct val="108000"/>
              </a:lnSpc>
              <a:buNone/>
            </a:pPr>
            <a:r>
              <a:rPr lang="en-US" sz="1000" dirty="0">
                <a:solidFill>
                  <a:srgbClr val="3A4452"/>
                </a:solidFill>
                <a:latin typeface="Arial" pitchFamily="34" charset="0"/>
                <a:ea typeface="Arial" pitchFamily="34" charset="-122"/>
                <a:cs typeface="Arial" pitchFamily="34" charset="-120"/>
              </a:rPr>
              <a:t>The follow-up kept all the context you'd built and changed only what you named — far cheaper than starting over.</a:t>
            </a:r>
            <a:endParaRPr lang="en-US" sz="1000" dirty="0"/>
          </a:p>
        </p:txBody>
      </p:sp>
      <p:sp>
        <p:nvSpPr>
          <p:cNvPr id="23" name="Text 20"/>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REFINE</a:t>
            </a:r>
            <a:endParaRPr lang="en-US" sz="850" dirty="0"/>
          </a:p>
        </p:txBody>
      </p:sp>
      <p:sp>
        <p:nvSpPr>
          <p:cNvPr id="24" name="Text 21"/>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26" name="Text 22"/>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IMPROVE · DIAGNOSE THE MISS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Name the problem, then fix that one thing</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
        <p:nvSpPr>
          <p:cNvPr id="7" name="Shape 4"/>
          <p:cNvSpPr/>
          <p:nvPr/>
        </p:nvSpPr>
        <p:spPr>
          <a:xfrm>
            <a:off x="640080" y="1847088"/>
            <a:ext cx="10881360" cy="548640"/>
          </a:xfrm>
          <a:prstGeom prst="roundRect">
            <a:avLst>
              <a:gd name="adj" fmla="val 15000"/>
            </a:avLst>
          </a:prstGeom>
          <a:solidFill>
            <a:srgbClr val="F5F6F8"/>
          </a:solidFill>
          <a:ln w="12700">
            <a:solidFill>
              <a:srgbClr val="E7E9EE"/>
            </a:solidFill>
            <a:prstDash val="solid"/>
          </a:ln>
        </p:spPr>
      </p:sp>
      <p:sp>
        <p:nvSpPr>
          <p:cNvPr id="8" name="Text 5"/>
          <p:cNvSpPr/>
          <p:nvPr/>
        </p:nvSpPr>
        <p:spPr>
          <a:xfrm>
            <a:off x="914400" y="1847088"/>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Too generic</a:t>
            </a:r>
            <a:endParaRPr lang="en-US" sz="1300" dirty="0"/>
          </a:p>
        </p:txBody>
      </p:sp>
      <p:sp>
        <p:nvSpPr>
          <p:cNvPr id="9" name="Text 6"/>
          <p:cNvSpPr/>
          <p:nvPr/>
        </p:nvSpPr>
        <p:spPr>
          <a:xfrm>
            <a:off x="3977640" y="1847088"/>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10" name="Text 7"/>
          <p:cNvSpPr/>
          <p:nvPr/>
        </p:nvSpPr>
        <p:spPr>
          <a:xfrm>
            <a:off x="4480560" y="1847088"/>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Add the purpose, the audience, and the detail you need.</a:t>
            </a:r>
            <a:endParaRPr lang="en-US" sz="1250" dirty="0"/>
          </a:p>
        </p:txBody>
      </p:sp>
      <p:sp>
        <p:nvSpPr>
          <p:cNvPr id="11" name="Shape 8"/>
          <p:cNvSpPr/>
          <p:nvPr/>
        </p:nvSpPr>
        <p:spPr>
          <a:xfrm>
            <a:off x="640080" y="2450592"/>
            <a:ext cx="10881360" cy="548640"/>
          </a:xfrm>
          <a:prstGeom prst="roundRect">
            <a:avLst>
              <a:gd name="adj" fmla="val 15000"/>
            </a:avLst>
          </a:prstGeom>
          <a:solidFill>
            <a:srgbClr val="F5F6F8"/>
          </a:solidFill>
          <a:ln w="12700">
            <a:solidFill>
              <a:srgbClr val="E7E9EE"/>
            </a:solidFill>
            <a:prstDash val="solid"/>
          </a:ln>
        </p:spPr>
      </p:sp>
      <p:sp>
        <p:nvSpPr>
          <p:cNvPr id="12" name="Text 9"/>
          <p:cNvSpPr/>
          <p:nvPr/>
        </p:nvSpPr>
        <p:spPr>
          <a:xfrm>
            <a:off x="914400" y="2450592"/>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Wrong format</a:t>
            </a:r>
            <a:endParaRPr lang="en-US" sz="1300" dirty="0"/>
          </a:p>
        </p:txBody>
      </p:sp>
      <p:sp>
        <p:nvSpPr>
          <p:cNvPr id="13" name="Text 10"/>
          <p:cNvSpPr/>
          <p:nvPr/>
        </p:nvSpPr>
        <p:spPr>
          <a:xfrm>
            <a:off x="3977640" y="2450592"/>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14" name="Text 11"/>
          <p:cNvSpPr/>
          <p:nvPr/>
        </p:nvSpPr>
        <p:spPr>
          <a:xfrm>
            <a:off x="4480560" y="2450592"/>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Specify the structure and the length.</a:t>
            </a:r>
            <a:endParaRPr lang="en-US" sz="1250" dirty="0"/>
          </a:p>
        </p:txBody>
      </p:sp>
      <p:sp>
        <p:nvSpPr>
          <p:cNvPr id="15" name="Shape 12"/>
          <p:cNvSpPr/>
          <p:nvPr/>
        </p:nvSpPr>
        <p:spPr>
          <a:xfrm>
            <a:off x="640080" y="3054096"/>
            <a:ext cx="10881360" cy="548640"/>
          </a:xfrm>
          <a:prstGeom prst="roundRect">
            <a:avLst>
              <a:gd name="adj" fmla="val 15000"/>
            </a:avLst>
          </a:prstGeom>
          <a:solidFill>
            <a:srgbClr val="F5F6F8"/>
          </a:solidFill>
          <a:ln w="12700">
            <a:solidFill>
              <a:srgbClr val="E7E9EE"/>
            </a:solidFill>
            <a:prstDash val="solid"/>
          </a:ln>
        </p:spPr>
      </p:sp>
      <p:sp>
        <p:nvSpPr>
          <p:cNvPr id="16" name="Text 13"/>
          <p:cNvSpPr/>
          <p:nvPr/>
        </p:nvSpPr>
        <p:spPr>
          <a:xfrm>
            <a:off x="914400" y="3054096"/>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Unsupported claims</a:t>
            </a:r>
            <a:endParaRPr lang="en-US" sz="1300" dirty="0"/>
          </a:p>
        </p:txBody>
      </p:sp>
      <p:sp>
        <p:nvSpPr>
          <p:cNvPr id="17" name="Text 14"/>
          <p:cNvSpPr/>
          <p:nvPr/>
        </p:nvSpPr>
        <p:spPr>
          <a:xfrm>
            <a:off x="3977640" y="3054096"/>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18" name="Text 15"/>
          <p:cNvSpPr/>
          <p:nvPr/>
        </p:nvSpPr>
        <p:spPr>
          <a:xfrm>
            <a:off x="4480560" y="3054096"/>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Restrict it to the provided sources.</a:t>
            </a:r>
            <a:endParaRPr lang="en-US" sz="1250" dirty="0"/>
          </a:p>
        </p:txBody>
      </p:sp>
      <p:sp>
        <p:nvSpPr>
          <p:cNvPr id="19" name="Shape 16"/>
          <p:cNvSpPr/>
          <p:nvPr/>
        </p:nvSpPr>
        <p:spPr>
          <a:xfrm>
            <a:off x="640080" y="3657600"/>
            <a:ext cx="10881360" cy="548640"/>
          </a:xfrm>
          <a:prstGeom prst="roundRect">
            <a:avLst>
              <a:gd name="adj" fmla="val 15000"/>
            </a:avLst>
          </a:prstGeom>
          <a:solidFill>
            <a:srgbClr val="F5F6F8"/>
          </a:solidFill>
          <a:ln w="12700">
            <a:solidFill>
              <a:srgbClr val="E7E9EE"/>
            </a:solidFill>
            <a:prstDash val="solid"/>
          </a:ln>
        </p:spPr>
      </p:sp>
      <p:sp>
        <p:nvSpPr>
          <p:cNvPr id="20" name="Text 17"/>
          <p:cNvSpPr/>
          <p:nvPr/>
        </p:nvSpPr>
        <p:spPr>
          <a:xfrm>
            <a:off x="914400" y="3657600"/>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Missing priority</a:t>
            </a:r>
            <a:endParaRPr lang="en-US" sz="1300" dirty="0"/>
          </a:p>
        </p:txBody>
      </p:sp>
      <p:sp>
        <p:nvSpPr>
          <p:cNvPr id="21" name="Text 18"/>
          <p:cNvSpPr/>
          <p:nvPr/>
        </p:nvSpPr>
        <p:spPr>
          <a:xfrm>
            <a:off x="3977640" y="3657600"/>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22" name="Text 19"/>
          <p:cNvSpPr/>
          <p:nvPr/>
        </p:nvSpPr>
        <p:spPr>
          <a:xfrm>
            <a:off x="4480560" y="3657600"/>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Add your decision criteria.</a:t>
            </a:r>
            <a:endParaRPr lang="en-US" sz="1250" dirty="0"/>
          </a:p>
        </p:txBody>
      </p:sp>
      <p:sp>
        <p:nvSpPr>
          <p:cNvPr id="23" name="Shape 20"/>
          <p:cNvSpPr/>
          <p:nvPr/>
        </p:nvSpPr>
        <p:spPr>
          <a:xfrm>
            <a:off x="640080" y="4261104"/>
            <a:ext cx="10881360" cy="548640"/>
          </a:xfrm>
          <a:prstGeom prst="roundRect">
            <a:avLst>
              <a:gd name="adj" fmla="val 15000"/>
            </a:avLst>
          </a:prstGeom>
          <a:solidFill>
            <a:srgbClr val="F5F6F8"/>
          </a:solidFill>
          <a:ln w="12700">
            <a:solidFill>
              <a:srgbClr val="E7E9EE"/>
            </a:solidFill>
            <a:prstDash val="solid"/>
          </a:ln>
        </p:spPr>
      </p:sp>
      <p:sp>
        <p:nvSpPr>
          <p:cNvPr id="24" name="Text 21"/>
          <p:cNvSpPr/>
          <p:nvPr/>
        </p:nvSpPr>
        <p:spPr>
          <a:xfrm>
            <a:off x="914400" y="4261104"/>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Too verbose</a:t>
            </a:r>
            <a:endParaRPr lang="en-US" sz="1300" dirty="0"/>
          </a:p>
        </p:txBody>
      </p:sp>
      <p:sp>
        <p:nvSpPr>
          <p:cNvPr id="25" name="Text 22"/>
          <p:cNvSpPr/>
          <p:nvPr/>
        </p:nvSpPr>
        <p:spPr>
          <a:xfrm>
            <a:off x="3977640" y="4261104"/>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26" name="Text 23"/>
          <p:cNvSpPr/>
          <p:nvPr/>
        </p:nvSpPr>
        <p:spPr>
          <a:xfrm>
            <a:off x="4480560" y="4261104"/>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Set a limit and name the audience.</a:t>
            </a:r>
            <a:endParaRPr lang="en-US" sz="1250" dirty="0"/>
          </a:p>
        </p:txBody>
      </p:sp>
      <p:sp>
        <p:nvSpPr>
          <p:cNvPr id="27" name="Shape 24"/>
          <p:cNvSpPr/>
          <p:nvPr/>
        </p:nvSpPr>
        <p:spPr>
          <a:xfrm>
            <a:off x="640080" y="4864608"/>
            <a:ext cx="10881360" cy="548640"/>
          </a:xfrm>
          <a:prstGeom prst="roundRect">
            <a:avLst>
              <a:gd name="adj" fmla="val 15000"/>
            </a:avLst>
          </a:prstGeom>
          <a:solidFill>
            <a:srgbClr val="F5F6F8"/>
          </a:solidFill>
          <a:ln w="12700">
            <a:solidFill>
              <a:srgbClr val="E7E9EE"/>
            </a:solidFill>
            <a:prstDash val="solid"/>
          </a:ln>
        </p:spPr>
      </p:sp>
      <p:sp>
        <p:nvSpPr>
          <p:cNvPr id="28" name="Text 25"/>
          <p:cNvSpPr/>
          <p:nvPr/>
        </p:nvSpPr>
        <p:spPr>
          <a:xfrm>
            <a:off x="914400" y="4864608"/>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Important item omitted</a:t>
            </a:r>
            <a:endParaRPr lang="en-US" sz="1300" dirty="0"/>
          </a:p>
        </p:txBody>
      </p:sp>
      <p:sp>
        <p:nvSpPr>
          <p:cNvPr id="29" name="Text 26"/>
          <p:cNvSpPr/>
          <p:nvPr/>
        </p:nvSpPr>
        <p:spPr>
          <a:xfrm>
            <a:off x="3977640" y="4864608"/>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30" name="Text 27"/>
          <p:cNvSpPr/>
          <p:nvPr/>
        </p:nvSpPr>
        <p:spPr>
          <a:xfrm>
            <a:off x="4480560" y="4864608"/>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State what must be included.</a:t>
            </a:r>
            <a:endParaRPr lang="en-US" sz="1250" dirty="0"/>
          </a:p>
        </p:txBody>
      </p:sp>
      <p:sp>
        <p:nvSpPr>
          <p:cNvPr id="31" name="Shape 28"/>
          <p:cNvSpPr/>
          <p:nvPr/>
        </p:nvSpPr>
        <p:spPr>
          <a:xfrm>
            <a:off x="640080" y="5468112"/>
            <a:ext cx="10881360" cy="548640"/>
          </a:xfrm>
          <a:prstGeom prst="roundRect">
            <a:avLst>
              <a:gd name="adj" fmla="val 15000"/>
            </a:avLst>
          </a:prstGeom>
          <a:solidFill>
            <a:srgbClr val="F5F6F8"/>
          </a:solidFill>
          <a:ln w="12700">
            <a:solidFill>
              <a:srgbClr val="E7E9EE"/>
            </a:solidFill>
            <a:prstDash val="solid"/>
          </a:ln>
        </p:spPr>
      </p:sp>
      <p:sp>
        <p:nvSpPr>
          <p:cNvPr id="32" name="Text 29"/>
          <p:cNvSpPr/>
          <p:nvPr/>
        </p:nvSpPr>
        <p:spPr>
          <a:xfrm>
            <a:off x="914400" y="5468112"/>
            <a:ext cx="3017520" cy="548640"/>
          </a:xfrm>
          <a:prstGeom prst="rect">
            <a:avLst/>
          </a:prstGeom>
          <a:noFill/>
          <a:ln/>
        </p:spPr>
        <p:txBody>
          <a:bodyPr wrap="square" lIns="0" tIns="0" rIns="0" bIns="0" rtlCol="0" anchor="ctr"/>
          <a:lstStyle/>
          <a:p>
            <a:pPr indent="0" marL="0">
              <a:buNone/>
            </a:pPr>
            <a:r>
              <a:rPr lang="en-US" sz="1300" b="1" dirty="0">
                <a:solidFill>
                  <a:srgbClr val="B91C1C"/>
                </a:solidFill>
                <a:latin typeface="Arial" pitchFamily="34" charset="0"/>
                <a:ea typeface="Arial" pitchFamily="34" charset="-122"/>
                <a:cs typeface="Arial" pitchFamily="34" charset="-120"/>
              </a:rPr>
              <a:t>Inconsistent output</a:t>
            </a:r>
            <a:endParaRPr lang="en-US" sz="1300" dirty="0"/>
          </a:p>
        </p:txBody>
      </p:sp>
      <p:sp>
        <p:nvSpPr>
          <p:cNvPr id="33" name="Text 30"/>
          <p:cNvSpPr/>
          <p:nvPr/>
        </p:nvSpPr>
        <p:spPr>
          <a:xfrm>
            <a:off x="3977640" y="5468112"/>
            <a:ext cx="365760" cy="548640"/>
          </a:xfrm>
          <a:prstGeom prst="rect">
            <a:avLst/>
          </a:prstGeom>
          <a:noFill/>
          <a:ln/>
        </p:spPr>
        <p:txBody>
          <a:bodyPr wrap="square" lIns="0" tIns="0" rIns="0" bIns="0" rtlCol="0" anchor="ctr"/>
          <a:lstStyle/>
          <a:p>
            <a:pPr algn="ctr" indent="0" marL="0">
              <a:buNone/>
            </a:pPr>
            <a:r>
              <a:rPr lang="en-US" sz="1400" b="1" dirty="0">
                <a:solidFill>
                  <a:srgbClr val="8A93A0"/>
                </a:solidFill>
                <a:latin typeface="Arial" pitchFamily="34" charset="0"/>
                <a:ea typeface="Arial" pitchFamily="34" charset="-122"/>
                <a:cs typeface="Arial" pitchFamily="34" charset="-120"/>
              </a:rPr>
              <a:t>→</a:t>
            </a:r>
            <a:endParaRPr lang="en-US" sz="1400" dirty="0"/>
          </a:p>
        </p:txBody>
      </p:sp>
      <p:sp>
        <p:nvSpPr>
          <p:cNvPr id="34" name="Text 31"/>
          <p:cNvSpPr/>
          <p:nvPr/>
        </p:nvSpPr>
        <p:spPr>
          <a:xfrm>
            <a:off x="4480560" y="5468112"/>
            <a:ext cx="6766560" cy="548640"/>
          </a:xfrm>
          <a:prstGeom prst="rect">
            <a:avLst/>
          </a:prstGeom>
          <a:noFill/>
          <a:ln/>
        </p:spPr>
        <p:txBody>
          <a:bodyPr wrap="square" lIns="0" tIns="0" rIns="0" bIns="0" rtlCol="0" anchor="ctr"/>
          <a:lstStyle/>
          <a:p>
            <a:pPr indent="0" marL="0">
              <a:buNone/>
            </a:pPr>
            <a:r>
              <a:rPr lang="en-US" sz="1250" dirty="0">
                <a:solidFill>
                  <a:srgbClr val="1F2733"/>
                </a:solidFill>
                <a:latin typeface="Arial" pitchFamily="34" charset="0"/>
                <a:ea typeface="Arial" pitchFamily="34" charset="-122"/>
                <a:cs typeface="Arial" pitchFamily="34" charset="-120"/>
              </a:rPr>
              <a:t>Provide an example to copy.</a:t>
            </a:r>
            <a:endParaRPr lang="en-US" sz="1250" dirty="0"/>
          </a:p>
        </p:txBody>
      </p:sp>
      <p:sp>
        <p:nvSpPr>
          <p:cNvPr id="35" name="Text 32"/>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DIAGNOSE</a:t>
            </a:r>
            <a:endParaRPr lang="en-US" sz="850" dirty="0"/>
          </a:p>
        </p:txBody>
      </p:sp>
      <p:sp>
        <p:nvSpPr>
          <p:cNvPr id="36" name="Text 33"/>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REVIEW · VERIFY BEFORE USING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strong prompt doesn't replace your review</a:t>
            </a:r>
            <a:endParaRPr lang="en-US" sz="3000" dirty="0"/>
          </a:p>
        </p:txBody>
      </p:sp>
      <p:sp>
        <p:nvSpPr>
          <p:cNvPr id="6" name="Shape 3"/>
          <p:cNvSpPr/>
          <p:nvPr/>
        </p:nvSpPr>
        <p:spPr>
          <a:xfrm>
            <a:off x="640080" y="1965960"/>
            <a:ext cx="5349240" cy="1225296"/>
          </a:xfrm>
          <a:prstGeom prst="roundRect">
            <a:avLst>
              <a:gd name="adj" fmla="val 6716"/>
            </a:avLst>
          </a:prstGeom>
          <a:solidFill>
            <a:srgbClr val="F5F6F8"/>
          </a:solidFill>
          <a:ln w="12700">
            <a:solidFill>
              <a:srgbClr val="E7E9EE"/>
            </a:solidFill>
            <a:prstDash val="solid"/>
          </a:ln>
        </p:spPr>
      </p:sp>
      <p:sp>
        <p:nvSpPr>
          <p:cNvPr id="7" name="Shape 4"/>
          <p:cNvSpPr/>
          <p:nvPr/>
        </p:nvSpPr>
        <p:spPr>
          <a:xfrm>
            <a:off x="914400" y="2350008"/>
            <a:ext cx="457200" cy="45720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24128" y="2459736"/>
            <a:ext cx="237744" cy="237744"/>
          </a:xfrm>
          <a:prstGeom prst="rect">
            <a:avLst/>
          </a:prstGeom>
        </p:spPr>
      </p:pic>
      <p:sp>
        <p:nvSpPr>
          <p:cNvPr id="9" name="Text 5"/>
          <p:cNvSpPr/>
          <p:nvPr/>
        </p:nvSpPr>
        <p:spPr>
          <a:xfrm>
            <a:off x="155448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Facts supported?</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Every claim traces to the source material.</a:t>
            </a:r>
            <a:endParaRPr lang="en-US" sz="1550" dirty="0"/>
          </a:p>
        </p:txBody>
      </p:sp>
      <p:sp>
        <p:nvSpPr>
          <p:cNvPr id="10" name="Shape 6"/>
          <p:cNvSpPr/>
          <p:nvPr/>
        </p:nvSpPr>
        <p:spPr>
          <a:xfrm>
            <a:off x="6172200" y="1965960"/>
            <a:ext cx="5349240" cy="1225296"/>
          </a:xfrm>
          <a:prstGeom prst="roundRect">
            <a:avLst>
              <a:gd name="adj" fmla="val 6716"/>
            </a:avLst>
          </a:prstGeom>
          <a:solidFill>
            <a:srgbClr val="F5F6F8"/>
          </a:solidFill>
          <a:ln w="12700">
            <a:solidFill>
              <a:srgbClr val="E7E9EE"/>
            </a:solidFill>
            <a:prstDash val="solid"/>
          </a:ln>
        </p:spPr>
      </p:sp>
      <p:sp>
        <p:nvSpPr>
          <p:cNvPr id="11" name="Shape 7"/>
          <p:cNvSpPr/>
          <p:nvPr/>
        </p:nvSpPr>
        <p:spPr>
          <a:xfrm>
            <a:off x="6446520" y="2350008"/>
            <a:ext cx="457200" cy="45720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56248" y="2459736"/>
            <a:ext cx="237744" cy="237744"/>
          </a:xfrm>
          <a:prstGeom prst="rect">
            <a:avLst/>
          </a:prstGeom>
        </p:spPr>
      </p:pic>
      <p:sp>
        <p:nvSpPr>
          <p:cNvPr id="13" name="Text 8"/>
          <p:cNvSpPr/>
          <p:nvPr/>
        </p:nvSpPr>
        <p:spPr>
          <a:xfrm>
            <a:off x="7086600" y="2148840"/>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Counts correct?</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Numbers and totals actually add up.</a:t>
            </a:r>
            <a:endParaRPr lang="en-US" sz="1550" dirty="0"/>
          </a:p>
        </p:txBody>
      </p:sp>
      <p:sp>
        <p:nvSpPr>
          <p:cNvPr id="14" name="Shape 9"/>
          <p:cNvSpPr/>
          <p:nvPr/>
        </p:nvSpPr>
        <p:spPr>
          <a:xfrm>
            <a:off x="640080" y="3355848"/>
            <a:ext cx="5349240" cy="1225296"/>
          </a:xfrm>
          <a:prstGeom prst="roundRect">
            <a:avLst>
              <a:gd name="adj" fmla="val 6716"/>
            </a:avLst>
          </a:prstGeom>
          <a:solidFill>
            <a:srgbClr val="F5F6F8"/>
          </a:solidFill>
          <a:ln w="12700">
            <a:solidFill>
              <a:srgbClr val="E7E9EE"/>
            </a:solidFill>
            <a:prstDash val="solid"/>
          </a:ln>
        </p:spPr>
      </p:sp>
      <p:sp>
        <p:nvSpPr>
          <p:cNvPr id="15" name="Shape 10"/>
          <p:cNvSpPr/>
          <p:nvPr/>
        </p:nvSpPr>
        <p:spPr>
          <a:xfrm>
            <a:off x="914400" y="3739896"/>
            <a:ext cx="457200" cy="45720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24128" y="3849624"/>
            <a:ext cx="237744" cy="237744"/>
          </a:xfrm>
          <a:prstGeom prst="rect">
            <a:avLst/>
          </a:prstGeom>
        </p:spPr>
      </p:pic>
      <p:sp>
        <p:nvSpPr>
          <p:cNvPr id="17" name="Text 11"/>
          <p:cNvSpPr/>
          <p:nvPr/>
        </p:nvSpPr>
        <p:spPr>
          <a:xfrm>
            <a:off x="155448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Citations real?</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Quoted lines exist in the source.</a:t>
            </a:r>
            <a:endParaRPr lang="en-US" sz="1550" dirty="0"/>
          </a:p>
        </p:txBody>
      </p:sp>
      <p:sp>
        <p:nvSpPr>
          <p:cNvPr id="18" name="Shape 12"/>
          <p:cNvSpPr/>
          <p:nvPr/>
        </p:nvSpPr>
        <p:spPr>
          <a:xfrm>
            <a:off x="6172200" y="3355848"/>
            <a:ext cx="5349240" cy="1225296"/>
          </a:xfrm>
          <a:prstGeom prst="roundRect">
            <a:avLst>
              <a:gd name="adj" fmla="val 6716"/>
            </a:avLst>
          </a:prstGeom>
          <a:solidFill>
            <a:srgbClr val="F5F6F8"/>
          </a:solidFill>
          <a:ln w="12700">
            <a:solidFill>
              <a:srgbClr val="E7E9EE"/>
            </a:solidFill>
            <a:prstDash val="solid"/>
          </a:ln>
        </p:spPr>
      </p:sp>
      <p:sp>
        <p:nvSpPr>
          <p:cNvPr id="19" name="Shape 13"/>
          <p:cNvSpPr/>
          <p:nvPr/>
        </p:nvSpPr>
        <p:spPr>
          <a:xfrm>
            <a:off x="6446520" y="3739896"/>
            <a:ext cx="457200" cy="45720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56248" y="3849624"/>
            <a:ext cx="237744" cy="237744"/>
          </a:xfrm>
          <a:prstGeom prst="rect">
            <a:avLst/>
          </a:prstGeom>
        </p:spPr>
      </p:pic>
      <p:sp>
        <p:nvSpPr>
          <p:cNvPr id="21" name="Text 14"/>
          <p:cNvSpPr/>
          <p:nvPr/>
        </p:nvSpPr>
        <p:spPr>
          <a:xfrm>
            <a:off x="7086600" y="3538728"/>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Instructions followed?</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Format, length, and priorities as asked.</a:t>
            </a:r>
            <a:endParaRPr lang="en-US" sz="1550" dirty="0"/>
          </a:p>
        </p:txBody>
      </p:sp>
      <p:sp>
        <p:nvSpPr>
          <p:cNvPr id="22" name="Shape 15"/>
          <p:cNvSpPr/>
          <p:nvPr/>
        </p:nvSpPr>
        <p:spPr>
          <a:xfrm>
            <a:off x="640080" y="4745736"/>
            <a:ext cx="5349240" cy="1225296"/>
          </a:xfrm>
          <a:prstGeom prst="roundRect">
            <a:avLst>
              <a:gd name="adj" fmla="val 6716"/>
            </a:avLst>
          </a:prstGeom>
          <a:solidFill>
            <a:srgbClr val="F5F6F8"/>
          </a:solidFill>
          <a:ln w="12700">
            <a:solidFill>
              <a:srgbClr val="E7E9EE"/>
            </a:solidFill>
            <a:prstDash val="solid"/>
          </a:ln>
        </p:spPr>
      </p:sp>
      <p:sp>
        <p:nvSpPr>
          <p:cNvPr id="23" name="Shape 16"/>
          <p:cNvSpPr/>
          <p:nvPr/>
        </p:nvSpPr>
        <p:spPr>
          <a:xfrm>
            <a:off x="914400" y="5129784"/>
            <a:ext cx="457200" cy="457200"/>
          </a:xfrm>
          <a:prstGeom prst="ellipse">
            <a:avLst/>
          </a:prstGeom>
          <a:solidFill>
            <a:srgbClr val="D31242"/>
          </a:solidFill>
          <a:ln/>
        </p:spPr>
      </p:sp>
      <p:pic>
        <p:nvPicPr>
          <p:cNvPr id="24" name="Image 5" descr="preencoded.png">    </p:cNvPr>
          <p:cNvPicPr>
            <a:picLocks noChangeAspect="1"/>
          </p:cNvPicPr>
          <p:nvPr/>
        </p:nvPicPr>
        <p:blipFill>
          <a:blip r:embed="rId6"/>
          <a:stretch>
            <a:fillRect/>
          </a:stretch>
        </p:blipFill>
        <p:spPr>
          <a:xfrm>
            <a:off x="1024128" y="5239512"/>
            <a:ext cx="237744" cy="237744"/>
          </a:xfrm>
          <a:prstGeom prst="rect">
            <a:avLst/>
          </a:prstGeom>
        </p:spPr>
      </p:pic>
      <p:sp>
        <p:nvSpPr>
          <p:cNvPr id="25" name="Text 17"/>
          <p:cNvSpPr/>
          <p:nvPr/>
        </p:nvSpPr>
        <p:spPr>
          <a:xfrm>
            <a:off x="155448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Anything missing?</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The important item didn't get dropped.</a:t>
            </a:r>
            <a:endParaRPr lang="en-US" sz="1550" dirty="0"/>
          </a:p>
        </p:txBody>
      </p:sp>
      <p:sp>
        <p:nvSpPr>
          <p:cNvPr id="26" name="Shape 18"/>
          <p:cNvSpPr/>
          <p:nvPr/>
        </p:nvSpPr>
        <p:spPr>
          <a:xfrm>
            <a:off x="6172200" y="4745736"/>
            <a:ext cx="5349240" cy="1225296"/>
          </a:xfrm>
          <a:prstGeom prst="roundRect">
            <a:avLst>
              <a:gd name="adj" fmla="val 6716"/>
            </a:avLst>
          </a:prstGeom>
          <a:solidFill>
            <a:srgbClr val="F5F6F8"/>
          </a:solidFill>
          <a:ln w="12700">
            <a:solidFill>
              <a:srgbClr val="E7E9EE"/>
            </a:solidFill>
            <a:prstDash val="solid"/>
          </a:ln>
        </p:spPr>
      </p:sp>
      <p:sp>
        <p:nvSpPr>
          <p:cNvPr id="27" name="Shape 19"/>
          <p:cNvSpPr/>
          <p:nvPr/>
        </p:nvSpPr>
        <p:spPr>
          <a:xfrm>
            <a:off x="6446520" y="5129784"/>
            <a:ext cx="457200" cy="457200"/>
          </a:xfrm>
          <a:prstGeom prst="ellipse">
            <a:avLst/>
          </a:prstGeom>
          <a:solidFill>
            <a:srgbClr val="D31242"/>
          </a:solidFill>
          <a:ln/>
        </p:spPr>
      </p:sp>
      <p:pic>
        <p:nvPicPr>
          <p:cNvPr id="28" name="Image 6" descr="preencoded.png">    </p:cNvPr>
          <p:cNvPicPr>
            <a:picLocks noChangeAspect="1"/>
          </p:cNvPicPr>
          <p:nvPr/>
        </p:nvPicPr>
        <p:blipFill>
          <a:blip r:embed="rId7"/>
          <a:stretch>
            <a:fillRect/>
          </a:stretch>
        </p:blipFill>
        <p:spPr>
          <a:xfrm>
            <a:off x="6556248" y="5239512"/>
            <a:ext cx="237744" cy="237744"/>
          </a:xfrm>
          <a:prstGeom prst="rect">
            <a:avLst/>
          </a:prstGeom>
        </p:spPr>
      </p:pic>
      <p:sp>
        <p:nvSpPr>
          <p:cNvPr id="29" name="Text 20"/>
          <p:cNvSpPr/>
          <p:nvPr/>
        </p:nvSpPr>
        <p:spPr>
          <a:xfrm>
            <a:off x="7086600" y="4928616"/>
            <a:ext cx="4206240" cy="868680"/>
          </a:xfrm>
          <a:prstGeom prst="rect">
            <a:avLst/>
          </a:prstGeom>
          <a:noFill/>
          <a:ln/>
        </p:spPr>
        <p:txBody>
          <a:bodyPr wrap="square" lIns="0" tIns="0" rIns="0" bIns="0" rtlCol="0" anchor="ctr"/>
          <a:lstStyle/>
          <a:p>
            <a:pPr indent="0" marL="0">
              <a:lnSpc>
                <a:spcPct val="105000"/>
              </a:lnSpc>
              <a:buNone/>
            </a:pPr>
            <a:r>
              <a:rPr lang="en-US" sz="1550" b="1" dirty="0">
                <a:solidFill>
                  <a:srgbClr val="1F2733"/>
                </a:solidFill>
                <a:latin typeface="Arial" pitchFamily="34" charset="0"/>
                <a:ea typeface="Arial" pitchFamily="34" charset="-122"/>
                <a:cs typeface="Arial" pitchFamily="34" charset="-120"/>
              </a:rPr>
              <a:t>Right for the reader?</a:t>
            </a:r>
            <a:endParaRPr lang="en-US" sz="155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Language fits the audience — and nothing restricted.</a:t>
            </a:r>
            <a:endParaRPr lang="en-US" sz="1550" dirty="0"/>
          </a:p>
        </p:txBody>
      </p:sp>
      <p:sp>
        <p:nvSpPr>
          <p:cNvPr id="30" name="Text 2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VERIFY</a:t>
            </a:r>
            <a:endParaRPr lang="en-US" sz="850" dirty="0"/>
          </a:p>
        </p:txBody>
      </p:sp>
      <p:sp>
        <p:nvSpPr>
          <p:cNvPr id="31" name="Text 2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32" name="Text 2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REVIEW · RESPONSIBLE PROMPTING</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Approved tools, approved information</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Use only approved AI tools and approved information. Do not enter restricted, confidential, personal, payment, or sensitive member information unless the tool and the use case are explicitly approved for that data.</a:t>
            </a:r>
            <a:endParaRPr lang="en-US" sz="1650" dirty="0"/>
          </a:p>
          <a:p>
            <a:pPr indent="0" marL="0">
              <a:lnSpc>
                <a:spcPct val="120000"/>
              </a:lnSpc>
              <a:buNone/>
            </a:pPr>
            <a:endParaRPr lang="en-US" sz="1650" dirty="0"/>
          </a:p>
          <a:p>
            <a:pPr indent="0" marL="0">
              <a:lnSpc>
                <a:spcPct val="120000"/>
              </a:lnSpc>
              <a:buNone/>
            </a:pPr>
            <a:r>
              <a:rPr lang="en-US" sz="1650" dirty="0">
                <a:solidFill>
                  <a:srgbClr val="3A4452"/>
                </a:solidFill>
                <a:latin typeface="Arial" pitchFamily="34" charset="0"/>
                <a:ea typeface="Arial" pitchFamily="34" charset="-122"/>
                <a:cs typeface="Arial" pitchFamily="34" charset="-120"/>
              </a:rPr>
              <a:t>And remember what a prompt is not: a prompt instruction is not a substitute for company policy, access controls, security review, or your own judgment.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THREE SAFEGUARDS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1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Use approved, properly handled source material.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2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Tell the model not to infer unsupported facts.
</a:t>
            </a:r>
            <a:pPr indent="0" marL="0">
              <a:lnSpc>
                <a:spcPct val="115000"/>
              </a:lnSpc>
              <a:buNone/>
            </a:pPr>
            <a:r>
              <a:rPr lang="en-US" sz="1450" b="1" dirty="0">
                <a:solidFill>
                  <a:srgbClr val="D31242"/>
                </a:solidFill>
                <a:latin typeface="Arial" pitchFamily="34" charset="0"/>
                <a:ea typeface="Arial" pitchFamily="34" charset="-122"/>
                <a:cs typeface="Arial" pitchFamily="34" charset="-120"/>
              </a:rPr>
              <a:t>3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Review the result before you share or act on it.</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RESPONSIBLE USE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
        <p:nvSpPr>
          <p:cNvPr id="12" name="Text 9"/>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PRACTICE · YOUR TURN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Rebuild this prompt with CO-STAR</a:t>
            </a:r>
            <a:endParaRPr lang="en-US" sz="3000" dirty="0"/>
          </a:p>
        </p:txBody>
      </p:sp>
      <p:sp>
        <p:nvSpPr>
          <p:cNvPr id="6" name="Text 3"/>
          <p:cNvSpPr/>
          <p:nvPr/>
        </p:nvSpPr>
        <p:spPr>
          <a:xfrm>
            <a:off x="5029200" y="256032"/>
            <a:ext cx="6519672" cy="219456"/>
          </a:xfrm>
          <a:prstGeom prst="rect">
            <a:avLst/>
          </a:prstGeom>
          <a:noFill/>
          <a:ln/>
        </p:spPr>
        <p:txBody>
          <a:bodyPr wrap="square" lIns="0" tIns="0" rIns="0" bIns="0" rtlCol="0" anchor="ctr"/>
          <a:lstStyle/>
          <a:p>
            <a:pPr algn="r" indent="0" marL="0">
              <a:buNone/>
            </a:pPr>
            <a:r>
              <a:rPr lang="en-US" sz="850" b="1" spc="100" kern="0" dirty="0">
                <a:solidFill>
                  <a:srgbClr val="5E6A78"/>
                </a:solidFill>
                <a:latin typeface="Arial" pitchFamily="34" charset="0"/>
                <a:ea typeface="Arial" pitchFamily="34" charset="-122"/>
                <a:cs typeface="Arial" pitchFamily="34" charset="-120"/>
              </a:rPr>
              <a:t>ASKING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COMPOSING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DIRECTING</a:t>
            </a:r>
            <a:pPr algn="r" indent="0" marL="0">
              <a:buNone/>
            </a:pPr>
            <a:r>
              <a:rPr lang="en-US" sz="850" dirty="0">
                <a:solidFill>
                  <a:srgbClr val="8A93A0"/>
                </a:solidFill>
                <a:latin typeface="Arial" pitchFamily="34" charset="0"/>
                <a:ea typeface="Arial" pitchFamily="34" charset="-122"/>
                <a:cs typeface="Arial" pitchFamily="34" charset="-120"/>
              </a:rPr>
              <a:t>  ›  </a:t>
            </a:r>
            <a:pPr algn="r" indent="0" marL="0">
              <a:buNone/>
            </a:pPr>
            <a:r>
              <a:rPr lang="en-US" sz="850" b="1" spc="100" kern="0" dirty="0">
                <a:solidFill>
                  <a:srgbClr val="5E6A78"/>
                </a:solidFill>
                <a:latin typeface="Arial" pitchFamily="34" charset="0"/>
                <a:ea typeface="Arial" pitchFamily="34" charset="-122"/>
                <a:cs typeface="Arial" pitchFamily="34" charset="-120"/>
              </a:rPr>
              <a:t>DESIGNING</a:t>
            </a:r>
            <a:endParaRPr lang="en-US" sz="850" dirty="0"/>
          </a:p>
        </p:txBody>
      </p:sp>
      <p:sp>
        <p:nvSpPr>
          <p:cNvPr id="7" name="Text 4"/>
          <p:cNvSpPr/>
          <p:nvPr/>
        </p:nvSpPr>
        <p:spPr>
          <a:xfrm>
            <a:off x="640080" y="1517904"/>
            <a:ext cx="10881360" cy="365760"/>
          </a:xfrm>
          <a:prstGeom prst="rect">
            <a:avLst/>
          </a:prstGeom>
          <a:noFill/>
          <a:ln/>
        </p:spPr>
        <p:txBody>
          <a:bodyPr wrap="square" lIns="0" tIns="0" rIns="0" bIns="0" rtlCol="0" anchor="t"/>
          <a:lstStyle/>
          <a:p>
            <a:pPr indent="0" marL="0">
              <a:buNone/>
            </a:pPr>
            <a:r>
              <a:rPr lang="en-US" sz="1300" dirty="0">
                <a:solidFill>
                  <a:srgbClr val="3A4452"/>
                </a:solidFill>
                <a:latin typeface="Arial" pitchFamily="34" charset="0"/>
                <a:ea typeface="Arial" pitchFamily="34" charset="-122"/>
                <a:cs typeface="Arial" pitchFamily="34" charset="-120"/>
              </a:rPr>
              <a:t>Everything from today, on one real task. Work in pairs against the practice dataset — then compare prompts before you compare outputs.</a:t>
            </a:r>
            <a:endParaRPr lang="en-US" sz="1300" dirty="0"/>
          </a:p>
        </p:txBody>
      </p:sp>
      <p:sp>
        <p:nvSpPr>
          <p:cNvPr id="8" name="Shape 5"/>
          <p:cNvSpPr/>
          <p:nvPr/>
        </p:nvSpPr>
        <p:spPr>
          <a:xfrm>
            <a:off x="640080" y="1956816"/>
            <a:ext cx="5486400" cy="3611880"/>
          </a:xfrm>
          <a:prstGeom prst="roundRect">
            <a:avLst>
              <a:gd name="adj" fmla="val 2278"/>
            </a:avLst>
          </a:prstGeom>
          <a:solidFill>
            <a:srgbClr val="1F2733"/>
          </a:solidFill>
          <a:ln/>
          <a:effectLst>
            <a:outerShdw sx="100000" sy="100000" kx="0" ky="0" algn="bl" rotWithShape="0" blurRad="88900" dist="38100" dir="5400000">
              <a:srgbClr val="1F2733">
                <a:alpha val="10000"/>
              </a:srgbClr>
            </a:outerShdw>
          </a:effectLst>
        </p:spPr>
      </p:sp>
      <p:sp>
        <p:nvSpPr>
          <p:cNvPr id="9" name="Text 6"/>
          <p:cNvSpPr/>
          <p:nvPr/>
        </p:nvSpPr>
        <p:spPr>
          <a:xfrm>
            <a:off x="914400" y="2157984"/>
            <a:ext cx="4937760" cy="256032"/>
          </a:xfrm>
          <a:prstGeom prst="rect">
            <a:avLst/>
          </a:prstGeom>
          <a:noFill/>
          <a:ln/>
        </p:spPr>
        <p:txBody>
          <a:bodyPr wrap="square" lIns="0" tIns="0" rIns="0" bIns="0" rtlCol="0" anchor="ctr"/>
          <a:lstStyle/>
          <a:p>
            <a:pPr indent="0" marL="0">
              <a:buNone/>
            </a:pPr>
            <a:r>
              <a:rPr lang="en-US" sz="1100" b="1" spc="100" kern="0" dirty="0">
                <a:solidFill>
                  <a:srgbClr val="FCE4EA"/>
                </a:solidFill>
                <a:latin typeface="Arial" pitchFamily="34" charset="0"/>
                <a:ea typeface="Arial" pitchFamily="34" charset="-122"/>
                <a:cs typeface="Arial" pitchFamily="34" charset="-120"/>
              </a:rPr>
              <a:t>▶  THE WEAK PROMPT</a:t>
            </a:r>
            <a:endParaRPr lang="en-US" sz="1100" dirty="0"/>
          </a:p>
        </p:txBody>
      </p:sp>
      <p:sp>
        <p:nvSpPr>
          <p:cNvPr id="10" name="Text 7"/>
          <p:cNvSpPr/>
          <p:nvPr/>
        </p:nvSpPr>
        <p:spPr>
          <a:xfrm>
            <a:off x="914400" y="2523744"/>
            <a:ext cx="4937760" cy="640080"/>
          </a:xfrm>
          <a:prstGeom prst="rect">
            <a:avLst/>
          </a:prstGeom>
          <a:noFill/>
          <a:ln/>
        </p:spPr>
        <p:txBody>
          <a:bodyPr wrap="square" lIns="0" tIns="0" rIns="0" bIns="0" rtlCol="0" anchor="t"/>
          <a:lstStyle/>
          <a:p>
            <a:pPr indent="0" marL="0">
              <a:lnSpc>
                <a:spcPct val="115000"/>
              </a:lnSpc>
              <a:buNone/>
            </a:pPr>
            <a:r>
              <a:rPr lang="en-US" sz="1400" i="1" dirty="0">
                <a:solidFill>
                  <a:srgbClr val="FFFFFF"/>
                </a:solidFill>
                <a:latin typeface="Arial" pitchFamily="34" charset="0"/>
                <a:ea typeface="Arial" pitchFamily="34" charset="-122"/>
                <a:cs typeface="Arial" pitchFamily="34" charset="-120"/>
              </a:rPr>
              <a:t>“Summarize these comments for leadership.”</a:t>
            </a:r>
            <a:endParaRPr lang="en-US" sz="1400" dirty="0"/>
          </a:p>
        </p:txBody>
      </p:sp>
      <p:sp>
        <p:nvSpPr>
          <p:cNvPr id="11" name="Text 8"/>
          <p:cNvSpPr/>
          <p:nvPr/>
        </p:nvSpPr>
        <p:spPr>
          <a:xfrm>
            <a:off x="914400" y="3383280"/>
            <a:ext cx="4937760" cy="91440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Rebuild it: add the context, the objective, the reader, the style and tone, and the exact output — then add the guard line.</a:t>
            </a:r>
            <a:endParaRPr lang="en-US" sz="1200" dirty="0"/>
          </a:p>
        </p:txBody>
      </p:sp>
      <p:sp>
        <p:nvSpPr>
          <p:cNvPr id="12" name="Text 9"/>
          <p:cNvSpPr/>
          <p:nvPr/>
        </p:nvSpPr>
        <p:spPr>
          <a:xfrm>
            <a:off x="914400" y="4983480"/>
            <a:ext cx="4937760" cy="457200"/>
          </a:xfrm>
          <a:prstGeom prst="rect">
            <a:avLst/>
          </a:prstGeom>
          <a:noFill/>
          <a:ln/>
        </p:spPr>
        <p:txBody>
          <a:bodyPr wrap="square" lIns="0" tIns="0" rIns="0" bIns="0" rtlCol="0" anchor="t"/>
          <a:lstStyle/>
          <a:p>
            <a:pPr indent="0" marL="0">
              <a:buNone/>
            </a:pPr>
            <a:r>
              <a:rPr lang="en-US" sz="1100" i="1" dirty="0">
                <a:solidFill>
                  <a:srgbClr val="C8CDD4"/>
                </a:solidFill>
                <a:latin typeface="Arial" pitchFamily="34" charset="0"/>
                <a:ea typeface="Arial" pitchFamily="34" charset="-122"/>
                <a:cs typeface="Arial" pitchFamily="34" charset="-120"/>
              </a:rPr>
              <a:t>Material: the 29-comment practice dataset handout.</a:t>
            </a:r>
            <a:endParaRPr lang="en-US" sz="1100" dirty="0"/>
          </a:p>
        </p:txBody>
      </p:sp>
      <p:sp>
        <p:nvSpPr>
          <p:cNvPr id="13" name="Shape 10"/>
          <p:cNvSpPr/>
          <p:nvPr/>
        </p:nvSpPr>
        <p:spPr>
          <a:xfrm>
            <a:off x="6355080" y="1956816"/>
            <a:ext cx="5193792" cy="3611880"/>
          </a:xfrm>
          <a:prstGeom prst="roundRect">
            <a:avLst>
              <a:gd name="adj" fmla="val 2278"/>
            </a:avLst>
          </a:prstGeom>
          <a:solidFill>
            <a:srgbClr val="DCFCE7"/>
          </a:solidFill>
          <a:ln/>
        </p:spPr>
      </p:sp>
      <p:sp>
        <p:nvSpPr>
          <p:cNvPr id="14" name="Text 11"/>
          <p:cNvSpPr/>
          <p:nvPr/>
        </p:nvSpPr>
        <p:spPr>
          <a:xfrm>
            <a:off x="6629400" y="2157984"/>
            <a:ext cx="4663440" cy="256032"/>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A STRONG ANSWER INCLUDES</a:t>
            </a:r>
            <a:endParaRPr lang="en-US" sz="1100" dirty="0"/>
          </a:p>
        </p:txBody>
      </p:sp>
      <p:sp>
        <p:nvSpPr>
          <p:cNvPr id="15" name="Text 12"/>
          <p:cNvSpPr/>
          <p:nvPr/>
        </p:nvSpPr>
        <p:spPr>
          <a:xfrm>
            <a:off x="6629400" y="2505456"/>
            <a:ext cx="4663440" cy="2926080"/>
          </a:xfrm>
          <a:prstGeom prst="rect">
            <a:avLst/>
          </a:prstGeom>
          <a:noFill/>
          <a:ln/>
        </p:spPr>
        <p:txBody>
          <a:bodyPr wrap="square" lIns="0" tIns="0" rIns="0" bIns="0" rtlCol="0" anchor="t"/>
          <a:lstStyle/>
          <a:p>
            <a:pPr indent="0" marL="0">
              <a:lnSpc>
                <a:spcPct val="130000"/>
              </a:lnSpc>
              <a:buNone/>
            </a:pPr>
            <a:r>
              <a:rPr lang="en-US" sz="1150" b="1" dirty="0">
                <a:solidFill>
                  <a:srgbClr val="15803D"/>
                </a:solidFill>
                <a:latin typeface="Arial" pitchFamily="34" charset="0"/>
                <a:ea typeface="Arial" pitchFamily="34" charset="-122"/>
                <a:cs typeface="Arial" pitchFamily="34" charset="-120"/>
              </a:rPr>
              <a:t>C</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the batch, named: which survey, roughly how many.
</a:t>
            </a:r>
            <a:pPr indent="0" marL="0">
              <a:lnSpc>
                <a:spcPct val="130000"/>
              </a:lnSpc>
              <a:buNone/>
            </a:pPr>
            <a:r>
              <a:rPr lang="en-US" sz="1150" b="1" dirty="0">
                <a:solidFill>
                  <a:srgbClr val="15803D"/>
                </a:solidFill>
                <a:latin typeface="Arial" pitchFamily="34" charset="0"/>
                <a:ea typeface="Arial" pitchFamily="34" charset="-122"/>
                <a:cs typeface="Arial" pitchFamily="34" charset="-120"/>
              </a:rPr>
              <a:t>O</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an action: group into themes and count.
</a:t>
            </a:r>
            <a:pPr indent="0" marL="0">
              <a:lnSpc>
                <a:spcPct val="130000"/>
              </a:lnSpc>
              <a:buNone/>
            </a:pPr>
            <a:r>
              <a:rPr lang="en-US" sz="1150" b="1" dirty="0">
                <a:solidFill>
                  <a:srgbClr val="15803D"/>
                </a:solidFill>
                <a:latin typeface="Arial" pitchFamily="34" charset="0"/>
                <a:ea typeface="Arial" pitchFamily="34" charset="-122"/>
                <a:cs typeface="Arial" pitchFamily="34" charset="-120"/>
              </a:rPr>
              <a:t>A</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the leader who will actually read it.
</a:t>
            </a:r>
            <a:pPr indent="0" marL="0">
              <a:lnSpc>
                <a:spcPct val="130000"/>
              </a:lnSpc>
              <a:buNone/>
            </a:pPr>
            <a:r>
              <a:rPr lang="en-US" sz="1150" b="1" dirty="0">
                <a:solidFill>
                  <a:srgbClr val="15803D"/>
                </a:solidFill>
                <a:latin typeface="Arial" pitchFamily="34" charset="0"/>
                <a:ea typeface="Arial" pitchFamily="34" charset="-122"/>
                <a:cs typeface="Arial" pitchFamily="34" charset="-120"/>
              </a:rPr>
              <a:t>S/T</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concise, neutral, plain language.
</a:t>
            </a:r>
            <a:pPr indent="0" marL="0">
              <a:lnSpc>
                <a:spcPct val="130000"/>
              </a:lnSpc>
              <a:buNone/>
            </a:pPr>
            <a:r>
              <a:rPr lang="en-US" sz="1150" b="1" dirty="0">
                <a:solidFill>
                  <a:srgbClr val="15803D"/>
                </a:solidFill>
                <a:latin typeface="Arial" pitchFamily="34" charset="0"/>
                <a:ea typeface="Arial" pitchFamily="34" charset="-122"/>
                <a:cs typeface="Arial" pitchFamily="34" charset="-120"/>
              </a:rPr>
              <a:t>R</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bullets with counts, safety first.
</a:t>
            </a:r>
            <a:pPr indent="0" marL="0">
              <a:lnSpc>
                <a:spcPct val="130000"/>
              </a:lnSpc>
              <a:buNone/>
            </a:pPr>
            <a:r>
              <a:rPr lang="en-US" sz="1150" b="1" dirty="0">
                <a:solidFill>
                  <a:srgbClr val="15803D"/>
                </a:solidFill>
                <a:latin typeface="Arial" pitchFamily="34" charset="0"/>
                <a:ea typeface="Arial" pitchFamily="34" charset="-122"/>
                <a:cs typeface="Arial" pitchFamily="34" charset="-120"/>
              </a:rPr>
              <a:t>+</a:t>
            </a:r>
            <a:pPr indent="0" marL="0">
              <a:lnSpc>
                <a:spcPct val="130000"/>
              </a:lnSpc>
              <a:buNone/>
            </a:pPr>
            <a:r>
              <a:rPr lang="en-US" sz="1150" dirty="0">
                <a:solidFill>
                  <a:srgbClr val="1F2733"/>
                </a:solidFill>
                <a:latin typeface="Arial" pitchFamily="34" charset="0"/>
                <a:ea typeface="Arial" pitchFamily="34" charset="-122"/>
                <a:cs typeface="Arial" pitchFamily="34" charset="-120"/>
              </a:rPr>
              <a:t> — the guard line: nothing invented, nothing restricted.</a:t>
            </a:r>
            <a:endParaRPr lang="en-US" sz="115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PRACTICE</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RECAP · TAKE IT WITH YOU</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Everything we promised, on one card</a:t>
            </a:r>
            <a:endParaRPr lang="en-US" sz="3000" dirty="0"/>
          </a:p>
        </p:txBody>
      </p:sp>
      <p:sp>
        <p:nvSpPr>
          <p:cNvPr id="6" name="Shape 3"/>
          <p:cNvSpPr/>
          <p:nvPr/>
        </p:nvSpPr>
        <p:spPr>
          <a:xfrm>
            <a:off x="640080" y="1847088"/>
            <a:ext cx="5349240" cy="3273552"/>
          </a:xfrm>
          <a:prstGeom prst="roundRect">
            <a:avLst>
              <a:gd name="adj" fmla="val 2514"/>
            </a:avLst>
          </a:prstGeom>
          <a:solidFill>
            <a:srgbClr val="F5F6F8"/>
          </a:solidFill>
          <a:ln w="12700">
            <a:solidFill>
              <a:srgbClr val="E7E9EE"/>
            </a:solidFill>
            <a:prstDash val="solid"/>
          </a:ln>
        </p:spPr>
      </p:sp>
      <p:sp>
        <p:nvSpPr>
          <p:cNvPr id="7" name="Text 4"/>
          <p:cNvSpPr/>
          <p:nvPr/>
        </p:nvSpPr>
        <p:spPr>
          <a:xfrm>
            <a:off x="914400" y="2048256"/>
            <a:ext cx="4800600" cy="256032"/>
          </a:xfrm>
          <a:prstGeom prst="rect">
            <a:avLst/>
          </a:prstGeom>
          <a:noFill/>
          <a:ln/>
        </p:spPr>
        <p:txBody>
          <a:bodyPr wrap="square" lIns="0" tIns="0" rIns="0" bIns="0" rtlCol="0" anchor="ctr"/>
          <a:lstStyle/>
          <a:p>
            <a:pPr indent="0" marL="0">
              <a:buNone/>
            </a:pPr>
            <a:r>
              <a:rPr lang="en-US" sz="1100" b="1" spc="100" kern="0" dirty="0">
                <a:solidFill>
                  <a:srgbClr val="D31242"/>
                </a:solidFill>
                <a:latin typeface="Arial" pitchFamily="34" charset="0"/>
                <a:ea typeface="Arial" pitchFamily="34" charset="-122"/>
                <a:cs typeface="Arial" pitchFamily="34" charset="-120"/>
              </a:rPr>
              <a:t>THE JOB AID</a:t>
            </a:r>
            <a:endParaRPr lang="en-US" sz="1100" dirty="0"/>
          </a:p>
        </p:txBody>
      </p:sp>
      <p:sp>
        <p:nvSpPr>
          <p:cNvPr id="8" name="Text 5"/>
          <p:cNvSpPr/>
          <p:nvPr/>
        </p:nvSpPr>
        <p:spPr>
          <a:xfrm>
            <a:off x="914400" y="2395728"/>
            <a:ext cx="4800600" cy="2560320"/>
          </a:xfrm>
          <a:prstGeom prst="rect">
            <a:avLst/>
          </a:prstGeom>
          <a:noFill/>
          <a:ln/>
        </p:spPr>
        <p:txBody>
          <a:bodyPr wrap="square" lIns="0" tIns="0" rIns="0" bIns="0" rtlCol="0" anchor="t"/>
          <a:lstStyle/>
          <a:p>
            <a:pPr indent="0" marL="0">
              <a:lnSpc>
                <a:spcPct val="125000"/>
              </a:lnSpc>
              <a:buNone/>
            </a:pPr>
            <a:r>
              <a:rPr lang="en-US" sz="1250" b="1" dirty="0">
                <a:solidFill>
                  <a:srgbClr val="D31242"/>
                </a:solidFill>
                <a:latin typeface="Arial" pitchFamily="34" charset="0"/>
                <a:ea typeface="Arial" pitchFamily="34" charset="-122"/>
                <a:cs typeface="Arial" pitchFamily="34" charset="-120"/>
              </a:rPr>
              <a:t>C</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Context · </a:t>
            </a:r>
            <a:pPr indent="0" marL="0">
              <a:lnSpc>
                <a:spcPct val="125000"/>
              </a:lnSpc>
              <a:buNone/>
            </a:pPr>
            <a:r>
              <a:rPr lang="en-US" sz="1250" b="1" dirty="0">
                <a:solidFill>
                  <a:srgbClr val="D31242"/>
                </a:solidFill>
                <a:latin typeface="Arial" pitchFamily="34" charset="0"/>
                <a:ea typeface="Arial" pitchFamily="34" charset="-122"/>
                <a:cs typeface="Arial" pitchFamily="34" charset="-120"/>
              </a:rPr>
              <a:t>O</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Objective · </a:t>
            </a:r>
            <a:pPr indent="0" marL="0">
              <a:lnSpc>
                <a:spcPct val="125000"/>
              </a:lnSpc>
              <a:buNone/>
            </a:pPr>
            <a:r>
              <a:rPr lang="en-US" sz="1250" b="1" dirty="0">
                <a:solidFill>
                  <a:srgbClr val="D31242"/>
                </a:solidFill>
                <a:latin typeface="Arial" pitchFamily="34" charset="0"/>
                <a:ea typeface="Arial" pitchFamily="34" charset="-122"/>
                <a:cs typeface="Arial" pitchFamily="34" charset="-120"/>
              </a:rPr>
              <a:t>S</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Style · </a:t>
            </a:r>
            <a:pPr indent="0" marL="0">
              <a:lnSpc>
                <a:spcPct val="125000"/>
              </a:lnSpc>
              <a:buNone/>
            </a:pPr>
            <a:r>
              <a:rPr lang="en-US" sz="1250" b="1" dirty="0">
                <a:solidFill>
                  <a:srgbClr val="D31242"/>
                </a:solidFill>
                <a:latin typeface="Arial" pitchFamily="34" charset="0"/>
                <a:ea typeface="Arial" pitchFamily="34" charset="-122"/>
                <a:cs typeface="Arial" pitchFamily="34" charset="-120"/>
              </a:rPr>
              <a:t>T</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Tone · </a:t>
            </a:r>
            <a:pPr indent="0" marL="0">
              <a:lnSpc>
                <a:spcPct val="125000"/>
              </a:lnSpc>
              <a:buNone/>
            </a:pPr>
            <a:r>
              <a:rPr lang="en-US" sz="1250" b="1" dirty="0">
                <a:solidFill>
                  <a:srgbClr val="D31242"/>
                </a:solidFill>
                <a:latin typeface="Arial" pitchFamily="34" charset="0"/>
                <a:ea typeface="Arial" pitchFamily="34" charset="-122"/>
                <a:cs typeface="Arial" pitchFamily="34" charset="-120"/>
              </a:rPr>
              <a:t>A</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Audience · </a:t>
            </a:r>
            <a:pPr indent="0" marL="0">
              <a:lnSpc>
                <a:spcPct val="125000"/>
              </a:lnSpc>
              <a:buNone/>
            </a:pPr>
            <a:r>
              <a:rPr lang="en-US" sz="1250" b="1" dirty="0">
                <a:solidFill>
                  <a:srgbClr val="D31242"/>
                </a:solidFill>
                <a:latin typeface="Arial" pitchFamily="34" charset="0"/>
                <a:ea typeface="Arial" pitchFamily="34" charset="-122"/>
                <a:cs typeface="Arial" pitchFamily="34" charset="-120"/>
              </a:rPr>
              <a:t>R</a:t>
            </a:r>
            <a:pPr indent="0" marL="0">
              <a:lnSpc>
                <a:spcPct val="125000"/>
              </a:lnSpc>
              <a:buNone/>
            </a:pPr>
            <a:r>
              <a:rPr lang="en-US" sz="1250" dirty="0">
                <a:solidFill>
                  <a:srgbClr val="1F2733"/>
                </a:solidFill>
                <a:latin typeface="Arial" pitchFamily="34" charset="0"/>
                <a:ea typeface="Arial" pitchFamily="34" charset="-122"/>
                <a:cs typeface="Arial" pitchFamily="34" charset="-120"/>
              </a:rPr>
              <a:t> Response
</a:t>
            </a:r>
            <a:pPr indent="0" marL="0">
              <a:lnSpc>
                <a:spcPct val="125000"/>
              </a:lnSpc>
              <a:buNone/>
            </a:pPr>
            <a:r>
              <a:rPr lang="en-US" sz="1250" dirty="0">
                <a:solidFill>
                  <a:srgbClr val="3A4452"/>
                </a:solidFill>
                <a:latin typeface="Arial" pitchFamily="34" charset="0"/>
                <a:ea typeface="Arial" pitchFamily="34" charset="-122"/>
                <a:cs typeface="Arial" pitchFamily="34" charset="-120"/>
              </a:rPr>
              <a:t>After prompting — three habits:
</a:t>
            </a:r>
            <a:pPr indent="0" marL="0">
              <a:lnSpc>
                <a:spcPct val="125000"/>
              </a:lnSpc>
              <a:buNone/>
            </a:pPr>
            <a:r>
              <a:rPr lang="en-US" sz="1600" b="1" dirty="0">
                <a:solidFill>
                  <a:srgbClr val="D31242"/>
                </a:solidFill>
                <a:latin typeface="Arial" pitchFamily="34" charset="0"/>
                <a:ea typeface="Arial" pitchFamily="34" charset="-122"/>
                <a:cs typeface="Arial" pitchFamily="34" charset="-120"/>
              </a:rPr>
              <a:t>Ground it.  Refine it.  Verify it.</a:t>
            </a:r>
            <a:endParaRPr lang="en-US" sz="1250" dirty="0"/>
          </a:p>
        </p:txBody>
      </p:sp>
      <p:sp>
        <p:nvSpPr>
          <p:cNvPr id="9" name="Shape 6"/>
          <p:cNvSpPr/>
          <p:nvPr/>
        </p:nvSpPr>
        <p:spPr>
          <a:xfrm>
            <a:off x="6172200" y="1847088"/>
            <a:ext cx="5349240" cy="3273552"/>
          </a:xfrm>
          <a:prstGeom prst="roundRect">
            <a:avLst>
              <a:gd name="adj" fmla="val 2514"/>
            </a:avLst>
          </a:prstGeom>
          <a:solidFill>
            <a:srgbClr val="F5F6F8"/>
          </a:solidFill>
          <a:ln w="12700">
            <a:solidFill>
              <a:srgbClr val="E7E9EE"/>
            </a:solidFill>
            <a:prstDash val="solid"/>
          </a:ln>
        </p:spPr>
      </p:sp>
      <p:sp>
        <p:nvSpPr>
          <p:cNvPr id="10" name="Text 7"/>
          <p:cNvSpPr/>
          <p:nvPr/>
        </p:nvSpPr>
        <p:spPr>
          <a:xfrm>
            <a:off x="6446520" y="2048256"/>
            <a:ext cx="4800600" cy="256032"/>
          </a:xfrm>
          <a:prstGeom prst="rect">
            <a:avLst/>
          </a:prstGeom>
          <a:noFill/>
          <a:ln/>
        </p:spPr>
        <p:txBody>
          <a:bodyPr wrap="square" lIns="0" tIns="0" rIns="0" bIns="0" rtlCol="0" anchor="ctr"/>
          <a:lstStyle/>
          <a:p>
            <a:pPr indent="0" marL="0">
              <a:buNone/>
            </a:pPr>
            <a:r>
              <a:rPr lang="en-US" sz="1100" b="1" spc="100" kern="0" dirty="0">
                <a:solidFill>
                  <a:srgbClr val="D31242"/>
                </a:solidFill>
                <a:latin typeface="Arial" pitchFamily="34" charset="0"/>
                <a:ea typeface="Arial" pitchFamily="34" charset="-122"/>
                <a:cs typeface="Arial" pitchFamily="34" charset="-120"/>
              </a:rPr>
              <a:t>YOUR JOURNEY</a:t>
            </a:r>
            <a:endParaRPr lang="en-US" sz="1100" dirty="0"/>
          </a:p>
        </p:txBody>
      </p:sp>
      <p:sp>
        <p:nvSpPr>
          <p:cNvPr id="11" name="Text 8"/>
          <p:cNvSpPr/>
          <p:nvPr/>
        </p:nvSpPr>
        <p:spPr>
          <a:xfrm>
            <a:off x="6446520" y="2395728"/>
            <a:ext cx="4800600" cy="2560320"/>
          </a:xfrm>
          <a:prstGeom prst="rect">
            <a:avLst/>
          </a:prstGeom>
          <a:noFill/>
          <a:ln/>
        </p:spPr>
        <p:txBody>
          <a:bodyPr wrap="square" lIns="0" tIns="0" rIns="0" bIns="0" rtlCol="0" anchor="t"/>
          <a:lstStyle/>
          <a:p>
            <a:pPr indent="0" marL="0">
              <a:lnSpc>
                <a:spcPct val="125000"/>
              </a:lnSpc>
              <a:buNone/>
            </a:pPr>
            <a:r>
              <a:rPr lang="en-US" sz="1250" dirty="0">
                <a:solidFill>
                  <a:srgbClr val="3A4452"/>
                </a:solidFill>
                <a:latin typeface="Arial" pitchFamily="34" charset="0"/>
                <a:ea typeface="Arial" pitchFamily="34" charset="-122"/>
                <a:cs typeface="Arial" pitchFamily="34" charset="-120"/>
              </a:rPr>
              <a:t>Today you covered </a:t>
            </a:r>
            <a:pPr indent="0" marL="0">
              <a:lnSpc>
                <a:spcPct val="125000"/>
              </a:lnSpc>
              <a:buNone/>
            </a:pPr>
            <a:r>
              <a:rPr lang="en-US" sz="1250" b="1" dirty="0">
                <a:solidFill>
                  <a:srgbClr val="1F2733"/>
                </a:solidFill>
                <a:latin typeface="Arial" pitchFamily="34" charset="0"/>
                <a:ea typeface="Arial" pitchFamily="34" charset="-122"/>
                <a:cs typeface="Arial" pitchFamily="34" charset="-120"/>
              </a:rPr>
              <a:t>Asking → Composing</a:t>
            </a:r>
            <a:pPr indent="0" marL="0">
              <a:lnSpc>
                <a:spcPct val="125000"/>
              </a:lnSpc>
              <a:buNone/>
            </a:pPr>
            <a:r>
              <a:rPr lang="en-US" sz="1250" dirty="0">
                <a:solidFill>
                  <a:srgbClr val="3A4452"/>
                </a:solidFill>
                <a:latin typeface="Arial" pitchFamily="34" charset="0"/>
                <a:ea typeface="Arial" pitchFamily="34" charset="-122"/>
                <a:cs typeface="Arial" pitchFamily="34" charset="-120"/>
              </a:rPr>
              <a:t>, and took your first steps into </a:t>
            </a:r>
            <a:pPr indent="0" marL="0">
              <a:lnSpc>
                <a:spcPct val="125000"/>
              </a:lnSpc>
              <a:buNone/>
            </a:pPr>
            <a:r>
              <a:rPr lang="en-US" sz="1250" b="1" dirty="0">
                <a:solidFill>
                  <a:srgbClr val="1F2733"/>
                </a:solidFill>
                <a:latin typeface="Arial" pitchFamily="34" charset="0"/>
                <a:ea typeface="Arial" pitchFamily="34" charset="-122"/>
                <a:cs typeface="Arial" pitchFamily="34" charset="-120"/>
              </a:rPr>
              <a:t>Directing</a:t>
            </a:r>
            <a:pPr indent="0" marL="0">
              <a:lnSpc>
                <a:spcPct val="125000"/>
              </a:lnSpc>
              <a:buNone/>
            </a:pPr>
            <a:r>
              <a:rPr lang="en-US" sz="1250" dirty="0">
                <a:solidFill>
                  <a:srgbClr val="3A4452"/>
                </a:solidFill>
                <a:latin typeface="Arial" pitchFamily="34" charset="0"/>
                <a:ea typeface="Arial" pitchFamily="34" charset="-122"/>
                <a:cs typeface="Arial" pitchFamily="34" charset="-120"/>
              </a:rPr>
              <a:t>.
Next stops when you're ready:
</a:t>
            </a:r>
            <a:pPr indent="0" marL="0">
              <a:lnSpc>
                <a:spcPct val="125000"/>
              </a:lnSpc>
              <a:buNone/>
            </a:pPr>
            <a:r>
              <a:rPr lang="en-US" sz="1250" b="1" dirty="0">
                <a:solidFill>
                  <a:srgbClr val="1F2733"/>
                </a:solidFill>
                <a:latin typeface="Arial" pitchFamily="34" charset="0"/>
                <a:ea typeface="Arial" pitchFamily="34" charset="-122"/>
                <a:cs typeface="Arial" pitchFamily="34" charset="-120"/>
              </a:rPr>
              <a:t>Intermediate</a:t>
            </a:r>
            <a:pPr indent="0" marL="0">
              <a:lnSpc>
                <a:spcPct val="125000"/>
              </a:lnSpc>
              <a:buNone/>
            </a:pPr>
            <a:r>
              <a:rPr lang="en-US" sz="1250" dirty="0">
                <a:solidFill>
                  <a:srgbClr val="3A4452"/>
                </a:solidFill>
                <a:latin typeface="Arial" pitchFamily="34" charset="0"/>
                <a:ea typeface="Arial" pitchFamily="34" charset="-122"/>
                <a:cs typeface="Arial" pitchFamily="34" charset="-120"/>
              </a:rPr>
              <a:t> — Directing, in depth.
</a:t>
            </a:r>
            <a:pPr indent="0" marL="0">
              <a:lnSpc>
                <a:spcPct val="125000"/>
              </a:lnSpc>
              <a:buNone/>
            </a:pPr>
            <a:r>
              <a:rPr lang="en-US" sz="1250" b="1" dirty="0">
                <a:solidFill>
                  <a:srgbClr val="1F2733"/>
                </a:solidFill>
                <a:latin typeface="Arial" pitchFamily="34" charset="0"/>
                <a:ea typeface="Arial" pitchFamily="34" charset="-122"/>
                <a:cs typeface="Arial" pitchFamily="34" charset="-120"/>
              </a:rPr>
              <a:t>Advanced</a:t>
            </a:r>
            <a:pPr indent="0" marL="0">
              <a:lnSpc>
                <a:spcPct val="125000"/>
              </a:lnSpc>
              <a:buNone/>
            </a:pPr>
            <a:r>
              <a:rPr lang="en-US" sz="1250" dirty="0">
                <a:solidFill>
                  <a:srgbClr val="3A4452"/>
                </a:solidFill>
                <a:latin typeface="Arial" pitchFamily="34" charset="0"/>
                <a:ea typeface="Arial" pitchFamily="34" charset="-122"/>
                <a:cs typeface="Arial" pitchFamily="34" charset="-120"/>
              </a:rPr>
              <a:t> — Designing: chains, templates, evaluation.</a:t>
            </a:r>
            <a:endParaRPr lang="en-US" sz="1250" dirty="0"/>
          </a:p>
        </p:txBody>
      </p:sp>
      <p:sp>
        <p:nvSpPr>
          <p:cNvPr id="12" name="Shape 9"/>
          <p:cNvSpPr/>
          <p:nvPr/>
        </p:nvSpPr>
        <p:spPr>
          <a:xfrm>
            <a:off x="640080" y="5321808"/>
            <a:ext cx="10881360" cy="777240"/>
          </a:xfrm>
          <a:prstGeom prst="roundRect">
            <a:avLst>
              <a:gd name="adj" fmla="val 10588"/>
            </a:avLst>
          </a:prstGeom>
          <a:solidFill>
            <a:srgbClr val="FCE4EA"/>
          </a:solidFill>
          <a:ln/>
        </p:spPr>
      </p:sp>
      <p:sp>
        <p:nvSpPr>
          <p:cNvPr id="13" name="Text 10"/>
          <p:cNvSpPr/>
          <p:nvPr/>
        </p:nvSpPr>
        <p:spPr>
          <a:xfrm>
            <a:off x="914400" y="5321808"/>
            <a:ext cx="10332720" cy="777240"/>
          </a:xfrm>
          <a:prstGeom prst="rect">
            <a:avLst/>
          </a:prstGeom>
          <a:noFill/>
          <a:ln/>
        </p:spPr>
        <p:txBody>
          <a:bodyPr wrap="square" lIns="0" tIns="0" rIns="0" bIns="0" rtlCol="0" anchor="ctr"/>
          <a:lstStyle/>
          <a:p>
            <a:pPr indent="0" marL="0">
              <a:lnSpc>
                <a:spcPct val="110000"/>
              </a:lnSpc>
              <a:buNone/>
            </a:pPr>
            <a:r>
              <a:rPr lang="en-US" sz="1250" b="1" dirty="0">
                <a:solidFill>
                  <a:srgbClr val="D31242"/>
                </a:solidFill>
                <a:latin typeface="Arial" pitchFamily="34" charset="0"/>
                <a:ea typeface="Arial" pitchFamily="34" charset="-122"/>
                <a:cs typeface="Arial" pitchFamily="34" charset="-120"/>
              </a:rPr>
              <a:t>This week: </a:t>
            </a:r>
            <a:pPr indent="0" marL="0">
              <a:lnSpc>
                <a:spcPct val="110000"/>
              </a:lnSpc>
              <a:buNone/>
            </a:pPr>
            <a:r>
              <a:rPr lang="en-US" sz="1250" dirty="0">
                <a:solidFill>
                  <a:srgbClr val="3A4452"/>
                </a:solidFill>
                <a:latin typeface="Arial" pitchFamily="34" charset="0"/>
                <a:ea typeface="Arial" pitchFamily="34" charset="-122"/>
                <a:cs typeface="Arial" pitchFamily="34" charset="-120"/>
              </a:rPr>
              <a:t>use CO-STAR on one real, approved task — then ground it, refine it, and verify it before it goes anywhere.</a:t>
            </a:r>
            <a:endParaRPr lang="en-US" sz="125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FUNDAMENTALS · RECAP</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Fundamentals</dc:title>
  <dc:subject>PptxGenJS Presentation</dc:subject>
  <dc:creator>BJ's AI Enablement</dc:creator>
  <cp:lastModifiedBy>BJ's AI Enablement</cp:lastModifiedBy>
  <cp:revision>1</cp:revision>
  <dcterms:created xsi:type="dcterms:W3CDTF">2026-07-11T23:09:18Z</dcterms:created>
  <dcterms:modified xsi:type="dcterms:W3CDTF">2026-07-11T23:09:18Z</dcterms:modified>
</cp:coreProperties>
</file>