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capstone level. Everyone here should be fluent in CO-STAR + Refine (Beginner) and the directing moves (Intermediate). Theme: stop being a power user, start being a builder. ~45 minutes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stage — Designing. Two stages done behind them. Frame Advanced as the multiplier: what they build here scales past themselves to their whole team. This is the last stop on the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to a minute. The one word for today is 'design' — building things that keep working. Everything they've learned is a component they'll now assemble.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mapped one-to-one to the closing takeaways. Objective 5 (guardrails) is where responsible use lives — flag that it isn't a bolt-on, it's part of building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example is a workflow, not a one-off task — deliberately, because Advanced is about building repeatable things. It continues directly from the Intermediate feedback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(notes only): 'prompt chaining.' The payoff to stress: checkability. If the summary is wrong, you can see which step went wrong and fix just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demoing live, run the giant ask first so the room feels the shallowness, then build the chain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(notes only): 'system prompt' for the standing instruction. This is the core multiplier move of the whole program — one asset, many users. Encourage a shared place to keep team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to leave them with is 'scales.' A good template is how one person's skill becomes the team's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(notes only): 'context engineering' — the current best-practice frontier (re-check quarterly). The point: quality of context beats volume. Curate, don't dump.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 input, more signal' is the memorable inversion. Good context is curated, not maximal.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framing (notes): this is lightweight evaluation / A-B testing. Most basic prompt courses skip it — Champions who build assets need it so 'good' is defined, not vibes.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'Chosen on evidence, not vibes.' Two versions and a short checklist is enough — this doesn't need to be 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data-safety and responsible-use guidance here is built-in — SWAP for BJ's official responsible-AI policy when one exists. Framing: guardrails enable more ambitious use safely; they're not a brake.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safety to trust: the guardrailed version is the one a manager can rely on. Responsible use and quality are the same thing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undirected version. Realistic example output. Run it first so the room feels how shallow one giant ask is on a real week of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designed version — one asset that bundles today's moves: a standing instruction (template + guardrails), a structured request, and safety-first ranking. This is what 'build once, everyone benefits' looks like in practice. Results illustrative; swap in real club data and your official responsible-use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five map to the objectives. The sixth closes the whole program: Asking to Designing, done. Ask each Champion to name the one asset they'll build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a Champion pins beside the Beginner and Intermediate cards — the full toolkit on three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the completion — Asking to Designing. Then make it concrete: one real asset, shared. Invite them to bring it to a Champions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Self-read. Research-grade pointers for the most curious Champions.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terms (notes only): 'self-critique' / 'self-refine.' Concept slide of the appendix pair (muted accent); example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slide of the appendix pair. Leaves them with a cheap, high-value habit for any asset they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Plain-English pointers to research-grade topics for curious Champions: self-consistency, agentic patterns (ReAct), retrieval (RAG), and a team prompt library. Names are in these notes; the slide keeps it plain. The prompt library is the most actionable next step for a BJ's Champions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3 · ADVANCED</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Prompt Engineering: From Directing to Designing</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 can build a strong prompt and steer it well. The last step is designing — turning what works into reusable tools, and building in the checks that make them trustworthy.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YOUR LEARNING JOURNEY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From asking to designing — what each level of the program builds</a:t>
            </a:r>
            <a:endParaRPr lang="en-US" sz="3000" dirty="0"/>
          </a:p>
        </p:txBody>
      </p:sp>
      <p:sp>
        <p:nvSpPr>
          <p:cNvPr id="6" name="Shape 3"/>
          <p:cNvSpPr/>
          <p:nvPr/>
        </p:nvSpPr>
        <p:spPr>
          <a:xfrm>
            <a:off x="640080" y="2514600"/>
            <a:ext cx="2532888" cy="3063240"/>
          </a:xfrm>
          <a:prstGeom prst="roundRect">
            <a:avLst>
              <a:gd name="adj" fmla="val 3249"/>
            </a:avLst>
          </a:prstGeom>
          <a:solidFill>
            <a:srgbClr val="F5F6F8"/>
          </a:solidFill>
          <a:ln w="12700">
            <a:solidFill>
              <a:srgbClr val="E7E9EE"/>
            </a:solidFill>
            <a:prstDash val="solid"/>
          </a:ln>
        </p:spPr>
      </p:sp>
      <p:sp>
        <p:nvSpPr>
          <p:cNvPr id="7" name="Shape 4"/>
          <p:cNvSpPr/>
          <p:nvPr/>
        </p:nvSpPr>
        <p:spPr>
          <a:xfrm>
            <a:off x="1613916" y="2788920"/>
            <a:ext cx="585216" cy="585216"/>
          </a:xfrm>
          <a:prstGeom prst="ellipse">
            <a:avLst/>
          </a:prstGeom>
          <a:solidFill>
            <a:srgbClr val="D31242"/>
          </a:solidFill>
          <a:ln/>
        </p:spPr>
      </p:sp>
      <p:sp>
        <p:nvSpPr>
          <p:cNvPr id="8" name="Text 5"/>
          <p:cNvSpPr/>
          <p:nvPr/>
        </p:nvSpPr>
        <p:spPr>
          <a:xfrm>
            <a:off x="1613916" y="2788920"/>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9" name="Text 6"/>
          <p:cNvSpPr/>
          <p:nvPr/>
        </p:nvSpPr>
        <p:spPr>
          <a:xfrm>
            <a:off x="749808" y="3502152"/>
            <a:ext cx="2313432" cy="274320"/>
          </a:xfrm>
          <a:prstGeom prst="rect">
            <a:avLst/>
          </a:prstGeom>
          <a:noFill/>
          <a:ln/>
        </p:spPr>
        <p:txBody>
          <a:bodyPr wrap="square" lIns="0" tIns="0" rIns="0" bIns="0" rtlCol="0" anchor="ctr"/>
          <a:lstStyle/>
          <a:p>
            <a:pPr algn="ctr" indent="0" marL="0">
              <a:buNone/>
            </a:pPr>
            <a:r>
              <a:rPr lang="en-US" sz="1050" b="1" spc="100" kern="0" dirty="0">
                <a:solidFill>
                  <a:srgbClr val="D31242"/>
                </a:solidFill>
                <a:latin typeface="Arial" pitchFamily="34" charset="0"/>
                <a:ea typeface="Arial" pitchFamily="34" charset="-122"/>
                <a:cs typeface="Arial" pitchFamily="34" charset="-120"/>
              </a:rPr>
              <a:t>STAGE 1</a:t>
            </a:r>
            <a:endParaRPr lang="en-US" sz="1050" dirty="0"/>
          </a:p>
        </p:txBody>
      </p:sp>
      <p:sp>
        <p:nvSpPr>
          <p:cNvPr id="10" name="Text 7"/>
          <p:cNvSpPr/>
          <p:nvPr/>
        </p:nvSpPr>
        <p:spPr>
          <a:xfrm>
            <a:off x="749808" y="379476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Asking</a:t>
            </a:r>
            <a:endParaRPr lang="en-US" sz="1800" dirty="0"/>
          </a:p>
        </p:txBody>
      </p:sp>
      <p:sp>
        <p:nvSpPr>
          <p:cNvPr id="11" name="Text 8"/>
          <p:cNvSpPr/>
          <p:nvPr/>
        </p:nvSpPr>
        <p:spPr>
          <a:xfrm>
            <a:off x="804672" y="4325112"/>
            <a:ext cx="2203704" cy="1143000"/>
          </a:xfrm>
          <a:prstGeom prst="rect">
            <a:avLst/>
          </a:prstGeom>
          <a:noFill/>
          <a:ln/>
        </p:spPr>
        <p:txBody>
          <a:bodyPr wrap="square" lIns="0" tIns="0" rIns="0" bIns="0" rtlCol="0" anchor="t"/>
          <a:lstStyle/>
          <a:p>
            <a:pPr algn="ctr" indent="0" marL="0">
              <a:lnSpc>
                <a:spcPct val="105000"/>
              </a:lnSpc>
              <a:buNone/>
            </a:pPr>
            <a:r>
              <a:rPr lang="en-US" sz="1000" dirty="0">
                <a:solidFill>
                  <a:srgbClr val="5E6A78"/>
                </a:solidFill>
                <a:latin typeface="Arial" pitchFamily="34" charset="0"/>
                <a:ea typeface="Arial" pitchFamily="34" charset="-122"/>
                <a:cs typeface="Arial" pitchFamily="34" charset="-120"/>
              </a:rPr>
              <a:t>One-line requests, hit or miss. The everyday habit this program upgrades.</a:t>
            </a:r>
            <a:endParaRPr lang="en-US" sz="1000" dirty="0"/>
          </a:p>
        </p:txBody>
      </p:sp>
      <p:sp>
        <p:nvSpPr>
          <p:cNvPr id="12" name="Text 9"/>
          <p:cNvSpPr/>
          <p:nvPr/>
        </p:nvSpPr>
        <p:spPr>
          <a:xfrm>
            <a:off x="3145536" y="3813048"/>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3429000" y="2514600"/>
            <a:ext cx="2532888" cy="3063240"/>
          </a:xfrm>
          <a:prstGeom prst="roundRect">
            <a:avLst>
              <a:gd name="adj" fmla="val 3249"/>
            </a:avLst>
          </a:prstGeom>
          <a:solidFill>
            <a:srgbClr val="F5F6F8"/>
          </a:solidFill>
          <a:ln w="12700">
            <a:solidFill>
              <a:srgbClr val="E7E9EE"/>
            </a:solidFill>
            <a:prstDash val="solid"/>
          </a:ln>
        </p:spPr>
      </p:sp>
      <p:sp>
        <p:nvSpPr>
          <p:cNvPr id="14" name="Shape 11"/>
          <p:cNvSpPr/>
          <p:nvPr/>
        </p:nvSpPr>
        <p:spPr>
          <a:xfrm>
            <a:off x="4402836" y="2788920"/>
            <a:ext cx="585216" cy="585216"/>
          </a:xfrm>
          <a:prstGeom prst="ellipse">
            <a:avLst/>
          </a:prstGeom>
          <a:solidFill>
            <a:srgbClr val="D31242"/>
          </a:solidFill>
          <a:ln/>
        </p:spPr>
      </p:sp>
      <p:sp>
        <p:nvSpPr>
          <p:cNvPr id="15" name="Text 12"/>
          <p:cNvSpPr/>
          <p:nvPr/>
        </p:nvSpPr>
        <p:spPr>
          <a:xfrm>
            <a:off x="4402836" y="2788920"/>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6" name="Text 13"/>
          <p:cNvSpPr/>
          <p:nvPr/>
        </p:nvSpPr>
        <p:spPr>
          <a:xfrm>
            <a:off x="3538728" y="3502152"/>
            <a:ext cx="2313432" cy="274320"/>
          </a:xfrm>
          <a:prstGeom prst="rect">
            <a:avLst/>
          </a:prstGeom>
          <a:noFill/>
          <a:ln/>
        </p:spPr>
        <p:txBody>
          <a:bodyPr wrap="square" lIns="0" tIns="0" rIns="0" bIns="0" rtlCol="0" anchor="ctr"/>
          <a:lstStyle/>
          <a:p>
            <a:pPr algn="ctr" indent="0" marL="0">
              <a:buNone/>
            </a:pPr>
            <a:r>
              <a:rPr lang="en-US" sz="1050" b="1" spc="100" kern="0" dirty="0">
                <a:solidFill>
                  <a:srgbClr val="D31242"/>
                </a:solidFill>
                <a:latin typeface="Arial" pitchFamily="34" charset="0"/>
                <a:ea typeface="Arial" pitchFamily="34" charset="-122"/>
                <a:cs typeface="Arial" pitchFamily="34" charset="-120"/>
              </a:rPr>
              <a:t>STAGE 2 · DONE</a:t>
            </a:r>
            <a:endParaRPr lang="en-US" sz="1050" dirty="0"/>
          </a:p>
        </p:txBody>
      </p:sp>
      <p:sp>
        <p:nvSpPr>
          <p:cNvPr id="17" name="Text 14"/>
          <p:cNvSpPr/>
          <p:nvPr/>
        </p:nvSpPr>
        <p:spPr>
          <a:xfrm>
            <a:off x="3538728" y="379476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Composing</a:t>
            </a:r>
            <a:endParaRPr lang="en-US" sz="1800" dirty="0"/>
          </a:p>
        </p:txBody>
      </p:sp>
      <p:sp>
        <p:nvSpPr>
          <p:cNvPr id="18" name="Text 15"/>
          <p:cNvSpPr/>
          <p:nvPr/>
        </p:nvSpPr>
        <p:spPr>
          <a:xfrm>
            <a:off x="3593592" y="4325112"/>
            <a:ext cx="2203704" cy="1143000"/>
          </a:xfrm>
          <a:prstGeom prst="rect">
            <a:avLst/>
          </a:prstGeom>
          <a:noFill/>
          <a:ln/>
        </p:spPr>
        <p:txBody>
          <a:bodyPr wrap="square" lIns="0" tIns="0" rIns="0" bIns="0" rtlCol="0" anchor="t"/>
          <a:lstStyle/>
          <a:p>
            <a:pPr algn="ctr" indent="0" marL="0">
              <a:lnSpc>
                <a:spcPct val="105000"/>
              </a:lnSpc>
              <a:buNone/>
            </a:pPr>
            <a:r>
              <a:rPr lang="en-US" sz="1000" dirty="0">
                <a:solidFill>
                  <a:srgbClr val="5E6A78"/>
                </a:solidFill>
                <a:latin typeface="Arial" pitchFamily="34" charset="0"/>
                <a:ea typeface="Arial" pitchFamily="34" charset="-122"/>
                <a:cs typeface="Arial" pitchFamily="34" charset="-120"/>
              </a:rPr>
              <a:t>CO-STAR to build strong prompts on purpose — then the Refine loop to improve them in one follow-up.</a:t>
            </a:r>
            <a:endParaRPr lang="en-US" sz="1000" dirty="0"/>
          </a:p>
        </p:txBody>
      </p:sp>
      <p:sp>
        <p:nvSpPr>
          <p:cNvPr id="19" name="Text 16"/>
          <p:cNvSpPr/>
          <p:nvPr/>
        </p:nvSpPr>
        <p:spPr>
          <a:xfrm>
            <a:off x="5934456" y="3813048"/>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20" name="Shape 17"/>
          <p:cNvSpPr/>
          <p:nvPr/>
        </p:nvSpPr>
        <p:spPr>
          <a:xfrm>
            <a:off x="6217920" y="2514600"/>
            <a:ext cx="2532888" cy="3063240"/>
          </a:xfrm>
          <a:prstGeom prst="roundRect">
            <a:avLst>
              <a:gd name="adj" fmla="val 3249"/>
            </a:avLst>
          </a:prstGeom>
          <a:solidFill>
            <a:srgbClr val="F5F6F8"/>
          </a:solidFill>
          <a:ln w="12700">
            <a:solidFill>
              <a:srgbClr val="E7E9EE"/>
            </a:solidFill>
            <a:prstDash val="solid"/>
          </a:ln>
        </p:spPr>
      </p:sp>
      <p:sp>
        <p:nvSpPr>
          <p:cNvPr id="21" name="Shape 18"/>
          <p:cNvSpPr/>
          <p:nvPr/>
        </p:nvSpPr>
        <p:spPr>
          <a:xfrm>
            <a:off x="7191756" y="2788920"/>
            <a:ext cx="585216" cy="585216"/>
          </a:xfrm>
          <a:prstGeom prst="ellipse">
            <a:avLst/>
          </a:prstGeom>
          <a:solidFill>
            <a:srgbClr val="D31242"/>
          </a:solidFill>
          <a:ln/>
        </p:spPr>
      </p:sp>
      <p:sp>
        <p:nvSpPr>
          <p:cNvPr id="22" name="Text 19"/>
          <p:cNvSpPr/>
          <p:nvPr/>
        </p:nvSpPr>
        <p:spPr>
          <a:xfrm>
            <a:off x="7191756" y="2788920"/>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23" name="Text 20"/>
          <p:cNvSpPr/>
          <p:nvPr/>
        </p:nvSpPr>
        <p:spPr>
          <a:xfrm>
            <a:off x="6327648" y="3502152"/>
            <a:ext cx="2313432" cy="274320"/>
          </a:xfrm>
          <a:prstGeom prst="rect">
            <a:avLst/>
          </a:prstGeom>
          <a:noFill/>
          <a:ln/>
        </p:spPr>
        <p:txBody>
          <a:bodyPr wrap="square" lIns="0" tIns="0" rIns="0" bIns="0" rtlCol="0" anchor="ctr"/>
          <a:lstStyle/>
          <a:p>
            <a:pPr algn="ctr" indent="0" marL="0">
              <a:buNone/>
            </a:pPr>
            <a:r>
              <a:rPr lang="en-US" sz="1050" b="1" spc="100" kern="0" dirty="0">
                <a:solidFill>
                  <a:srgbClr val="D31242"/>
                </a:solidFill>
                <a:latin typeface="Arial" pitchFamily="34" charset="0"/>
                <a:ea typeface="Arial" pitchFamily="34" charset="-122"/>
                <a:cs typeface="Arial" pitchFamily="34" charset="-120"/>
              </a:rPr>
              <a:t>STAGE 3 · DONE</a:t>
            </a:r>
            <a:endParaRPr lang="en-US" sz="1050" dirty="0"/>
          </a:p>
        </p:txBody>
      </p:sp>
      <p:sp>
        <p:nvSpPr>
          <p:cNvPr id="24" name="Text 21"/>
          <p:cNvSpPr/>
          <p:nvPr/>
        </p:nvSpPr>
        <p:spPr>
          <a:xfrm>
            <a:off x="6327648" y="379476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Directing</a:t>
            </a:r>
            <a:endParaRPr lang="en-US" sz="1800" dirty="0"/>
          </a:p>
        </p:txBody>
      </p:sp>
      <p:sp>
        <p:nvSpPr>
          <p:cNvPr id="25" name="Text 22"/>
          <p:cNvSpPr/>
          <p:nvPr/>
        </p:nvSpPr>
        <p:spPr>
          <a:xfrm>
            <a:off x="6382512" y="4325112"/>
            <a:ext cx="2203704" cy="1143000"/>
          </a:xfrm>
          <a:prstGeom prst="rect">
            <a:avLst/>
          </a:prstGeom>
          <a:noFill/>
          <a:ln/>
        </p:spPr>
        <p:txBody>
          <a:bodyPr wrap="square" lIns="0" tIns="0" rIns="0" bIns="0" rtlCol="0" anchor="t"/>
          <a:lstStyle/>
          <a:p>
            <a:pPr algn="ctr" indent="0" marL="0">
              <a:lnSpc>
                <a:spcPct val="105000"/>
              </a:lnSpc>
              <a:buNone/>
            </a:pPr>
            <a:r>
              <a:rPr lang="en-US" sz="1000" dirty="0">
                <a:solidFill>
                  <a:srgbClr val="5E6A78"/>
                </a:solidFill>
                <a:latin typeface="Arial" pitchFamily="34" charset="0"/>
                <a:ea typeface="Arial" pitchFamily="34" charset="-122"/>
                <a:cs typeface="Arial" pitchFamily="34" charset="-120"/>
              </a:rPr>
              <a:t>Examples, reasoning, structured prompts, and grounding answers in your own BJ's documents.</a:t>
            </a:r>
            <a:endParaRPr lang="en-US" sz="1000" dirty="0"/>
          </a:p>
        </p:txBody>
      </p:sp>
      <p:sp>
        <p:nvSpPr>
          <p:cNvPr id="26" name="Text 23"/>
          <p:cNvSpPr/>
          <p:nvPr/>
        </p:nvSpPr>
        <p:spPr>
          <a:xfrm>
            <a:off x="8723376" y="3813048"/>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27" name="Shape 24"/>
          <p:cNvSpPr/>
          <p:nvPr/>
        </p:nvSpPr>
        <p:spPr>
          <a:xfrm>
            <a:off x="9015984" y="2514600"/>
            <a:ext cx="2532888" cy="3063240"/>
          </a:xfrm>
          <a:prstGeom prst="roundRect">
            <a:avLst>
              <a:gd name="adj" fmla="val 3249"/>
            </a:avLst>
          </a:prstGeom>
          <a:solidFill>
            <a:srgbClr val="D31242"/>
          </a:solidFill>
          <a:ln/>
          <a:effectLst>
            <a:outerShdw sx="100000" sy="100000" kx="0" ky="0" algn="bl" rotWithShape="0" blurRad="88900" dist="38100" dir="5400000">
              <a:srgbClr val="1F2733">
                <a:alpha val="10000"/>
              </a:srgbClr>
            </a:outerShdw>
          </a:effectLst>
        </p:spPr>
      </p:sp>
      <p:sp>
        <p:nvSpPr>
          <p:cNvPr id="28" name="Shape 25"/>
          <p:cNvSpPr/>
          <p:nvPr/>
        </p:nvSpPr>
        <p:spPr>
          <a:xfrm>
            <a:off x="9368028" y="2057400"/>
            <a:ext cx="1828800" cy="402336"/>
          </a:xfrm>
          <a:prstGeom prst="roundRect">
            <a:avLst>
              <a:gd name="adj" fmla="val 22727"/>
            </a:avLst>
          </a:prstGeom>
          <a:solidFill>
            <a:srgbClr val="7E0A27"/>
          </a:solidFill>
          <a:ln/>
        </p:spPr>
      </p:sp>
      <p:sp>
        <p:nvSpPr>
          <p:cNvPr id="29" name="Text 26"/>
          <p:cNvSpPr/>
          <p:nvPr/>
        </p:nvSpPr>
        <p:spPr>
          <a:xfrm>
            <a:off x="9368028" y="2057400"/>
            <a:ext cx="1828800" cy="40233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YOU ARE HERE</a:t>
            </a:r>
            <a:endParaRPr lang="en-US" sz="1000" dirty="0"/>
          </a:p>
        </p:txBody>
      </p:sp>
      <p:sp>
        <p:nvSpPr>
          <p:cNvPr id="30" name="Shape 27"/>
          <p:cNvSpPr/>
          <p:nvPr/>
        </p:nvSpPr>
        <p:spPr>
          <a:xfrm>
            <a:off x="9989820" y="2788920"/>
            <a:ext cx="585216" cy="585216"/>
          </a:xfrm>
          <a:prstGeom prst="ellipse">
            <a:avLst/>
          </a:prstGeom>
          <a:solidFill>
            <a:srgbClr val="FFFFFF"/>
          </a:solidFill>
          <a:ln/>
        </p:spPr>
      </p:sp>
      <p:sp>
        <p:nvSpPr>
          <p:cNvPr id="31" name="Text 28"/>
          <p:cNvSpPr/>
          <p:nvPr/>
        </p:nvSpPr>
        <p:spPr>
          <a:xfrm>
            <a:off x="9989820" y="2788920"/>
            <a:ext cx="585216" cy="585216"/>
          </a:xfrm>
          <a:prstGeom prst="rect">
            <a:avLst/>
          </a:prstGeom>
          <a:noFill/>
          <a:ln/>
        </p:spPr>
        <p:txBody>
          <a:bodyPr wrap="square" lIns="0" tIns="0" rIns="0" bIns="0" rtlCol="0" anchor="ctr"/>
          <a:lstStyle/>
          <a:p>
            <a:pPr algn="ctr" indent="0" marL="0">
              <a:buNone/>
            </a:pPr>
            <a:r>
              <a:rPr lang="en-US" sz="2200" b="1" dirty="0">
                <a:solidFill>
                  <a:srgbClr val="D31242"/>
                </a:solidFill>
                <a:latin typeface="Arial" pitchFamily="34" charset="0"/>
                <a:ea typeface="Arial" pitchFamily="34" charset="-122"/>
                <a:cs typeface="Arial" pitchFamily="34" charset="-120"/>
              </a:rPr>
              <a:t>4</a:t>
            </a:r>
            <a:endParaRPr lang="en-US" sz="2200" dirty="0"/>
          </a:p>
        </p:txBody>
      </p:sp>
      <p:sp>
        <p:nvSpPr>
          <p:cNvPr id="32" name="Text 29"/>
          <p:cNvSpPr/>
          <p:nvPr/>
        </p:nvSpPr>
        <p:spPr>
          <a:xfrm>
            <a:off x="9125712" y="3502152"/>
            <a:ext cx="2313432" cy="274320"/>
          </a:xfrm>
          <a:prstGeom prst="rect">
            <a:avLst/>
          </a:prstGeom>
          <a:noFill/>
          <a:ln/>
        </p:spPr>
        <p:txBody>
          <a:bodyPr wrap="square" lIns="0" tIns="0" rIns="0" bIns="0" rtlCol="0" anchor="ctr"/>
          <a:lstStyle/>
          <a:p>
            <a:pPr algn="ctr" indent="0" marL="0">
              <a:buNone/>
            </a:pPr>
            <a:r>
              <a:rPr lang="en-US" sz="1050" b="1" spc="100" kern="0" dirty="0">
                <a:solidFill>
                  <a:srgbClr val="FCE4EA"/>
                </a:solidFill>
                <a:latin typeface="Arial" pitchFamily="34" charset="0"/>
                <a:ea typeface="Arial" pitchFamily="34" charset="-122"/>
                <a:cs typeface="Arial" pitchFamily="34" charset="-120"/>
              </a:rPr>
              <a:t>STAGE 4 · ADVANCED</a:t>
            </a:r>
            <a:endParaRPr lang="en-US" sz="1050" dirty="0"/>
          </a:p>
        </p:txBody>
      </p:sp>
      <p:sp>
        <p:nvSpPr>
          <p:cNvPr id="33" name="Text 30"/>
          <p:cNvSpPr/>
          <p:nvPr/>
        </p:nvSpPr>
        <p:spPr>
          <a:xfrm>
            <a:off x="9125712" y="3794760"/>
            <a:ext cx="2313432"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Designing</a:t>
            </a:r>
            <a:endParaRPr lang="en-US" sz="1800" dirty="0"/>
          </a:p>
        </p:txBody>
      </p:sp>
      <p:sp>
        <p:nvSpPr>
          <p:cNvPr id="34" name="Text 31"/>
          <p:cNvSpPr/>
          <p:nvPr/>
        </p:nvSpPr>
        <p:spPr>
          <a:xfrm>
            <a:off x="9180576" y="4325112"/>
            <a:ext cx="2203704" cy="1143000"/>
          </a:xfrm>
          <a:prstGeom prst="rect">
            <a:avLst/>
          </a:prstGeom>
          <a:noFill/>
          <a:ln/>
        </p:spPr>
        <p:txBody>
          <a:bodyPr wrap="square" lIns="0" tIns="0" rIns="0" bIns="0" rtlCol="0" anchor="t"/>
          <a:lstStyle/>
          <a:p>
            <a:pPr algn="ctr" indent="0" marL="0">
              <a:lnSpc>
                <a:spcPct val="105000"/>
              </a:lnSpc>
              <a:buNone/>
            </a:pPr>
            <a:r>
              <a:rPr lang="en-US" sz="1000" dirty="0">
                <a:solidFill>
                  <a:srgbClr val="FCE4EA"/>
                </a:solidFill>
                <a:latin typeface="Arial" pitchFamily="34" charset="0"/>
                <a:ea typeface="Arial" pitchFamily="34" charset="-122"/>
                <a:cs typeface="Arial" pitchFamily="34" charset="-120"/>
              </a:rPr>
              <a:t>Chain tasks into steps, build reusable team templates, engineer context, and evaluate outputs with guardrails.</a:t>
            </a:r>
            <a:endParaRPr lang="en-US" sz="1000" dirty="0"/>
          </a:p>
        </p:txBody>
      </p:sp>
      <p:sp>
        <p:nvSpPr>
          <p:cNvPr id="35" name="Text 32"/>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ROADMAP</a:t>
            </a:r>
            <a:endParaRPr lang="en-US" sz="850" dirty="0"/>
          </a:p>
        </p:txBody>
      </p:sp>
      <p:sp>
        <p:nvSpPr>
          <p:cNvPr id="36" name="Text 3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RECAP · WHERE YOU LEFT OFF</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can compose, and you can direct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You've come a long way. In Beginner you learned to compose — CO-STAR and the Refine loop. In Intermediate you learned to direct — examples, reasoning, structure, your own documents, and deliberate diagnosis.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Advanced is the last step: designing. You'll take everything you can already do and turn it into reusable assets — chains, templates, and checks — that scale past you to your whole team.</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YOUR STARTING POINT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1F2733"/>
                </a:solidFill>
                <a:latin typeface="Arial" pitchFamily="34" charset="0"/>
                <a:ea typeface="Arial" pitchFamily="34" charset="-122"/>
                <a:cs typeface="Arial" pitchFamily="34" charset="-120"/>
              </a:rPr>
              <a:t>Compose</a:t>
            </a:r>
            <a:pPr indent="0" marL="0">
              <a:lnSpc>
                <a:spcPct val="115000"/>
              </a:lnSpc>
              <a:buNone/>
            </a:pPr>
            <a:r>
              <a:rPr lang="en-US" sz="1450" dirty="0">
                <a:solidFill>
                  <a:srgbClr val="3A4452"/>
                </a:solidFill>
                <a:latin typeface="Arial" pitchFamily="34" charset="0"/>
                <a:ea typeface="Arial" pitchFamily="34" charset="-122"/>
                <a:cs typeface="Arial" pitchFamily="34" charset="-120"/>
              </a:rPr>
              <a:t> — CO-STAR + Refine.
</a:t>
            </a:r>
            <a:pPr indent="0" marL="0">
              <a:lnSpc>
                <a:spcPct val="115000"/>
              </a:lnSpc>
              <a:buNone/>
            </a:pPr>
            <a:r>
              <a:rPr lang="en-US" sz="1450" b="1" dirty="0">
                <a:solidFill>
                  <a:srgbClr val="1F2733"/>
                </a:solidFill>
                <a:latin typeface="Arial" pitchFamily="34" charset="0"/>
                <a:ea typeface="Arial" pitchFamily="34" charset="-122"/>
                <a:cs typeface="Arial" pitchFamily="34" charset="-120"/>
              </a:rPr>
              <a:t>Direct</a:t>
            </a:r>
            <a:pPr indent="0" marL="0">
              <a:lnSpc>
                <a:spcPct val="115000"/>
              </a:lnSpc>
              <a:buNone/>
            </a:pPr>
            <a:r>
              <a:rPr lang="en-US" sz="1450" dirty="0">
                <a:solidFill>
                  <a:srgbClr val="3A4452"/>
                </a:solidFill>
                <a:latin typeface="Arial" pitchFamily="34" charset="0"/>
                <a:ea typeface="Arial" pitchFamily="34" charset="-122"/>
                <a:cs typeface="Arial" pitchFamily="34" charset="-120"/>
              </a:rPr>
              <a:t> — examples, reasoning, structure, grounding.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Now: Design</a:t>
            </a:r>
            <a:pPr indent="0" marL="0">
              <a:lnSpc>
                <a:spcPct val="115000"/>
              </a:lnSpc>
              <a:buNone/>
            </a:pPr>
            <a:r>
              <a:rPr lang="en-US" sz="1450" dirty="0">
                <a:solidFill>
                  <a:srgbClr val="3A4452"/>
                </a:solidFill>
                <a:latin typeface="Arial" pitchFamily="34" charset="0"/>
                <a:ea typeface="Arial" pitchFamily="34" charset="-122"/>
                <a:cs typeface="Arial" pitchFamily="34" charset="-120"/>
              </a:rPr>
              <a:t> — build it to reuse.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RECAP</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1965960"/>
            <a:ext cx="10881360" cy="749808"/>
          </a:xfrm>
          <a:prstGeom prst="roundRect">
            <a:avLst>
              <a:gd name="adj" fmla="val 10976"/>
            </a:avLst>
          </a:prstGeom>
          <a:solidFill>
            <a:srgbClr val="F5F6F8"/>
          </a:solidFill>
          <a:ln w="12700">
            <a:solidFill>
              <a:srgbClr val="E7E9EE"/>
            </a:solidFill>
            <a:prstDash val="solid"/>
          </a:ln>
        </p:spPr>
      </p:sp>
      <p:sp>
        <p:nvSpPr>
          <p:cNvPr id="7" name="Shape 4"/>
          <p:cNvSpPr/>
          <p:nvPr/>
        </p:nvSpPr>
        <p:spPr>
          <a:xfrm>
            <a:off x="868680" y="2112264"/>
            <a:ext cx="457200" cy="457200"/>
          </a:xfrm>
          <a:prstGeom prst="ellipse">
            <a:avLst/>
          </a:prstGeom>
          <a:solidFill>
            <a:srgbClr val="D31242"/>
          </a:solidFill>
          <a:ln/>
        </p:spPr>
      </p:sp>
      <p:sp>
        <p:nvSpPr>
          <p:cNvPr id="8" name="Text 5"/>
          <p:cNvSpPr/>
          <p:nvPr/>
        </p:nvSpPr>
        <p:spPr>
          <a:xfrm>
            <a:off x="868680" y="211226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6"/>
          <p:cNvSpPr/>
          <p:nvPr/>
        </p:nvSpPr>
        <p:spPr>
          <a:xfrm>
            <a:off x="1600200" y="203911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Chain a big task into steps</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Break complex work into a sequence of smaller prompted steps.</a:t>
            </a:r>
            <a:endParaRPr lang="en-US" sz="1550" dirty="0"/>
          </a:p>
        </p:txBody>
      </p:sp>
      <p:sp>
        <p:nvSpPr>
          <p:cNvPr id="10" name="Shape 7"/>
          <p:cNvSpPr/>
          <p:nvPr/>
        </p:nvSpPr>
        <p:spPr>
          <a:xfrm>
            <a:off x="640080" y="2834640"/>
            <a:ext cx="10881360" cy="749808"/>
          </a:xfrm>
          <a:prstGeom prst="roundRect">
            <a:avLst>
              <a:gd name="adj" fmla="val 10976"/>
            </a:avLst>
          </a:prstGeom>
          <a:solidFill>
            <a:srgbClr val="F5F6F8"/>
          </a:solidFill>
          <a:ln w="12700">
            <a:solidFill>
              <a:srgbClr val="E7E9EE"/>
            </a:solidFill>
            <a:prstDash val="solid"/>
          </a:ln>
        </p:spPr>
      </p:sp>
      <p:sp>
        <p:nvSpPr>
          <p:cNvPr id="11" name="Shape 8"/>
          <p:cNvSpPr/>
          <p:nvPr/>
        </p:nvSpPr>
        <p:spPr>
          <a:xfrm>
            <a:off x="868680" y="2980944"/>
            <a:ext cx="457200" cy="457200"/>
          </a:xfrm>
          <a:prstGeom prst="ellipse">
            <a:avLst/>
          </a:prstGeom>
          <a:solidFill>
            <a:srgbClr val="D31242"/>
          </a:solidFill>
          <a:ln/>
        </p:spPr>
      </p:sp>
      <p:sp>
        <p:nvSpPr>
          <p:cNvPr id="12" name="Text 9"/>
          <p:cNvSpPr/>
          <p:nvPr/>
        </p:nvSpPr>
        <p:spPr>
          <a:xfrm>
            <a:off x="868680" y="298094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600200" y="290779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Build a reusable template</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A fill-in-the-blanks prompt your whole team can share.</a:t>
            </a:r>
            <a:endParaRPr lang="en-US" sz="1550" dirty="0"/>
          </a:p>
        </p:txBody>
      </p:sp>
      <p:sp>
        <p:nvSpPr>
          <p:cNvPr id="14" name="Shape 11"/>
          <p:cNvSpPr/>
          <p:nvPr/>
        </p:nvSpPr>
        <p:spPr>
          <a:xfrm>
            <a:off x="640080" y="3703320"/>
            <a:ext cx="10881360" cy="749808"/>
          </a:xfrm>
          <a:prstGeom prst="roundRect">
            <a:avLst>
              <a:gd name="adj" fmla="val 10976"/>
            </a:avLst>
          </a:prstGeom>
          <a:solidFill>
            <a:srgbClr val="F5F6F8"/>
          </a:solidFill>
          <a:ln w="12700">
            <a:solidFill>
              <a:srgbClr val="E7E9EE"/>
            </a:solidFill>
            <a:prstDash val="solid"/>
          </a:ln>
        </p:spPr>
      </p:sp>
      <p:sp>
        <p:nvSpPr>
          <p:cNvPr id="15" name="Shape 12"/>
          <p:cNvSpPr/>
          <p:nvPr/>
        </p:nvSpPr>
        <p:spPr>
          <a:xfrm>
            <a:off x="868680" y="3849624"/>
            <a:ext cx="457200" cy="457200"/>
          </a:xfrm>
          <a:prstGeom prst="ellipse">
            <a:avLst/>
          </a:prstGeom>
          <a:solidFill>
            <a:srgbClr val="D31242"/>
          </a:solidFill>
          <a:ln/>
        </p:spPr>
      </p:sp>
      <p:sp>
        <p:nvSpPr>
          <p:cNvPr id="16" name="Text 13"/>
          <p:cNvSpPr/>
          <p:nvPr/>
        </p:nvSpPr>
        <p:spPr>
          <a:xfrm>
            <a:off x="868680" y="384962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4"/>
          <p:cNvSpPr/>
          <p:nvPr/>
        </p:nvSpPr>
        <p:spPr>
          <a:xfrm>
            <a:off x="1600200" y="377647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Choose the right context</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Include what the task needs and cut the rest.</a:t>
            </a:r>
            <a:endParaRPr lang="en-US" sz="1550" dirty="0"/>
          </a:p>
        </p:txBody>
      </p:sp>
      <p:sp>
        <p:nvSpPr>
          <p:cNvPr id="18" name="Shape 15"/>
          <p:cNvSpPr/>
          <p:nvPr/>
        </p:nvSpPr>
        <p:spPr>
          <a:xfrm>
            <a:off x="640080" y="4572000"/>
            <a:ext cx="10881360" cy="749808"/>
          </a:xfrm>
          <a:prstGeom prst="roundRect">
            <a:avLst>
              <a:gd name="adj" fmla="val 10976"/>
            </a:avLst>
          </a:prstGeom>
          <a:solidFill>
            <a:srgbClr val="F5F6F8"/>
          </a:solidFill>
          <a:ln w="12700">
            <a:solidFill>
              <a:srgbClr val="E7E9EE"/>
            </a:solidFill>
            <a:prstDash val="solid"/>
          </a:ln>
        </p:spPr>
      </p:sp>
      <p:sp>
        <p:nvSpPr>
          <p:cNvPr id="19" name="Shape 16"/>
          <p:cNvSpPr/>
          <p:nvPr/>
        </p:nvSpPr>
        <p:spPr>
          <a:xfrm>
            <a:off x="868680" y="4718304"/>
            <a:ext cx="457200" cy="457200"/>
          </a:xfrm>
          <a:prstGeom prst="ellipse">
            <a:avLst/>
          </a:prstGeom>
          <a:solidFill>
            <a:srgbClr val="D31242"/>
          </a:solidFill>
          <a:ln/>
        </p:spPr>
      </p:sp>
      <p:sp>
        <p:nvSpPr>
          <p:cNvPr id="20" name="Text 17"/>
          <p:cNvSpPr/>
          <p:nvPr/>
        </p:nvSpPr>
        <p:spPr>
          <a:xfrm>
            <a:off x="868680" y="47183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8"/>
          <p:cNvSpPr/>
          <p:nvPr/>
        </p:nvSpPr>
        <p:spPr>
          <a:xfrm>
            <a:off x="1600200" y="464515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Define “good” and A/B-test</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Set success criteria, then compare two prompt versions.</a:t>
            </a:r>
            <a:endParaRPr lang="en-US" sz="1550" dirty="0"/>
          </a:p>
        </p:txBody>
      </p:sp>
      <p:sp>
        <p:nvSpPr>
          <p:cNvPr id="22" name="Shape 19"/>
          <p:cNvSpPr/>
          <p:nvPr/>
        </p:nvSpPr>
        <p:spPr>
          <a:xfrm>
            <a:off x="640080" y="5440680"/>
            <a:ext cx="10881360" cy="749808"/>
          </a:xfrm>
          <a:prstGeom prst="roundRect">
            <a:avLst>
              <a:gd name="adj" fmla="val 10976"/>
            </a:avLst>
          </a:prstGeom>
          <a:solidFill>
            <a:srgbClr val="F5F6F8"/>
          </a:solidFill>
          <a:ln w="12700">
            <a:solidFill>
              <a:srgbClr val="E7E9EE"/>
            </a:solidFill>
            <a:prstDash val="solid"/>
          </a:ln>
        </p:spPr>
      </p:sp>
      <p:sp>
        <p:nvSpPr>
          <p:cNvPr id="23" name="Shape 20"/>
          <p:cNvSpPr/>
          <p:nvPr/>
        </p:nvSpPr>
        <p:spPr>
          <a:xfrm>
            <a:off x="868680" y="5586984"/>
            <a:ext cx="457200" cy="457200"/>
          </a:xfrm>
          <a:prstGeom prst="ellipse">
            <a:avLst/>
          </a:prstGeom>
          <a:solidFill>
            <a:srgbClr val="D31242"/>
          </a:solidFill>
          <a:ln/>
        </p:spPr>
      </p:sp>
      <p:sp>
        <p:nvSpPr>
          <p:cNvPr id="24" name="Text 21"/>
          <p:cNvSpPr/>
          <p:nvPr/>
        </p:nvSpPr>
        <p:spPr>
          <a:xfrm>
            <a:off x="868680" y="55869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5" name="Text 22"/>
          <p:cNvSpPr/>
          <p:nvPr/>
        </p:nvSpPr>
        <p:spPr>
          <a:xfrm>
            <a:off x="1600200" y="551383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Apply guardrails</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Verify, cite, and keep member data safe.</a:t>
            </a:r>
            <a:endParaRPr lang="en-US" sz="1550" dirty="0"/>
          </a:p>
        </p:txBody>
      </p:sp>
      <p:sp>
        <p:nvSpPr>
          <p:cNvPr id="26" name="Text 2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OBJECTIVES</a:t>
            </a:r>
            <a:endParaRPr lang="en-US" sz="850" dirty="0"/>
          </a:p>
        </p:txBody>
      </p:sp>
      <p:sp>
        <p:nvSpPr>
          <p:cNvPr id="27" name="Text 2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multiplier stage — build once, everyone benefits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Directing gets you a great answer on one task. Designing builds something that keeps working — a process, a template, a check — that you and your team run again and again without starting over.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This is where one Champion's well-built asset saves every colleague who uses it. It's how AI adoption spreads past you.</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OUR RUNNING EXAMPLE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100" i="1" dirty="0">
                <a:solidFill>
                  <a:srgbClr val="5E6A78"/>
                </a:solidFill>
                <a:latin typeface="Arial" pitchFamily="34" charset="0"/>
                <a:ea typeface="Arial" pitchFamily="34" charset="-122"/>
                <a:cs typeface="Arial" pitchFamily="34" charset="-120"/>
              </a:rPr>
              <a:t>This week's club feedback — about 30 comments. Five of them:
</a:t>
            </a:r>
            <a:pPr indent="0" marL="0">
              <a:lnSpc>
                <a:spcPct val="115000"/>
              </a:lnSpc>
              <a:buNone/>
            </a:pPr>
            <a:r>
              <a:rPr lang="en-US" sz="1100" dirty="0">
                <a:solidFill>
                  <a:srgbClr val="1F2733"/>
                </a:solidFill>
                <a:latin typeface="Arial" pitchFamily="34" charset="0"/>
                <a:ea typeface="Arial" pitchFamily="34" charset="-122"/>
                <a:cs typeface="Arial" pitchFamily="34" charset="-120"/>
              </a:rPr>
              <a:t>“Waited 22 min at checkout — only 3 lanes open.”
“Rotisserie chicken is always fresh!”
“The app froze when I clipped the gas coupon.”
“Gas pump 4 is down again.”
“Wilted spinach and moldy berries in produce.”
</a:t>
            </a:r>
            <a:pPr indent="0" marL="0">
              <a:lnSpc>
                <a:spcPct val="115000"/>
              </a:lnSpc>
              <a:buNone/>
            </a:pPr>
            <a:r>
              <a:rPr lang="en-US" sz="1100" i="1" dirty="0">
                <a:solidFill>
                  <a:srgbClr val="5E6A78"/>
                </a:solidFill>
                <a:latin typeface="Arial" pitchFamily="34" charset="0"/>
                <a:ea typeface="Arial" pitchFamily="34" charset="-122"/>
                <a:cs typeface="Arial" pitchFamily="34" charset="-120"/>
              </a:rPr>
              <a:t>We'll build the workflow that turns this into a manager summary — every Monday.</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WHY IT MATTERS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CHAIN THE WORK</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Break a big task into a chain of steps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 complex job crammed into one giant prompt comes back shallow — it does a bit of everything and misses the important parts. Break it into steps, and feed each step's output into the next: first pull and tag the comments, then count and flag, then draft the summary.</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Each step is small, checkable, and reliable — and you can fix one step without redoing the whole thing.</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Step 1  </a:t>
            </a:r>
            <a:pPr indent="0" marL="0">
              <a:lnSpc>
                <a:spcPct val="115000"/>
              </a:lnSpc>
              <a:buNone/>
            </a:pPr>
            <a:r>
              <a:rPr lang="en-US" sz="1300" dirty="0">
                <a:solidFill>
                  <a:srgbClr val="1F2733"/>
                </a:solidFill>
                <a:latin typeface="Arial" pitchFamily="34" charset="0"/>
                <a:ea typeface="Arial" pitchFamily="34" charset="-122"/>
                <a:cs typeface="Arial" pitchFamily="34" charset="-120"/>
              </a:rPr>
              <a:t>Pull every comment; tag theme + sentiment.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Step 2  </a:t>
            </a:r>
            <a:pPr indent="0" marL="0">
              <a:lnSpc>
                <a:spcPct val="115000"/>
              </a:lnSpc>
              <a:buNone/>
            </a:pPr>
            <a:r>
              <a:rPr lang="en-US" sz="1300" dirty="0">
                <a:solidFill>
                  <a:srgbClr val="1F2733"/>
                </a:solidFill>
                <a:latin typeface="Arial" pitchFamily="34" charset="0"/>
                <a:ea typeface="Arial" pitchFamily="34" charset="-122"/>
                <a:cs typeface="Arial" pitchFamily="34" charset="-120"/>
              </a:rPr>
              <a:t>Count themes; flag any safety issue.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Step 3  </a:t>
            </a:r>
            <a:pPr indent="0" marL="0">
              <a:lnSpc>
                <a:spcPct val="115000"/>
              </a:lnSpc>
              <a:buNone/>
            </a:pPr>
            <a:r>
              <a:rPr lang="en-US" sz="1300" dirty="0">
                <a:solidFill>
                  <a:srgbClr val="1F2733"/>
                </a:solidFill>
                <a:latin typeface="Arial" pitchFamily="34" charset="0"/>
                <a:ea typeface="Arial" pitchFamily="34" charset="-122"/>
                <a:cs typeface="Arial" pitchFamily="34" charset="-120"/>
              </a:rPr>
              <a:t>Draft a 5-bullet manager summary from Step 2.</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CHAINING</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CHAIN THE WORK</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giant ask vs. a chain of steps</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ONE GIANT ASK</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Summarize this week's feedback and tell me what to do.</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Members had varied feedback this week — some waits and product-quality issues, plus positives on the fresh food. You may want to look into staffing and freshness.</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One prompt juggling tag, count, flag and draft spreads attention thin — the rare safety item is what gets dropped.</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A CHAIN OF STEPS</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Step 1: tag each (theme+sentiment). Step 2: count; flag safety. Step 3: draft 5 bullets from Step 2.</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b="1" dirty="0">
                <a:solidFill>
                  <a:srgbClr val="1F2733"/>
                </a:solidFill>
                <a:latin typeface="Arial" pitchFamily="34" charset="0"/>
                <a:ea typeface="Arial" pitchFamily="34" charset="-122"/>
                <a:cs typeface="Arial" pitchFamily="34" charset="-120"/>
              </a:rPr>
              <a:t>Step 2 → </a:t>
            </a:r>
            <a:pPr indent="0" marL="0">
              <a:lnSpc>
                <a:spcPct val="112000"/>
              </a:lnSpc>
              <a:buNone/>
            </a:pPr>
            <a:r>
              <a:rPr lang="en-US" sz="1050" dirty="0">
                <a:solidFill>
                  <a:srgbClr val="1F2733"/>
                </a:solidFill>
                <a:latin typeface="Arial" pitchFamily="34" charset="0"/>
                <a:ea typeface="Arial" pitchFamily="34" charset="-122"/>
                <a:cs typeface="Arial" pitchFamily="34" charset="-120"/>
              </a:rPr>
              <a:t>Checkout 12, Produce 7, Food +5, App 4, Pump 1 (safety)
</a:t>
            </a:r>
            <a:pPr indent="0" marL="0">
              <a:lnSpc>
                <a:spcPct val="112000"/>
              </a:lnSpc>
              <a:buNone/>
            </a:pPr>
            <a:r>
              <a:rPr lang="en-US" sz="1050" b="1" dirty="0">
                <a:solidFill>
                  <a:srgbClr val="1F2733"/>
                </a:solidFill>
                <a:latin typeface="Arial" pitchFamily="34" charset="0"/>
                <a:ea typeface="Arial" pitchFamily="34" charset="-122"/>
                <a:cs typeface="Arial" pitchFamily="34" charset="-120"/>
              </a:rPr>
              <a:t>Step 3 → </a:t>
            </a:r>
            <a:pPr indent="0" marL="0">
              <a:lnSpc>
                <a:spcPct val="112000"/>
              </a:lnSpc>
              <a:buNone/>
            </a:pPr>
            <a:r>
              <a:rPr lang="en-US" sz="1050" dirty="0">
                <a:solidFill>
                  <a:srgbClr val="1F2733"/>
                </a:solidFill>
                <a:latin typeface="Arial" pitchFamily="34" charset="0"/>
                <a:ea typeface="Arial" pitchFamily="34" charset="-122"/>
                <a:cs typeface="Arial" pitchFamily="34" charset="-120"/>
              </a:rPr>
              <a:t>'Safety: pump 4 — escalate. Checkout waits top volume…'</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Each step does one job and hands checked work to the next — an error surfaces where it happened, not at the end.</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CHAINING</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REUSABLE TEMPLATES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Turn the winning prompt into a team tool</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Once a prompt or chain works, don't retype it and don't keep it to yourself. Save it with blanks for the parts that change — the club, the week, the source — and add a standing instruction that sets how it should always behave. One Champion's prompt becomes the whole team's tool.</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A new manager pastes it and gets it right on day one.</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Standing instruction: </a:t>
            </a:r>
            <a:pPr indent="0" marL="0">
              <a:lnSpc>
                <a:spcPct val="115000"/>
              </a:lnSpc>
              <a:buNone/>
            </a:pPr>
            <a:r>
              <a:rPr lang="en-US" sz="1300" dirty="0">
                <a:solidFill>
                  <a:srgbClr val="1F2733"/>
                </a:solidFill>
                <a:latin typeface="Arial" pitchFamily="34" charset="0"/>
                <a:ea typeface="Arial" pitchFamily="34" charset="-122"/>
                <a:cs typeface="Arial" pitchFamily="34" charset="-120"/>
              </a:rPr>
              <a:t>“You analyse BJ's club feedback. Always group by theme, count mentions, and flag safety first.”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Template: </a:t>
            </a:r>
            <a:pPr indent="0" marL="0">
              <a:lnSpc>
                <a:spcPct val="115000"/>
              </a:lnSpc>
              <a:buNone/>
            </a:pPr>
            <a:r>
              <a:rPr lang="en-US" sz="1300" dirty="0">
                <a:solidFill>
                  <a:srgbClr val="1F2733"/>
                </a:solidFill>
                <a:latin typeface="Arial" pitchFamily="34" charset="0"/>
                <a:ea typeface="Arial" pitchFamily="34" charset="-122"/>
                <a:cs typeface="Arial" pitchFamily="34" charset="-120"/>
              </a:rPr>
              <a:t>Summarise [SOURCE] for [CLUB], week of [DATE].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TEMPLATES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REUSABLE TEMPLATES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Everyone rolls their own vs. one shared template</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EVERYONE ROLLS THEIR OWN</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(three managers, three different prompts)</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Club A: 'Lots of complaints about the lines.'</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Club B: bullet list, no counts.</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Club C: one paragraph, different order.</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Eight people improvising means the quality lives in their heads — it varies by author and leaves when they do.</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ONE SHARED TEMPLATE</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System: always group, count, flag safety. Template: Summarise [SOURCE] for [CLUB], week of [DATE].</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Every club, same shape:</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'Safety: pump 4. Checkout — 12. Produce — 7. App — 4. Fresh food +5.'</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The standing instruction carries the standard; the blanks carry the week. One person's best prompt becomes the floor.</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TEMPLATES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CHOOSE THE RIGHT CONTEXT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With lots of material, more isn't better</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When there's a mountain of material, the instinct is to paste all of it. But too much buries the signal — the model spreads its attention thin and the important thing gets lost. The better move is to choose: include what the task needs, cut the rest.</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For the weekly summary, this week's comments plus last week's counts beat three months of raw archive.</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15803D"/>
                </a:solidFill>
                <a:latin typeface="Arial" pitchFamily="34" charset="0"/>
                <a:ea typeface="Arial" pitchFamily="34" charset="-122"/>
                <a:cs typeface="Arial" pitchFamily="34" charset="-120"/>
              </a:rPr>
              <a:t>Include: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this week's comments + last week's theme counts (for trend).
</a:t>
            </a:r>
            <a:pPr indent="0" marL="0">
              <a:lnSpc>
                <a:spcPct val="115000"/>
              </a:lnSpc>
              <a:buNone/>
            </a:pPr>
            <a:r>
              <a:rPr lang="en-US" sz="1450" b="1" dirty="0">
                <a:solidFill>
                  <a:srgbClr val="B91C1C"/>
                </a:solidFill>
                <a:latin typeface="Arial" pitchFamily="34" charset="0"/>
                <a:ea typeface="Arial" pitchFamily="34" charset="-122"/>
                <a:cs typeface="Arial" pitchFamily="34" charset="-120"/>
              </a:rPr>
              <a:t>Leave out: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the 3-month raw archive and unrelated HQ memos.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CONTEXT</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CHOOSE THE RIGHT CONTEXT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Dump everything vs. right-sized context</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DUMP EVERYTHING</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Summarize. (pastes 3 months of comments)</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Over the past quarter, feedback covered checkout, produce, the app, and gas — broadly consistent themes throughout.</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Three months of noise drowned this week's signal — attention spread across everything means depth on nothing.</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RIGHT-SIZED CONTEXT</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Summarize this week's comments; compare to last week's counts (below).</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Checkout waits jumped 5 → 12 this week — a clear spike. Produce steady at 7. Suggest a look at weekend staffing.</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This week plus one baseline is exactly enough to see change — the spike stands out once the noise is gone.</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CONTEXT</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DEFINE GOOD, THEN TEST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Know what “good” means before you trust it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“How do I know it's good?” is the gap between a dabbler and a builder. Decide what good means up front — accurate counts, safety flagged, five bullets, plain language — then run two versions of your prompt on the same week and score each against those criteria. Keep the winner.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That's how a template earns its place, instead of just feeling right.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Good = </a:t>
            </a:r>
            <a:pPr indent="0" marL="0">
              <a:lnSpc>
                <a:spcPct val="115000"/>
              </a:lnSpc>
              <a:buNone/>
            </a:pPr>
            <a:r>
              <a:rPr lang="en-US" sz="1300" dirty="0">
                <a:solidFill>
                  <a:srgbClr val="1F2733"/>
                </a:solidFill>
                <a:latin typeface="Arial" pitchFamily="34" charset="0"/>
                <a:ea typeface="Arial" pitchFamily="34" charset="-122"/>
                <a:cs typeface="Arial" pitchFamily="34" charset="-120"/>
              </a:rPr>
              <a:t>correct counts · safety flagged · ≤5 bullets · plain language.
</a:t>
            </a:r>
            <a:pPr indent="0" marL="0">
              <a:lnSpc>
                <a:spcPct val="115000"/>
              </a:lnSpc>
              <a:buNone/>
            </a:pPr>
            <a:r>
              <a:rPr lang="en-US" sz="1300" b="1" dirty="0">
                <a:solidFill>
                  <a:srgbClr val="1F2733"/>
                </a:solidFill>
                <a:latin typeface="Arial" pitchFamily="34" charset="0"/>
                <a:ea typeface="Arial" pitchFamily="34" charset="-122"/>
                <a:cs typeface="Arial" pitchFamily="34" charset="-120"/>
              </a:rPr>
              <a:t>Run A and B on this week's feedback — which meets all four?</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EVALUATE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DEFINE GOOD, THEN TEST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“Looks fine” vs. scored against criteria</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“LOOKS FINE” — eyeball version A</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(read it, looks good, ship it)</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Checkout waits — 10. Produce — 7. Good week overall.
</a:t>
            </a:r>
            <a:pPr indent="0" marL="0">
              <a:lnSpc>
                <a:spcPct val="112000"/>
              </a:lnSpc>
              <a:buNone/>
            </a:pPr>
            <a:r>
              <a:rPr lang="en-US" sz="1050" i="1" dirty="0">
                <a:solidFill>
                  <a:srgbClr val="B91C1C"/>
                </a:solidFill>
                <a:latin typeface="Arial" pitchFamily="34" charset="0"/>
                <a:ea typeface="Arial" pitchFamily="34" charset="-122"/>
                <a:cs typeface="Arial" pitchFamily="34" charset="-120"/>
              </a:rPr>
              <a:t>(Count is off, and no safety flag.)</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Reading for tone grades the writing, but the errors live in the facts — exactly where 'looks fine' never checks.</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SCORED A/B</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Good = correct counts · safety flagged · ≤5 bullets · plain language. Which version meets all four?</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A: counts off, no safety → fails.</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B: 'Pump 4 (safety); Checkout — 12…' → meets all four. Keep B.</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Four written criteria turn 'seems good' into a checklist — B wins for reasons you can show, not a feeling.</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EVALUATE</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GUARDRAILS &amp; RESPONSIBLE USE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Build the checks in, not on</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Better prompting means feeding in more real material — so responsible use rides along with the technique, not as an afterthought. Ground claims in the source, tell it to cite or say when it's unsure, verify names and numbers before anything goes out, and never paste a member's personal details or confidential data. Use the tools BJ's has approved.</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A trustworthy asset has these checks built into it.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CHECKLIST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300" b="1" dirty="0">
                <a:solidFill>
                  <a:srgbClr val="15803D"/>
                </a:solidFill>
                <a:latin typeface="Arial" pitchFamily="34" charset="0"/>
                <a:ea typeface="Arial" pitchFamily="34" charset="-122"/>
                <a:cs typeface="Arial" pitchFamily="34" charset="-120"/>
              </a:rPr>
              <a:t>✓ Ground it in the source
</a:t>
            </a:r>
            <a:pPr indent="0" marL="0">
              <a:lnSpc>
                <a:spcPct val="115000"/>
              </a:lnSpc>
              <a:buNone/>
            </a:pPr>
            <a:r>
              <a:rPr lang="en-US" sz="1300" b="1" dirty="0">
                <a:solidFill>
                  <a:srgbClr val="15803D"/>
                </a:solidFill>
                <a:latin typeface="Arial" pitchFamily="34" charset="0"/>
                <a:ea typeface="Arial" pitchFamily="34" charset="-122"/>
                <a:cs typeface="Arial" pitchFamily="34" charset="-120"/>
              </a:rPr>
              <a:t>✓ Cite, or say when unsure
</a:t>
            </a:r>
            <a:pPr indent="0" marL="0">
              <a:lnSpc>
                <a:spcPct val="115000"/>
              </a:lnSpc>
              <a:buNone/>
            </a:pPr>
            <a:r>
              <a:rPr lang="en-US" sz="1300" b="1" dirty="0">
                <a:solidFill>
                  <a:srgbClr val="15803D"/>
                </a:solidFill>
                <a:latin typeface="Arial" pitchFamily="34" charset="0"/>
                <a:ea typeface="Arial" pitchFamily="34" charset="-122"/>
                <a:cs typeface="Arial" pitchFamily="34" charset="-120"/>
              </a:rPr>
              <a:t>✓ Verify names &amp; numbers
</a:t>
            </a:r>
            <a:pPr indent="0" marL="0">
              <a:lnSpc>
                <a:spcPct val="115000"/>
              </a:lnSpc>
              <a:buNone/>
            </a:pPr>
            <a:r>
              <a:rPr lang="en-US" sz="1300" b="1" dirty="0">
                <a:solidFill>
                  <a:srgbClr val="15803D"/>
                </a:solidFill>
                <a:latin typeface="Arial" pitchFamily="34" charset="0"/>
                <a:ea typeface="Arial" pitchFamily="34" charset="-122"/>
                <a:cs typeface="Arial" pitchFamily="34" charset="-120"/>
              </a:rPr>
              <a:t>✓ Keep member data out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GUARDRAILS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GUARDRAILS &amp; RESPONSIBLE USE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Unguarded vs. guardrailed</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UNGUARDED</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Summarize and add some detail.</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Satisfaction was around 82%. Member Jane Smith complained pump 4 was down.
</a:t>
            </a:r>
            <a:pPr indent="0" marL="0">
              <a:lnSpc>
                <a:spcPct val="112000"/>
              </a:lnSpc>
              <a:buNone/>
            </a:pPr>
            <a:r>
              <a:rPr lang="en-US" sz="1050" i="1" dirty="0">
                <a:solidFill>
                  <a:srgbClr val="B91C1C"/>
                </a:solidFill>
                <a:latin typeface="Arial" pitchFamily="34" charset="0"/>
                <a:ea typeface="Arial" pitchFamily="34" charset="-122"/>
                <a:cs typeface="Arial" pitchFamily="34" charset="-120"/>
              </a:rPr>
              <a:t>(Invented stat, and a member's name exposed.)</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'Add detail' with no source is an instruction to invent — and a pasted name rides straight into the output.</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GUARDRAILED</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Use only the comments. Cite a quote or say 'not stated'. No member names.</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Gas pump — 1 ('pump 4 down again'). Safety.</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Satisfaction score — not stated.</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(No names included.)</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Source-only, cite-or-say-not-stated, no names: the rules leave nothing to invent and nothing to leak.</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GUARDRAILS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LIVE DEMO · BEFORE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giant ask</a:t>
            </a:r>
            <a:endParaRPr lang="en-US" sz="3000" dirty="0"/>
          </a:p>
        </p:txBody>
      </p:sp>
      <p:sp>
        <p:nvSpPr>
          <p:cNvPr id="6" name="Shape 3"/>
          <p:cNvSpPr/>
          <p:nvPr/>
        </p:nvSpPr>
        <p:spPr>
          <a:xfrm>
            <a:off x="640080" y="1965960"/>
            <a:ext cx="5486400" cy="4160520"/>
          </a:xfrm>
          <a:prstGeom prst="roundRect">
            <a:avLst>
              <a:gd name="adj" fmla="val 1978"/>
            </a:avLst>
          </a:prstGeom>
          <a:solidFill>
            <a:srgbClr val="1F2733"/>
          </a:solidFill>
          <a:ln/>
          <a:effectLst>
            <a:outerShdw sx="100000" sy="100000" kx="0" ky="0" algn="bl" rotWithShape="0" blurRad="88900" dist="38100" dir="5400000">
              <a:srgbClr val="1F2733">
                <a:alpha val="10000"/>
              </a:srgbClr>
            </a:outerShdw>
          </a:effectLst>
        </p:spPr>
      </p:sp>
      <p:sp>
        <p:nvSpPr>
          <p:cNvPr id="7" name="Text 4"/>
          <p:cNvSpPr/>
          <p:nvPr/>
        </p:nvSpPr>
        <p:spPr>
          <a:xfrm>
            <a:off x="914400" y="2157984"/>
            <a:ext cx="5029200" cy="274320"/>
          </a:xfrm>
          <a:prstGeom prst="rect">
            <a:avLst/>
          </a:prstGeom>
          <a:noFill/>
          <a:ln/>
        </p:spPr>
        <p:txBody>
          <a:bodyPr wrap="square" lIns="0" tIns="0" rIns="0" bIns="0" rtlCol="0" anchor="ctr"/>
          <a:lstStyle/>
          <a:p>
            <a:pPr indent="0" marL="0">
              <a:buNone/>
            </a:pPr>
            <a:r>
              <a:rPr lang="en-US" sz="1100" b="1" spc="100" kern="0" dirty="0">
                <a:solidFill>
                  <a:srgbClr val="FCE4EA"/>
                </a:solidFill>
                <a:latin typeface="Arial" pitchFamily="34" charset="0"/>
                <a:ea typeface="Arial" pitchFamily="34" charset="-122"/>
                <a:cs typeface="Arial" pitchFamily="34" charset="-120"/>
              </a:rPr>
              <a:t>▶  PASTE THIS INTO CLAUDE</a:t>
            </a:r>
            <a:endParaRPr lang="en-US" sz="1100" dirty="0"/>
          </a:p>
        </p:txBody>
      </p:sp>
      <p:sp>
        <p:nvSpPr>
          <p:cNvPr id="8" name="Text 5"/>
          <p:cNvSpPr/>
          <p:nvPr/>
        </p:nvSpPr>
        <p:spPr>
          <a:xfrm>
            <a:off x="914400" y="2523744"/>
            <a:ext cx="4956048" cy="3456432"/>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Summarize this week's club feedback and tell me what to do.
</a:t>
            </a:r>
            <a:pPr indent="0" marL="0">
              <a:lnSpc>
                <a:spcPct val="112000"/>
              </a:lnSpc>
              <a:buNone/>
            </a:pPr>
            <a:r>
              <a:rPr lang="en-US" sz="1050" i="1" dirty="0">
                <a:solidFill>
                  <a:srgbClr val="C8CDD4"/>
                </a:solidFill>
                <a:latin typeface="Arial" pitchFamily="34" charset="0"/>
                <a:ea typeface="Arial" pitchFamily="34" charset="-122"/>
                <a:cs typeface="Arial" pitchFamily="34" charset="-120"/>
              </a:rPr>
              <a:t>[ this week's club feedback pasted here ]</a:t>
            </a:r>
            <a:endParaRPr lang="en-US" sz="1050" dirty="0"/>
          </a:p>
        </p:txBody>
      </p:sp>
      <p:sp>
        <p:nvSpPr>
          <p:cNvPr id="9" name="Shape 6"/>
          <p:cNvSpPr/>
          <p:nvPr/>
        </p:nvSpPr>
        <p:spPr>
          <a:xfrm>
            <a:off x="6355080" y="1965960"/>
            <a:ext cx="5193792" cy="4160520"/>
          </a:xfrm>
          <a:prstGeom prst="roundRect">
            <a:avLst>
              <a:gd name="adj" fmla="val 1978"/>
            </a:avLst>
          </a:prstGeom>
          <a:solidFill>
            <a:srgbClr val="DCFCE7"/>
          </a:solidFill>
          <a:ln/>
        </p:spPr>
      </p:sp>
      <p:sp>
        <p:nvSpPr>
          <p:cNvPr id="10" name="Text 7"/>
          <p:cNvSpPr/>
          <p:nvPr/>
        </p:nvSpPr>
        <p:spPr>
          <a:xfrm>
            <a:off x="6629400" y="2157984"/>
            <a:ext cx="466344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 BACK</a:t>
            </a:r>
            <a:endParaRPr lang="en-US" sz="1100" dirty="0"/>
          </a:p>
        </p:txBody>
      </p:sp>
      <p:sp>
        <p:nvSpPr>
          <p:cNvPr id="11" name="Text 8"/>
          <p:cNvSpPr/>
          <p:nvPr/>
        </p:nvSpPr>
        <p:spPr>
          <a:xfrm>
            <a:off x="6629400" y="2523744"/>
            <a:ext cx="4681728" cy="2724912"/>
          </a:xfrm>
          <a:prstGeom prst="rect">
            <a:avLst/>
          </a:prstGeom>
          <a:noFill/>
          <a:ln/>
        </p:spPr>
        <p:txBody>
          <a:bodyPr wrap="square" lIns="0" tIns="0" rIns="0" bIns="0" rtlCol="0" anchor="t"/>
          <a:lstStyle/>
          <a:p>
            <a:pPr indent="0" marL="0">
              <a:lnSpc>
                <a:spcPct val="110000"/>
              </a:lnSpc>
              <a:buNone/>
            </a:pPr>
            <a:r>
              <a:rPr lang="en-US" sz="1000" dirty="0">
                <a:solidFill>
                  <a:srgbClr val="1F2733"/>
                </a:solidFill>
                <a:latin typeface="Arial" pitchFamily="34" charset="0"/>
                <a:ea typeface="Arial" pitchFamily="34" charset="-122"/>
                <a:cs typeface="Arial" pitchFamily="34" charset="-120"/>
              </a:rPr>
              <a:t>This week members gave a range of feedback. There were complaints about wait times and some product-quality issues, plus positive notes on the fresh food. You may want to look into staffing and check on product freshness.</a:t>
            </a:r>
            <a:endParaRPr lang="en-US" sz="1000" dirty="0"/>
          </a:p>
        </p:txBody>
      </p:sp>
      <p:sp>
        <p:nvSpPr>
          <p:cNvPr id="12" name="Text 9"/>
          <p:cNvSpPr/>
          <p:nvPr/>
        </p:nvSpPr>
        <p:spPr>
          <a:xfrm>
            <a:off x="6629400" y="5349240"/>
            <a:ext cx="4681728" cy="685800"/>
          </a:xfrm>
          <a:prstGeom prst="rect">
            <a:avLst/>
          </a:prstGeom>
          <a:noFill/>
          <a:ln/>
        </p:spPr>
        <p:txBody>
          <a:bodyPr wrap="square" lIns="0" tIns="0" rIns="0" bIns="0" rtlCol="0" anchor="t"/>
          <a:lstStyle/>
          <a:p>
            <a:pPr indent="0" marL="0">
              <a:lnSpc>
                <a:spcPct val="105000"/>
              </a:lnSpc>
              <a:buNone/>
            </a:pPr>
            <a:r>
              <a:rPr lang="en-US" sz="1200" b="1" dirty="0">
                <a:solidFill>
                  <a:srgbClr val="15803D"/>
                </a:solidFill>
                <a:latin typeface="Arial" pitchFamily="34" charset="0"/>
                <a:ea typeface="Arial" pitchFamily="34" charset="-122"/>
                <a:cs typeface="Arial" pitchFamily="34" charset="-120"/>
              </a:rPr>
              <a:t>→  Vague and unranked — and it buries the one safety issue.</a:t>
            </a:r>
            <a:endParaRPr lang="en-US" sz="1200" dirty="0"/>
          </a:p>
        </p:txBody>
      </p:sp>
      <p:sp>
        <p:nvSpPr>
          <p:cNvPr id="13" name="Text 1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LIVE DEMO</a:t>
            </a:r>
            <a:endParaRPr lang="en-US" sz="850" dirty="0"/>
          </a:p>
        </p:txBody>
      </p:sp>
      <p:sp>
        <p:nvSpPr>
          <p:cNvPr id="14" name="Text 1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LIVE DEMO · AFTER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Chained, templated, guardrailed</a:t>
            </a:r>
            <a:endParaRPr lang="en-US" sz="3000" dirty="0"/>
          </a:p>
        </p:txBody>
      </p:sp>
      <p:sp>
        <p:nvSpPr>
          <p:cNvPr id="6" name="Shape 3"/>
          <p:cNvSpPr/>
          <p:nvPr/>
        </p:nvSpPr>
        <p:spPr>
          <a:xfrm>
            <a:off x="640080" y="1965960"/>
            <a:ext cx="5486400" cy="4160520"/>
          </a:xfrm>
          <a:prstGeom prst="roundRect">
            <a:avLst>
              <a:gd name="adj" fmla="val 1978"/>
            </a:avLst>
          </a:prstGeom>
          <a:solidFill>
            <a:srgbClr val="1F2733"/>
          </a:solidFill>
          <a:ln/>
          <a:effectLst>
            <a:outerShdw sx="100000" sy="100000" kx="0" ky="0" algn="bl" rotWithShape="0" blurRad="88900" dist="38100" dir="5400000">
              <a:srgbClr val="1F2733">
                <a:alpha val="10000"/>
              </a:srgbClr>
            </a:outerShdw>
          </a:effectLst>
        </p:spPr>
      </p:sp>
      <p:sp>
        <p:nvSpPr>
          <p:cNvPr id="7" name="Text 4"/>
          <p:cNvSpPr/>
          <p:nvPr/>
        </p:nvSpPr>
        <p:spPr>
          <a:xfrm>
            <a:off x="914400" y="2157984"/>
            <a:ext cx="5029200" cy="274320"/>
          </a:xfrm>
          <a:prstGeom prst="rect">
            <a:avLst/>
          </a:prstGeom>
          <a:noFill/>
          <a:ln/>
        </p:spPr>
        <p:txBody>
          <a:bodyPr wrap="square" lIns="0" tIns="0" rIns="0" bIns="0" rtlCol="0" anchor="ctr"/>
          <a:lstStyle/>
          <a:p>
            <a:pPr indent="0" marL="0">
              <a:buNone/>
            </a:pPr>
            <a:r>
              <a:rPr lang="en-US" sz="1100" b="1" spc="100" kern="0" dirty="0">
                <a:solidFill>
                  <a:srgbClr val="FCE4EA"/>
                </a:solidFill>
                <a:latin typeface="Arial" pitchFamily="34" charset="0"/>
                <a:ea typeface="Arial" pitchFamily="34" charset="-122"/>
                <a:cs typeface="Arial" pitchFamily="34" charset="-120"/>
              </a:rPr>
              <a:t>▶  PASTE THIS INTO CLAUDE</a:t>
            </a:r>
            <a:endParaRPr lang="en-US" sz="1100" dirty="0"/>
          </a:p>
        </p:txBody>
      </p:sp>
      <p:sp>
        <p:nvSpPr>
          <p:cNvPr id="8" name="Text 5"/>
          <p:cNvSpPr/>
          <p:nvPr/>
        </p:nvSpPr>
        <p:spPr>
          <a:xfrm>
            <a:off x="914400" y="2523744"/>
            <a:ext cx="4956048" cy="3456432"/>
          </a:xfrm>
          <a:prstGeom prst="rect">
            <a:avLst/>
          </a:prstGeom>
          <a:noFill/>
          <a:ln/>
        </p:spPr>
        <p:txBody>
          <a:bodyPr wrap="square" lIns="0" tIns="0" rIns="0" bIns="0" rtlCol="0" anchor="t"/>
          <a:lstStyle/>
          <a:p>
            <a:pPr indent="0" marL="0">
              <a:lnSpc>
                <a:spcPct val="112000"/>
              </a:lnSpc>
              <a:buNone/>
            </a:pPr>
            <a:r>
              <a:rPr lang="en-US" sz="1050" b="1" dirty="0">
                <a:solidFill>
                  <a:srgbClr val="FCE4EA"/>
                </a:solidFill>
                <a:latin typeface="Arial" pitchFamily="34" charset="0"/>
                <a:ea typeface="Arial" pitchFamily="34" charset="-122"/>
                <a:cs typeface="Arial" pitchFamily="34" charset="-120"/>
              </a:rPr>
              <a:t>System: </a:t>
            </a:r>
            <a:pPr indent="0" marL="0">
              <a:lnSpc>
                <a:spcPct val="112000"/>
              </a:lnSpc>
              <a:buNone/>
            </a:pPr>
            <a:r>
              <a:rPr lang="en-US" sz="1050" dirty="0">
                <a:solidFill>
                  <a:srgbClr val="FFFFFF"/>
                </a:solidFill>
                <a:latin typeface="Arial" pitchFamily="34" charset="0"/>
                <a:ea typeface="Arial" pitchFamily="34" charset="-122"/>
                <a:cs typeface="Arial" pitchFamily="34" charset="-120"/>
              </a:rPr>
              <a:t>You analyse BJ's club feedback. Always group by theme, count mentions, flag safety first, quote an example, and say 'not stated' rather than guess. Five bullets, plain language.
</a:t>
            </a:r>
            <a:pPr indent="0" marL="0">
              <a:lnSpc>
                <a:spcPct val="112000"/>
              </a:lnSpc>
              <a:buNone/>
            </a:pPr>
            <a:r>
              <a:rPr lang="en-US" sz="1050" dirty="0">
                <a:solidFill>
                  <a:srgbClr val="FFFFFF"/>
                </a:solidFill>
                <a:latin typeface="Arial" pitchFamily="34" charset="0"/>
                <a:ea typeface="Arial" pitchFamily="34" charset="-122"/>
                <a:cs typeface="Arial" pitchFamily="34" charset="-120"/>
              </a:rPr>
              <a:t>Summarise the feedback below for Club #124, week of Jul 6 — then give the manager's top action.
</a:t>
            </a:r>
            <a:pPr indent="0" marL="0">
              <a:lnSpc>
                <a:spcPct val="112000"/>
              </a:lnSpc>
              <a:buNone/>
            </a:pPr>
            <a:r>
              <a:rPr lang="en-US" sz="1050" i="1" dirty="0">
                <a:solidFill>
                  <a:srgbClr val="C8CDD4"/>
                </a:solidFill>
                <a:latin typeface="Arial" pitchFamily="34" charset="0"/>
                <a:ea typeface="Arial" pitchFamily="34" charset="-122"/>
                <a:cs typeface="Arial" pitchFamily="34" charset="-120"/>
              </a:rPr>
              <a:t>[ this week's feedback ]</a:t>
            </a:r>
            <a:endParaRPr lang="en-US" sz="1050" dirty="0"/>
          </a:p>
        </p:txBody>
      </p:sp>
      <p:sp>
        <p:nvSpPr>
          <p:cNvPr id="9" name="Shape 6"/>
          <p:cNvSpPr/>
          <p:nvPr/>
        </p:nvSpPr>
        <p:spPr>
          <a:xfrm>
            <a:off x="6355080" y="1965960"/>
            <a:ext cx="5193792" cy="4160520"/>
          </a:xfrm>
          <a:prstGeom prst="roundRect">
            <a:avLst>
              <a:gd name="adj" fmla="val 1978"/>
            </a:avLst>
          </a:prstGeom>
          <a:solidFill>
            <a:srgbClr val="DCFCE7"/>
          </a:solidFill>
          <a:ln/>
        </p:spPr>
      </p:sp>
      <p:sp>
        <p:nvSpPr>
          <p:cNvPr id="10" name="Text 7"/>
          <p:cNvSpPr/>
          <p:nvPr/>
        </p:nvSpPr>
        <p:spPr>
          <a:xfrm>
            <a:off x="6629400" y="2157984"/>
            <a:ext cx="466344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 BACK</a:t>
            </a:r>
            <a:endParaRPr lang="en-US" sz="1100" dirty="0"/>
          </a:p>
        </p:txBody>
      </p:sp>
      <p:sp>
        <p:nvSpPr>
          <p:cNvPr id="11" name="Text 8"/>
          <p:cNvSpPr/>
          <p:nvPr/>
        </p:nvSpPr>
        <p:spPr>
          <a:xfrm>
            <a:off x="6629400" y="2523744"/>
            <a:ext cx="4681728" cy="2724912"/>
          </a:xfrm>
          <a:prstGeom prst="rect">
            <a:avLst/>
          </a:prstGeom>
          <a:noFill/>
          <a:ln/>
        </p:spPr>
        <p:txBody>
          <a:bodyPr wrap="square" lIns="0" tIns="0" rIns="0" bIns="0" rtlCol="0" anchor="t"/>
          <a:lstStyle/>
          <a:p>
            <a:pPr indent="0" marL="0">
              <a:lnSpc>
                <a:spcPct val="110000"/>
              </a:lnSpc>
              <a:buNone/>
            </a:pPr>
            <a:r>
              <a:rPr lang="en-US" sz="1000" b="1" dirty="0">
                <a:solidFill>
                  <a:srgbClr val="1F2733"/>
                </a:solidFill>
                <a:latin typeface="Arial" pitchFamily="34" charset="0"/>
                <a:ea typeface="Arial" pitchFamily="34" charset="-122"/>
                <a:cs typeface="Arial" pitchFamily="34" charset="-120"/>
              </a:rPr>
              <a:t>MANAGER SUMMARY — Club #124, wk Jul 6
</a:t>
            </a:r>
            <a:pPr indent="0" marL="0">
              <a:lnSpc>
                <a:spcPct val="110000"/>
              </a:lnSpc>
              <a:buNone/>
            </a:pPr>
            <a:r>
              <a:rPr lang="en-US" sz="1000" dirty="0">
                <a:solidFill>
                  <a:srgbClr val="1F2733"/>
                </a:solidFill>
                <a:latin typeface="Arial" pitchFamily="34" charset="0"/>
                <a:ea typeface="Arial" pitchFamily="34" charset="-122"/>
                <a:cs typeface="Arial" pitchFamily="34" charset="-120"/>
              </a:rPr>
              <a:t>• Safety: pump 4 down — 1 ('down again'). Escalate to maintenance today.
• Checkout waits — 12 ('only 3 lanes open'). Top-volume issue.
• Produce quality — 7 ('wilted spinach, moldy berries').
• App issues — 4 ('froze on the gas coupon').
• Fresh food — 5 positive ('rotisserie chicken always fresh').
</a:t>
            </a:r>
            <a:pPr indent="0" marL="0">
              <a:lnSpc>
                <a:spcPct val="110000"/>
              </a:lnSpc>
              <a:buNone/>
            </a:pPr>
            <a:r>
              <a:rPr lang="en-US" sz="1000" b="1" dirty="0">
                <a:solidFill>
                  <a:srgbClr val="D31242"/>
                </a:solidFill>
                <a:latin typeface="Arial" pitchFamily="34" charset="0"/>
                <a:ea typeface="Arial" pitchFamily="34" charset="-122"/>
                <a:cs typeface="Arial" pitchFamily="34" charset="-120"/>
              </a:rPr>
              <a:t>TOP ACTION: </a:t>
            </a:r>
            <a:pPr indent="0" marL="0">
              <a:lnSpc>
                <a:spcPct val="110000"/>
              </a:lnSpc>
              <a:buNone/>
            </a:pPr>
            <a:r>
              <a:rPr lang="en-US" sz="1000" dirty="0">
                <a:solidFill>
                  <a:srgbClr val="1F2733"/>
                </a:solidFill>
                <a:latin typeface="Arial" pitchFamily="34" charset="0"/>
                <a:ea typeface="Arial" pitchFamily="34" charset="-122"/>
                <a:cs typeface="Arial" pitchFamily="34" charset="-120"/>
              </a:rPr>
              <a:t>Fix pump 4 (safety), then add weekend checkout staffing.</a:t>
            </a:r>
            <a:endParaRPr lang="en-US" sz="1000" dirty="0"/>
          </a:p>
        </p:txBody>
      </p:sp>
      <p:sp>
        <p:nvSpPr>
          <p:cNvPr id="12" name="Text 9"/>
          <p:cNvSpPr/>
          <p:nvPr/>
        </p:nvSpPr>
        <p:spPr>
          <a:xfrm>
            <a:off x="6629400" y="5349240"/>
            <a:ext cx="4681728" cy="685800"/>
          </a:xfrm>
          <a:prstGeom prst="rect">
            <a:avLst/>
          </a:prstGeom>
          <a:noFill/>
          <a:ln/>
        </p:spPr>
        <p:txBody>
          <a:bodyPr wrap="square" lIns="0" tIns="0" rIns="0" bIns="0" rtlCol="0" anchor="t"/>
          <a:lstStyle/>
          <a:p>
            <a:pPr indent="0" marL="0">
              <a:lnSpc>
                <a:spcPct val="105000"/>
              </a:lnSpc>
              <a:buNone/>
            </a:pPr>
            <a:r>
              <a:rPr lang="en-US" sz="1200" b="1" dirty="0">
                <a:solidFill>
                  <a:srgbClr val="15803D"/>
                </a:solidFill>
                <a:latin typeface="Arial" pitchFamily="34" charset="0"/>
                <a:ea typeface="Arial" pitchFamily="34" charset="-122"/>
                <a:cs typeface="Arial" pitchFamily="34" charset="-120"/>
              </a:rPr>
              <a:t>→  Ranked, cited, safety-first — ready to send to the manager.</a:t>
            </a:r>
            <a:endParaRPr lang="en-US" sz="1200" dirty="0"/>
          </a:p>
        </p:txBody>
      </p:sp>
      <p:sp>
        <p:nvSpPr>
          <p:cNvPr id="13" name="Text 1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LIVE DEMO</a:t>
            </a:r>
            <a:endParaRPr lang="en-US" sz="850" dirty="0"/>
          </a:p>
        </p:txBody>
      </p:sp>
      <p:sp>
        <p:nvSpPr>
          <p:cNvPr id="14" name="Text 1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can design, not just direct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Chain a big task</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Smaller steps, each checkable.</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Build a reusable template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One asset your whole team shares.</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Choose the right context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Include what helps; cut the rest.</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Define good and A/B-test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Pick the winner on evidence.</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Apply guardrails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Grounded, verified, member data safe.</a:t>
            </a:r>
            <a:endParaRPr lang="en-US" sz="1550" dirty="0"/>
          </a:p>
        </p:txBody>
      </p:sp>
      <p:sp>
        <p:nvSpPr>
          <p:cNvPr id="26" name="Shape 18"/>
          <p:cNvSpPr/>
          <p:nvPr/>
        </p:nvSpPr>
        <p:spPr>
          <a:xfrm>
            <a:off x="6172200" y="4745736"/>
            <a:ext cx="5349240" cy="1225296"/>
          </a:xfrm>
          <a:prstGeom prst="roundRect">
            <a:avLst>
              <a:gd name="adj" fmla="val 6716"/>
            </a:avLst>
          </a:prstGeom>
          <a:solidFill>
            <a:srgbClr val="F5F6F8"/>
          </a:solidFill>
          <a:ln w="12700">
            <a:solidFill>
              <a:srgbClr val="E7E9EE"/>
            </a:solidFill>
            <a:prstDash val="solid"/>
          </a:ln>
        </p:spPr>
      </p:sp>
      <p:sp>
        <p:nvSpPr>
          <p:cNvPr id="27" name="Shape 19"/>
          <p:cNvSpPr/>
          <p:nvPr/>
        </p:nvSpPr>
        <p:spPr>
          <a:xfrm>
            <a:off x="6446520" y="5129784"/>
            <a:ext cx="457200" cy="457200"/>
          </a:xfrm>
          <a:prstGeom prst="ellipse">
            <a:avLst/>
          </a:prstGeom>
          <a:solidFill>
            <a:srgbClr val="D31242"/>
          </a:solidFill>
          <a:ln/>
        </p:spPr>
      </p:sp>
      <p:pic>
        <p:nvPicPr>
          <p:cNvPr id="28" name="Image 6" descr="preencoded.png">    </p:cNvPr>
          <p:cNvPicPr>
            <a:picLocks noChangeAspect="1"/>
          </p:cNvPicPr>
          <p:nvPr/>
        </p:nvPicPr>
        <p:blipFill>
          <a:blip r:embed="rId7"/>
          <a:stretch>
            <a:fillRect/>
          </a:stretch>
        </p:blipFill>
        <p:spPr>
          <a:xfrm>
            <a:off x="6556248" y="5239512"/>
            <a:ext cx="237744" cy="237744"/>
          </a:xfrm>
          <a:prstGeom prst="rect">
            <a:avLst/>
          </a:prstGeom>
        </p:spPr>
      </p:pic>
      <p:sp>
        <p:nvSpPr>
          <p:cNvPr id="29" name="Text 20"/>
          <p:cNvSpPr/>
          <p:nvPr/>
        </p:nvSpPr>
        <p:spPr>
          <a:xfrm>
            <a:off x="708660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You've completed the journey</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Now go build one asset for your team.</a:t>
            </a:r>
            <a:endParaRPr lang="en-US" sz="1550" dirty="0"/>
          </a:p>
        </p:txBody>
      </p:sp>
      <p:sp>
        <p:nvSpPr>
          <p:cNvPr id="30" name="Text 2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TAKEAWAYS</a:t>
            </a:r>
            <a:endParaRPr lang="en-US" sz="850" dirty="0"/>
          </a:p>
        </p:txBody>
      </p:sp>
      <p:sp>
        <p:nvSpPr>
          <p:cNvPr id="31" name="Text 2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KEEP-AT-YOUR-DESK CARD</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Your Advanced moves, one card</a:t>
            </a:r>
            <a:endParaRPr lang="en-US" sz="3000" dirty="0"/>
          </a:p>
        </p:txBody>
      </p:sp>
      <p:sp>
        <p:nvSpPr>
          <p:cNvPr id="6" name="Shape 3"/>
          <p:cNvSpPr/>
          <p:nvPr/>
        </p:nvSpPr>
        <p:spPr>
          <a:xfrm>
            <a:off x="640080" y="1783080"/>
            <a:ext cx="10881360" cy="658368"/>
          </a:xfrm>
          <a:prstGeom prst="roundRect">
            <a:avLst>
              <a:gd name="adj" fmla="val 12500"/>
            </a:avLst>
          </a:prstGeom>
          <a:solidFill>
            <a:srgbClr val="F5F6F8"/>
          </a:solidFill>
          <a:ln w="12700">
            <a:solidFill>
              <a:srgbClr val="E7E9EE"/>
            </a:solidFill>
            <a:prstDash val="solid"/>
          </a:ln>
        </p:spPr>
      </p:sp>
      <p:sp>
        <p:nvSpPr>
          <p:cNvPr id="7" name="Shape 4"/>
          <p:cNvSpPr/>
          <p:nvPr/>
        </p:nvSpPr>
        <p:spPr>
          <a:xfrm>
            <a:off x="841248" y="1911096"/>
            <a:ext cx="402336" cy="402336"/>
          </a:xfrm>
          <a:prstGeom prst="ellipse">
            <a:avLst/>
          </a:prstGeom>
          <a:solidFill>
            <a:srgbClr val="D31242"/>
          </a:solidFill>
          <a:ln/>
        </p:spPr>
      </p:sp>
      <p:sp>
        <p:nvSpPr>
          <p:cNvPr id="8" name="Text 5"/>
          <p:cNvSpPr/>
          <p:nvPr/>
        </p:nvSpPr>
        <p:spPr>
          <a:xfrm>
            <a:off x="841248" y="191109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6"/>
          <p:cNvSpPr/>
          <p:nvPr/>
        </p:nvSpPr>
        <p:spPr>
          <a:xfrm>
            <a:off x="1463040" y="1783080"/>
            <a:ext cx="9875520" cy="658368"/>
          </a:xfrm>
          <a:prstGeom prst="rect">
            <a:avLst/>
          </a:prstGeom>
          <a:noFill/>
          <a:ln/>
        </p:spPr>
        <p:txBody>
          <a:bodyPr wrap="square" lIns="0" tIns="0" rIns="0" bIns="0" rtlCol="0" anchor="ctr"/>
          <a:lstStyle/>
          <a:p>
            <a:pPr indent="0" marL="0">
              <a:buNone/>
            </a:pPr>
            <a:r>
              <a:rPr lang="en-US" sz="1400" b="1" dirty="0">
                <a:solidFill>
                  <a:srgbClr val="1F2733"/>
                </a:solidFill>
                <a:latin typeface="Arial" pitchFamily="34" charset="0"/>
                <a:ea typeface="Arial" pitchFamily="34" charset="-122"/>
                <a:cs typeface="Arial" pitchFamily="34" charset="-120"/>
              </a:rPr>
              <a:t>Chain   </a:t>
            </a:r>
            <a:pPr indent="0" marL="0">
              <a:buNone/>
            </a:pPr>
            <a:r>
              <a:rPr lang="en-US" sz="1250" dirty="0">
                <a:solidFill>
                  <a:srgbClr val="5E6A78"/>
                </a:solidFill>
                <a:latin typeface="Arial" pitchFamily="34" charset="0"/>
                <a:ea typeface="Arial" pitchFamily="34" charset="-122"/>
                <a:cs typeface="Arial" pitchFamily="34" charset="-120"/>
              </a:rPr>
              <a:t>Break big tasks into small, checkable steps.</a:t>
            </a:r>
            <a:endParaRPr lang="en-US" sz="1400" dirty="0"/>
          </a:p>
        </p:txBody>
      </p:sp>
      <p:sp>
        <p:nvSpPr>
          <p:cNvPr id="10" name="Shape 7"/>
          <p:cNvSpPr/>
          <p:nvPr/>
        </p:nvSpPr>
        <p:spPr>
          <a:xfrm>
            <a:off x="640080" y="2496312"/>
            <a:ext cx="10881360" cy="658368"/>
          </a:xfrm>
          <a:prstGeom prst="roundRect">
            <a:avLst>
              <a:gd name="adj" fmla="val 12500"/>
            </a:avLst>
          </a:prstGeom>
          <a:solidFill>
            <a:srgbClr val="F5F6F8"/>
          </a:solidFill>
          <a:ln w="12700">
            <a:solidFill>
              <a:srgbClr val="E7E9EE"/>
            </a:solidFill>
            <a:prstDash val="solid"/>
          </a:ln>
        </p:spPr>
      </p:sp>
      <p:sp>
        <p:nvSpPr>
          <p:cNvPr id="11" name="Shape 8"/>
          <p:cNvSpPr/>
          <p:nvPr/>
        </p:nvSpPr>
        <p:spPr>
          <a:xfrm>
            <a:off x="841248" y="2624328"/>
            <a:ext cx="402336" cy="402336"/>
          </a:xfrm>
          <a:prstGeom prst="ellipse">
            <a:avLst/>
          </a:prstGeom>
          <a:solidFill>
            <a:srgbClr val="D31242"/>
          </a:solidFill>
          <a:ln/>
        </p:spPr>
      </p:sp>
      <p:sp>
        <p:nvSpPr>
          <p:cNvPr id="12" name="Text 9"/>
          <p:cNvSpPr/>
          <p:nvPr/>
        </p:nvSpPr>
        <p:spPr>
          <a:xfrm>
            <a:off x="841248" y="262432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0"/>
          <p:cNvSpPr/>
          <p:nvPr/>
        </p:nvSpPr>
        <p:spPr>
          <a:xfrm>
            <a:off x="1463040" y="2496312"/>
            <a:ext cx="9875520" cy="658368"/>
          </a:xfrm>
          <a:prstGeom prst="rect">
            <a:avLst/>
          </a:prstGeom>
          <a:noFill/>
          <a:ln/>
        </p:spPr>
        <p:txBody>
          <a:bodyPr wrap="square" lIns="0" tIns="0" rIns="0" bIns="0" rtlCol="0" anchor="ctr"/>
          <a:lstStyle/>
          <a:p>
            <a:pPr indent="0" marL="0">
              <a:buNone/>
            </a:pPr>
            <a:r>
              <a:rPr lang="en-US" sz="1400" b="1" dirty="0">
                <a:solidFill>
                  <a:srgbClr val="1F2733"/>
                </a:solidFill>
                <a:latin typeface="Arial" pitchFamily="34" charset="0"/>
                <a:ea typeface="Arial" pitchFamily="34" charset="-122"/>
                <a:cs typeface="Arial" pitchFamily="34" charset="-120"/>
              </a:rPr>
              <a:t>Templates   </a:t>
            </a:r>
            <a:pPr indent="0" marL="0">
              <a:buNone/>
            </a:pPr>
            <a:r>
              <a:rPr lang="en-US" sz="1250" dirty="0">
                <a:solidFill>
                  <a:srgbClr val="5E6A78"/>
                </a:solidFill>
                <a:latin typeface="Arial" pitchFamily="34" charset="0"/>
                <a:ea typeface="Arial" pitchFamily="34" charset="-122"/>
                <a:cs typeface="Arial" pitchFamily="34" charset="-120"/>
              </a:rPr>
              <a:t>Save the winning prompt with blanks; add a standing instruction.</a:t>
            </a:r>
            <a:endParaRPr lang="en-US" sz="1400" dirty="0"/>
          </a:p>
        </p:txBody>
      </p:sp>
      <p:sp>
        <p:nvSpPr>
          <p:cNvPr id="14" name="Shape 11"/>
          <p:cNvSpPr/>
          <p:nvPr/>
        </p:nvSpPr>
        <p:spPr>
          <a:xfrm>
            <a:off x="640080" y="3209544"/>
            <a:ext cx="10881360" cy="658368"/>
          </a:xfrm>
          <a:prstGeom prst="roundRect">
            <a:avLst>
              <a:gd name="adj" fmla="val 12500"/>
            </a:avLst>
          </a:prstGeom>
          <a:solidFill>
            <a:srgbClr val="F5F6F8"/>
          </a:solidFill>
          <a:ln w="12700">
            <a:solidFill>
              <a:srgbClr val="E7E9EE"/>
            </a:solidFill>
            <a:prstDash val="solid"/>
          </a:ln>
        </p:spPr>
      </p:sp>
      <p:sp>
        <p:nvSpPr>
          <p:cNvPr id="15" name="Shape 12"/>
          <p:cNvSpPr/>
          <p:nvPr/>
        </p:nvSpPr>
        <p:spPr>
          <a:xfrm>
            <a:off x="841248" y="3337560"/>
            <a:ext cx="402336" cy="402336"/>
          </a:xfrm>
          <a:prstGeom prst="ellipse">
            <a:avLst/>
          </a:prstGeom>
          <a:solidFill>
            <a:srgbClr val="D31242"/>
          </a:solidFill>
          <a:ln/>
        </p:spPr>
      </p:sp>
      <p:sp>
        <p:nvSpPr>
          <p:cNvPr id="16" name="Text 13"/>
          <p:cNvSpPr/>
          <p:nvPr/>
        </p:nvSpPr>
        <p:spPr>
          <a:xfrm>
            <a:off x="841248" y="33375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4"/>
          <p:cNvSpPr/>
          <p:nvPr/>
        </p:nvSpPr>
        <p:spPr>
          <a:xfrm>
            <a:off x="1463040" y="3209544"/>
            <a:ext cx="9875520" cy="658368"/>
          </a:xfrm>
          <a:prstGeom prst="rect">
            <a:avLst/>
          </a:prstGeom>
          <a:noFill/>
          <a:ln/>
        </p:spPr>
        <p:txBody>
          <a:bodyPr wrap="square" lIns="0" tIns="0" rIns="0" bIns="0" rtlCol="0" anchor="ctr"/>
          <a:lstStyle/>
          <a:p>
            <a:pPr indent="0" marL="0">
              <a:buNone/>
            </a:pPr>
            <a:r>
              <a:rPr lang="en-US" sz="1400" b="1" dirty="0">
                <a:solidFill>
                  <a:srgbClr val="1F2733"/>
                </a:solidFill>
                <a:latin typeface="Arial" pitchFamily="34" charset="0"/>
                <a:ea typeface="Arial" pitchFamily="34" charset="-122"/>
                <a:cs typeface="Arial" pitchFamily="34" charset="-120"/>
              </a:rPr>
              <a:t>Context   </a:t>
            </a:r>
            <a:pPr indent="0" marL="0">
              <a:buNone/>
            </a:pPr>
            <a:r>
              <a:rPr lang="en-US" sz="1250" dirty="0">
                <a:solidFill>
                  <a:srgbClr val="5E6A78"/>
                </a:solidFill>
                <a:latin typeface="Arial" pitchFamily="34" charset="0"/>
                <a:ea typeface="Arial" pitchFamily="34" charset="-122"/>
                <a:cs typeface="Arial" pitchFamily="34" charset="-120"/>
              </a:rPr>
              <a:t>Include what the task needs; cut the rest.</a:t>
            </a:r>
            <a:endParaRPr lang="en-US" sz="1400" dirty="0"/>
          </a:p>
        </p:txBody>
      </p:sp>
      <p:sp>
        <p:nvSpPr>
          <p:cNvPr id="18" name="Shape 15"/>
          <p:cNvSpPr/>
          <p:nvPr/>
        </p:nvSpPr>
        <p:spPr>
          <a:xfrm>
            <a:off x="640080" y="3922776"/>
            <a:ext cx="10881360" cy="658368"/>
          </a:xfrm>
          <a:prstGeom prst="roundRect">
            <a:avLst>
              <a:gd name="adj" fmla="val 12500"/>
            </a:avLst>
          </a:prstGeom>
          <a:solidFill>
            <a:srgbClr val="F5F6F8"/>
          </a:solidFill>
          <a:ln w="12700">
            <a:solidFill>
              <a:srgbClr val="E7E9EE"/>
            </a:solidFill>
            <a:prstDash val="solid"/>
          </a:ln>
        </p:spPr>
      </p:sp>
      <p:sp>
        <p:nvSpPr>
          <p:cNvPr id="19" name="Shape 16"/>
          <p:cNvSpPr/>
          <p:nvPr/>
        </p:nvSpPr>
        <p:spPr>
          <a:xfrm>
            <a:off x="841248" y="4050792"/>
            <a:ext cx="402336" cy="402336"/>
          </a:xfrm>
          <a:prstGeom prst="ellipse">
            <a:avLst/>
          </a:prstGeom>
          <a:solidFill>
            <a:srgbClr val="D31242"/>
          </a:solidFill>
          <a:ln/>
        </p:spPr>
      </p:sp>
      <p:sp>
        <p:nvSpPr>
          <p:cNvPr id="20" name="Text 17"/>
          <p:cNvSpPr/>
          <p:nvPr/>
        </p:nvSpPr>
        <p:spPr>
          <a:xfrm>
            <a:off x="841248" y="405079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8"/>
          <p:cNvSpPr/>
          <p:nvPr/>
        </p:nvSpPr>
        <p:spPr>
          <a:xfrm>
            <a:off x="1463040" y="3922776"/>
            <a:ext cx="9875520" cy="658368"/>
          </a:xfrm>
          <a:prstGeom prst="rect">
            <a:avLst/>
          </a:prstGeom>
          <a:noFill/>
          <a:ln/>
        </p:spPr>
        <p:txBody>
          <a:bodyPr wrap="square" lIns="0" tIns="0" rIns="0" bIns="0" rtlCol="0" anchor="ctr"/>
          <a:lstStyle/>
          <a:p>
            <a:pPr indent="0" marL="0">
              <a:buNone/>
            </a:pPr>
            <a:r>
              <a:rPr lang="en-US" sz="1400" b="1" dirty="0">
                <a:solidFill>
                  <a:srgbClr val="1F2733"/>
                </a:solidFill>
                <a:latin typeface="Arial" pitchFamily="34" charset="0"/>
                <a:ea typeface="Arial" pitchFamily="34" charset="-122"/>
                <a:cs typeface="Arial" pitchFamily="34" charset="-120"/>
              </a:rPr>
              <a:t>Evaluate   </a:t>
            </a:r>
            <a:pPr indent="0" marL="0">
              <a:buNone/>
            </a:pPr>
            <a:r>
              <a:rPr lang="en-US" sz="1250" dirty="0">
                <a:solidFill>
                  <a:srgbClr val="5E6A78"/>
                </a:solidFill>
                <a:latin typeface="Arial" pitchFamily="34" charset="0"/>
                <a:ea typeface="Arial" pitchFamily="34" charset="-122"/>
                <a:cs typeface="Arial" pitchFamily="34" charset="-120"/>
              </a:rPr>
              <a:t>Define “good,” then A/B on the same input.</a:t>
            </a:r>
            <a:endParaRPr lang="en-US" sz="1400" dirty="0"/>
          </a:p>
        </p:txBody>
      </p:sp>
      <p:sp>
        <p:nvSpPr>
          <p:cNvPr id="22" name="Shape 19"/>
          <p:cNvSpPr/>
          <p:nvPr/>
        </p:nvSpPr>
        <p:spPr>
          <a:xfrm>
            <a:off x="640080" y="4636008"/>
            <a:ext cx="10881360" cy="658368"/>
          </a:xfrm>
          <a:prstGeom prst="roundRect">
            <a:avLst>
              <a:gd name="adj" fmla="val 12500"/>
            </a:avLst>
          </a:prstGeom>
          <a:solidFill>
            <a:srgbClr val="F5F6F8"/>
          </a:solidFill>
          <a:ln w="12700">
            <a:solidFill>
              <a:srgbClr val="E7E9EE"/>
            </a:solidFill>
            <a:prstDash val="solid"/>
          </a:ln>
        </p:spPr>
      </p:sp>
      <p:sp>
        <p:nvSpPr>
          <p:cNvPr id="23" name="Shape 20"/>
          <p:cNvSpPr/>
          <p:nvPr/>
        </p:nvSpPr>
        <p:spPr>
          <a:xfrm>
            <a:off x="841248" y="4764024"/>
            <a:ext cx="402336" cy="402336"/>
          </a:xfrm>
          <a:prstGeom prst="ellipse">
            <a:avLst/>
          </a:prstGeom>
          <a:solidFill>
            <a:srgbClr val="D31242"/>
          </a:solidFill>
          <a:ln/>
        </p:spPr>
      </p:sp>
      <p:sp>
        <p:nvSpPr>
          <p:cNvPr id="24" name="Text 21"/>
          <p:cNvSpPr/>
          <p:nvPr/>
        </p:nvSpPr>
        <p:spPr>
          <a:xfrm>
            <a:off x="841248" y="476402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5" name="Text 22"/>
          <p:cNvSpPr/>
          <p:nvPr/>
        </p:nvSpPr>
        <p:spPr>
          <a:xfrm>
            <a:off x="1463040" y="4636008"/>
            <a:ext cx="9875520" cy="658368"/>
          </a:xfrm>
          <a:prstGeom prst="rect">
            <a:avLst/>
          </a:prstGeom>
          <a:noFill/>
          <a:ln/>
        </p:spPr>
        <p:txBody>
          <a:bodyPr wrap="square" lIns="0" tIns="0" rIns="0" bIns="0" rtlCol="0" anchor="ctr"/>
          <a:lstStyle/>
          <a:p>
            <a:pPr indent="0" marL="0">
              <a:buNone/>
            </a:pPr>
            <a:r>
              <a:rPr lang="en-US" sz="1400" b="1" dirty="0">
                <a:solidFill>
                  <a:srgbClr val="1F2733"/>
                </a:solidFill>
                <a:latin typeface="Arial" pitchFamily="34" charset="0"/>
                <a:ea typeface="Arial" pitchFamily="34" charset="-122"/>
                <a:cs typeface="Arial" pitchFamily="34" charset="-120"/>
              </a:rPr>
              <a:t>Guardrails   </a:t>
            </a:r>
            <a:pPr indent="0" marL="0">
              <a:buNone/>
            </a:pPr>
            <a:r>
              <a:rPr lang="en-US" sz="1250" dirty="0">
                <a:solidFill>
                  <a:srgbClr val="5E6A78"/>
                </a:solidFill>
                <a:latin typeface="Arial" pitchFamily="34" charset="0"/>
                <a:ea typeface="Arial" pitchFamily="34" charset="-122"/>
                <a:cs typeface="Arial" pitchFamily="34" charset="-120"/>
              </a:rPr>
              <a:t>Ground, cite, verify, keep member data out.</a:t>
            </a:r>
            <a:endParaRPr lang="en-US" sz="1400" dirty="0"/>
          </a:p>
        </p:txBody>
      </p:sp>
      <p:sp>
        <p:nvSpPr>
          <p:cNvPr id="26" name="Shape 23"/>
          <p:cNvSpPr/>
          <p:nvPr/>
        </p:nvSpPr>
        <p:spPr>
          <a:xfrm>
            <a:off x="640080" y="5349240"/>
            <a:ext cx="10881360" cy="658368"/>
          </a:xfrm>
          <a:prstGeom prst="roundRect">
            <a:avLst>
              <a:gd name="adj" fmla="val 12500"/>
            </a:avLst>
          </a:prstGeom>
          <a:solidFill>
            <a:srgbClr val="FCE4EA"/>
          </a:solidFill>
          <a:ln/>
        </p:spPr>
      </p:sp>
      <p:sp>
        <p:nvSpPr>
          <p:cNvPr id="27" name="Shape 24"/>
          <p:cNvSpPr/>
          <p:nvPr/>
        </p:nvSpPr>
        <p:spPr>
          <a:xfrm>
            <a:off x="841248" y="5477256"/>
            <a:ext cx="402336" cy="402336"/>
          </a:xfrm>
          <a:prstGeom prst="ellipse">
            <a:avLst/>
          </a:prstGeom>
          <a:solidFill>
            <a:srgbClr val="D31242"/>
          </a:solidFill>
          <a:ln/>
        </p:spPr>
      </p:sp>
      <p:sp>
        <p:nvSpPr>
          <p:cNvPr id="28" name="Text 25"/>
          <p:cNvSpPr/>
          <p:nvPr/>
        </p:nvSpPr>
        <p:spPr>
          <a:xfrm>
            <a:off x="841248" y="54772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9" name="Text 26"/>
          <p:cNvSpPr/>
          <p:nvPr/>
        </p:nvSpPr>
        <p:spPr>
          <a:xfrm>
            <a:off x="1463040" y="5349240"/>
            <a:ext cx="987552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Designing   </a:t>
            </a:r>
            <a:pPr indent="0" marL="0">
              <a:buNone/>
            </a:pPr>
            <a:r>
              <a:rPr lang="en-US" sz="1250" dirty="0">
                <a:solidFill>
                  <a:srgbClr val="3A4452"/>
                </a:solidFill>
                <a:latin typeface="Arial" pitchFamily="34" charset="0"/>
                <a:ea typeface="Arial" pitchFamily="34" charset="-122"/>
                <a:cs typeface="Arial" pitchFamily="34" charset="-120"/>
              </a:rPr>
              <a:t>You're building tools other people reuse.</a:t>
            </a:r>
            <a:endParaRPr lang="en-US" sz="1400" dirty="0"/>
          </a:p>
        </p:txBody>
      </p:sp>
      <p:sp>
        <p:nvSpPr>
          <p:cNvPr id="30" name="Text 2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CHEAT-SHEET</a:t>
            </a:r>
            <a:endParaRPr lang="en-US" sz="850" dirty="0"/>
          </a:p>
        </p:txBody>
      </p:sp>
      <p:sp>
        <p:nvSpPr>
          <p:cNvPr id="31" name="Text 2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YOU'VE COMPLETED THE JOURNEY</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Now build one thing your team reuses</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Pick one weekly task you own. Turn it into a saved template or a short chain, define what “good” looks like, and share it with your team. That's designing — and that's how AI adoption spreads past you.</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Optional extras — a self-check habit and where to go next. Dip in when you want to go deeper.</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Have it check its own work</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 powerful habit for a finished asset: after it drafts, ask it to critique its own output against your criteria, then produce a fixed version. It often catches its own miscounts and omissions — a built-in second pair of eyes before anything reaches a person.</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Pair this with your evaluation criteria for a self-improving template.</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THE IDEA</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Here's your draft summary. List where it fails any of the four criteria — counts, safety flag, five bullets, plain language — then give me a corrected version.</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Accept the first draft vs. critique-then-revise</a:t>
            </a:r>
            <a:endParaRPr lang="en-US" sz="3000" dirty="0"/>
          </a:p>
        </p:txBody>
      </p:sp>
      <p:sp>
        <p:nvSpPr>
          <p:cNvPr id="6" name="Shape 3"/>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7" name="Text 4"/>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ACCEPT THE FIRST DRAFT</a:t>
            </a:r>
            <a:endParaRPr lang="en-US" sz="1100" dirty="0"/>
          </a:p>
        </p:txBody>
      </p:sp>
      <p:sp>
        <p:nvSpPr>
          <p:cNvPr id="8" name="Text 5"/>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9" name="Text 6"/>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(send the first summary as-is)</a:t>
            </a:r>
            <a:endParaRPr lang="en-US" sz="1050" dirty="0"/>
          </a:p>
        </p:txBody>
      </p:sp>
      <p:sp>
        <p:nvSpPr>
          <p:cNvPr id="10" name="Text 7"/>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1" name="Text 8"/>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Checkout — 10. Produce — 7. Fresh food — 5.</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(No safety note.)</a:t>
            </a:r>
            <a:endParaRPr lang="en-US" sz="1050" dirty="0"/>
          </a:p>
        </p:txBody>
      </p:sp>
      <p:sp>
        <p:nvSpPr>
          <p:cNvPr id="12" name="Text 9"/>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3" name="Text 10"/>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A quick read grades flow, not facts — a miscount and a missing flag don't look wrong on the page.</a:t>
            </a:r>
            <a:endParaRPr lang="en-US" sz="1000" dirty="0"/>
          </a:p>
        </p:txBody>
      </p:sp>
      <p:sp>
        <p:nvSpPr>
          <p:cNvPr id="14" name="Shape 11"/>
          <p:cNvSpPr/>
          <p:nvPr/>
        </p:nvSpPr>
        <p:spPr>
          <a:xfrm>
            <a:off x="6245352" y="1920240"/>
            <a:ext cx="5303520" cy="4279392"/>
          </a:xfrm>
          <a:prstGeom prst="roundRect">
            <a:avLst>
              <a:gd name="adj" fmla="val 1923"/>
            </a:avLst>
          </a:prstGeom>
          <a:solidFill>
            <a:srgbClr val="DCFCE7"/>
          </a:solidFill>
          <a:ln/>
        </p:spPr>
      </p:sp>
      <p:sp>
        <p:nvSpPr>
          <p:cNvPr id="15" name="Text 12"/>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CRITIQUE-THEN-REVISE</a:t>
            </a:r>
            <a:endParaRPr lang="en-US" sz="1100" dirty="0"/>
          </a:p>
        </p:txBody>
      </p:sp>
      <p:sp>
        <p:nvSpPr>
          <p:cNvPr id="16" name="Text 13"/>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7" name="Text 14"/>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Check your draft against the four criteria, then fix it.</a:t>
            </a:r>
            <a:endParaRPr lang="en-US" sz="1050" dirty="0"/>
          </a:p>
        </p:txBody>
      </p:sp>
      <p:sp>
        <p:nvSpPr>
          <p:cNvPr id="18" name="Text 15"/>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19" name="Text 16"/>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Found: checkout miscount (10 → 12); safety flag missing.</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Fixed: 'Pump 4 (safety); Checkout — 12; Produce — 7…'</a:t>
            </a:r>
            <a:endParaRPr lang="en-US" sz="1050" dirty="0"/>
          </a:p>
        </p:txBody>
      </p:sp>
      <p:sp>
        <p:nvSpPr>
          <p:cNvPr id="20" name="Text 17"/>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1" name="Text 18"/>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Checking against criteria is a different task than drafting — the review pass catches what the writing pass slid past.</a:t>
            </a:r>
            <a:endParaRPr lang="en-US" sz="10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APPENDIX</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GO FURTHER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Where designing leads next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Ask more than once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Run a prompt a few times and compare — steadier answers on tough calls.</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Let it plan and act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Tools that plan, act, and check in a loop — the next frontier.</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Pull in your documents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Systems that fetch the right source automatically as you ask.</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Start a prompt library</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Collect your team's best prompts and templates in one shared place.</a:t>
            </a:r>
            <a:endParaRPr lang="en-US" sz="155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ADVANCED · APPENDIX</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 Advanced</dc:title>
  <dc:subject>PptxGenJS Presentation</dc:subject>
  <dc:creator>BJ's AI Enablement</dc:creator>
  <cp:lastModifiedBy>BJ's AI Enablement</cp:lastModifiedBy>
  <cp:revision>1</cp:revision>
  <dcterms:created xsi:type="dcterms:W3CDTF">2026-07-11T22:16:56Z</dcterms:created>
  <dcterms:modified xsi:type="dcterms:W3CDTF">2026-07-11T22:16:56Z</dcterms:modified>
</cp:coreProperties>
</file>