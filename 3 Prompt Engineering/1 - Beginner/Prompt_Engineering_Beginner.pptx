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5" r:id="rId26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26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45 minutes, hands-on. Frame: you've all tried AI; today we make good prompts deliberate and repeatable. Tool-agnostic — we'll demo in Claude, but everything works in Copilot or ChatGPT too. This is a shared, teachable structure you can bring back to your team.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whole journey on one slide. Most people live at 'Asking'. Today moves you to 'Composing'. Intermediate = Directing, Advanced = Designing. This roadmap opens every course so people always know where they are. Ask the room: 'be honest — who's mostly at Asking today?'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engagement moment. Ask people to raise a hand for any that ring true — hands always go up. Normalises it: everyone starts here, including people who've used AI for months. Keep it light, ~60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these as promises. We'll tie the closing 'takeaways' slide back to these four, one for one. Keep it to ~30 seconds — don't linger.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one scenario we'll use all session — a member-complaint reply. Everyone can relate, and it shows tone + policy + judgment, which is where prompting really pays off. NOTE: the renewal/refund policy in the demos is illustrative — replace with BJ's real policy before using any of this for real member replies.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idea of the whole course. Analogy that lands: it's like briefing a brand-new, very capable temp who started this morning — brilliant, but knows nothing about your club, your policies, or your members until you tell them. Everything in CO-STAR is just 'brief the temp properly'.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1 — paste the left-hand prompt into Claude live. You'll get something like the right: polite but useless. Say out loud what's missing: no empathy, no explanation, no options, no next step. This is the 'before' we'll beat. COPY-PASTE PROMPT:
Write a reply to this member:
“BJ's charged me $60 to auto-renew my membership. Nobody warned me. I want my money back.”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heart of the course. CO-STAR is a recognised framework (from Singapore's GovTech) and the most robust, memorable one out there — it lines up with what Anthropic, OpenAI and Google all teach. Don't over-explain each letter here; we'll SHOW it on the next slide by rebuilding our member reply with all six parts. Emphasise: this is the card they'll take home and teach others.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2 — the payoff. Ideally build it live: start from the one-liner and add each CO-STAR part out loud (Context… Objective… Style… Tone… Audience… Response), re-running as you go so the room sees it sharpen. If short on time, paste the whole left-hand prompt at once. Reminder: policy figures are illustrative — swap in BJ's real policy for live use. The full prompt is in the facilitator demo script.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Land the contrast. Same tool, same member, same 60 seconds of effort roughly — the only thing that changed is the prompt. This is the single idea you want people to leave with.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Beginners often re-type the whole thing when an answer misses. Teach the habit: talk to it like a colleague — 'nearly there, just make it warmer and shorter'. Next slide demos exactly this on our reply.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3 — in the SAME chat as Demo 2, paste the left follow-up. Point out it kept everything good and changed only what you asked. COPY-PASTE PROMPT:
Make it a little warmer, keep it under 120 words, and offer a one-time $20 courtesy credit if they'd like to stay.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back to the four objectives, one for one — literally 'we promised these four things; here they are'. This closes the loop and makes the session feel complete.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keep-at-your-desk card — the single most reused asset. Tell people we'll share this as a one-pager. Encourage them to pin it up and use it for their next real message. This is also the thing they teach their team.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on action, not theory. Make the 'try this Monday' concrete — ask each person to name (to a neighbour) the one task they'll try it on. Preview Intermediate so there's a pull to the next session.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from here is optional / self-read. Skip live if short on time; it's in the shared deck for people to explore.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Optional. Plants the seed for Intermediate (examples / few-shot) without teaching it fully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Optional worked example of the 'show an example' idea. If demoing, paste any short BJ's description as the example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Curated, short list so people don't drown. All reputable and free. Links are in the facilitator notes / shared resources.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Bridge between the empty template and the live build. Walk one or two rows aloud. Key line to say: every green (specific) example is something only THEY know about the task - their role, the policy, the member, the format they need. That's the whole trick: a strong prompt is just you telling the model what you already know. Vague in, vague out. Then move to the live demo, where all six come together. Refund/reminder details are illustrative - swap for BJ's real policy before member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8-1.png"/><Relationship Id="rId3" Type="http://schemas.openxmlformats.org/officeDocument/2006/relationships/image" Target="../media/image-8-2.png"/><Relationship Id="rId4" Type="http://schemas.openxmlformats.org/officeDocument/2006/relationships/image" Target="../media/image-8-3.png"/><Relationship Id="rId5" Type="http://schemas.openxmlformats.org/officeDocument/2006/relationships/image" Target="../media/image-8-4.png"/><Relationship Id="rId6" Type="http://schemas.openxmlformats.org/officeDocument/2006/relationships/image" Target="../media/image-8-5.png"/><Relationship Id="rId7" Type="http://schemas.openxmlformats.org/officeDocument/2006/relationships/image" Target="../media/image-8-6.png"/><Relationship Id="rId8" Type="http://schemas.openxmlformats.org/officeDocument/2006/relationships/image" Target="../media/image-8-7.png"/><Relationship Id="rId9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D312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394960"/>
            <a:ext cx="12188952" cy="1463040"/>
          </a:xfrm>
          <a:prstGeom prst="rect">
            <a:avLst/>
          </a:prstGeom>
          <a:solidFill>
            <a:srgbClr val="7E0A27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48640"/>
            <a:ext cx="137160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8100" dir="5400000">
              <a:srgbClr val="1F2733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4864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2000" b="1" spc="-1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BJ's</a:t>
            </a:r>
            <a:endParaRPr lang="en-US" sz="20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600" b="1" spc="2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WHOLESALE CLUB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58368" y="2148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CE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1 · BEGINNER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21792" y="260604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Engineering: From Asking to Composing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58368" y="4069080"/>
            <a:ext cx="969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CE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getting vague answers. Learn one structure that turns any request into a strong prompt — and refine it in seconds.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841248" cy="841248"/>
          </a:xfrm>
          <a:prstGeom prst="ellipse">
            <a:avLst/>
          </a:prstGeom>
          <a:solidFill>
            <a:srgbClr val="D31242"/>
          </a:solidFill>
          <a:ln/>
          <a:effectLst>
            <a:outerShdw sx="100000" sy="100000" kx="0" ky="0" algn="bl" rotWithShape="0" blurRad="88900" dist="38100" dir="5400000">
              <a:srgbClr val="1F2733">
                <a:alpha val="10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786384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64208" y="54864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LEARNING JOURNEY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664208" y="841248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30" kern="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asking to designing — what each level of the program builds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2514600"/>
            <a:ext cx="2535174" cy="3063240"/>
          </a:xfrm>
          <a:prstGeom prst="roundRect">
            <a:avLst>
              <a:gd name="adj" fmla="val 3246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615059" y="2788920"/>
            <a:ext cx="585216" cy="585216"/>
          </a:xfrm>
          <a:prstGeom prst="ellipse">
            <a:avLst/>
          </a:prstGeom>
          <a:solidFill>
            <a:srgbClr val="D31242"/>
          </a:solidFill>
          <a:ln/>
        </p:spPr>
      </p:sp>
      <p:sp>
        <p:nvSpPr>
          <p:cNvPr id="8" name="Text 5"/>
          <p:cNvSpPr/>
          <p:nvPr/>
        </p:nvSpPr>
        <p:spPr>
          <a:xfrm>
            <a:off x="1615059" y="27889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49808" y="3502152"/>
            <a:ext cx="23157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49808" y="3794760"/>
            <a:ext cx="23157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Asking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804672" y="4325112"/>
            <a:ext cx="220599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One-line requests, hit or miss. The everyday habit this program upgrades.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147822" y="3817620"/>
            <a:ext cx="310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3431286" y="2514600"/>
            <a:ext cx="2535174" cy="3063240"/>
          </a:xfrm>
          <a:prstGeom prst="roundRect">
            <a:avLst>
              <a:gd name="adj" fmla="val 3246"/>
            </a:avLst>
          </a:prstGeom>
          <a:solidFill>
            <a:srgbClr val="D31242"/>
          </a:solidFill>
          <a:ln/>
          <a:effectLst>
            <a:outerShdw sx="100000" sy="100000" kx="0" ky="0" algn="bl" rotWithShape="0" blurRad="88900" dist="38100" dir="5400000">
              <a:srgbClr val="1F2733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784473" y="2057400"/>
            <a:ext cx="1828800" cy="402336"/>
          </a:xfrm>
          <a:prstGeom prst="roundRect">
            <a:avLst>
              <a:gd name="adj" fmla="val 22727"/>
            </a:avLst>
          </a:prstGeom>
          <a:solidFill>
            <a:srgbClr val="7E0A27"/>
          </a:solidFill>
          <a:ln/>
          <a:effectLst>
            <a:outerShdw sx="100000" sy="100000" kx="0" ky="0" algn="bl" rotWithShape="0" blurRad="88900" dist="38100" dir="5400000">
              <a:srgbClr val="1F2733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784473" y="205740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ARE HERE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406265" y="2788920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7" name="Text 14"/>
          <p:cNvSpPr/>
          <p:nvPr/>
        </p:nvSpPr>
        <p:spPr>
          <a:xfrm>
            <a:off x="4406265" y="27889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3541014" y="3502152"/>
            <a:ext cx="23157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CE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 · TODAY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3541014" y="3794760"/>
            <a:ext cx="23157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Composing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3595878" y="4325112"/>
            <a:ext cx="220599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FCE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CO-STAR to build strong prompts on purpose — then the Refine loop to improve them in one follow-up.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939028" y="3817620"/>
            <a:ext cx="310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6222492" y="2514600"/>
            <a:ext cx="2535174" cy="3063240"/>
          </a:xfrm>
          <a:prstGeom prst="roundRect">
            <a:avLst>
              <a:gd name="adj" fmla="val 3246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197471" y="2788920"/>
            <a:ext cx="585216" cy="585216"/>
          </a:xfrm>
          <a:prstGeom prst="ellipse">
            <a:avLst/>
          </a:prstGeom>
          <a:solidFill>
            <a:srgbClr val="D31242"/>
          </a:solidFill>
          <a:ln/>
        </p:spPr>
      </p:sp>
      <p:sp>
        <p:nvSpPr>
          <p:cNvPr id="24" name="Text 21"/>
          <p:cNvSpPr/>
          <p:nvPr/>
        </p:nvSpPr>
        <p:spPr>
          <a:xfrm>
            <a:off x="7197471" y="27889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25" name="Text 22"/>
          <p:cNvSpPr/>
          <p:nvPr/>
        </p:nvSpPr>
        <p:spPr>
          <a:xfrm>
            <a:off x="6332220" y="3502152"/>
            <a:ext cx="23157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 · INTERMEDIATE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6332220" y="3794760"/>
            <a:ext cx="23157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Directing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6387084" y="4325112"/>
            <a:ext cx="220599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it examples, ask it to reason first, structure long prompts, and ground answers in your own BJ's documents.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8730234" y="3817620"/>
            <a:ext cx="310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9" name="Shape 26"/>
          <p:cNvSpPr/>
          <p:nvPr/>
        </p:nvSpPr>
        <p:spPr>
          <a:xfrm>
            <a:off x="9013698" y="2514600"/>
            <a:ext cx="2535174" cy="3063240"/>
          </a:xfrm>
          <a:prstGeom prst="roundRect">
            <a:avLst>
              <a:gd name="adj" fmla="val 3246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9988677" y="2788920"/>
            <a:ext cx="585216" cy="585216"/>
          </a:xfrm>
          <a:prstGeom prst="ellipse">
            <a:avLst/>
          </a:prstGeom>
          <a:solidFill>
            <a:srgbClr val="D31242"/>
          </a:solidFill>
          <a:ln/>
        </p:spPr>
      </p:sp>
      <p:sp>
        <p:nvSpPr>
          <p:cNvPr id="31" name="Text 28"/>
          <p:cNvSpPr/>
          <p:nvPr/>
        </p:nvSpPr>
        <p:spPr>
          <a:xfrm>
            <a:off x="9988677" y="27889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32" name="Text 29"/>
          <p:cNvSpPr/>
          <p:nvPr/>
        </p:nvSpPr>
        <p:spPr>
          <a:xfrm>
            <a:off x="9123426" y="3502152"/>
            <a:ext cx="23157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4 · ADVANCED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9123426" y="3794760"/>
            <a:ext cx="23157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Designing</a:t>
            </a:r>
            <a:endParaRPr lang="en-US" sz="1800" dirty="0"/>
          </a:p>
        </p:txBody>
      </p:sp>
      <p:sp>
        <p:nvSpPr>
          <p:cNvPr id="34" name="Text 31"/>
          <p:cNvSpPr/>
          <p:nvPr/>
        </p:nvSpPr>
        <p:spPr>
          <a:xfrm>
            <a:off x="9178290" y="4325112"/>
            <a:ext cx="220599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 tasks into steps, build reusable team templates, engineer context, and evaluate outputs with guardrails.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ENGINEERING · BEGINNER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6519672" y="64190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training material — not an official BJ's publication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841248" cy="841248"/>
          </a:xfrm>
          <a:prstGeom prst="ellipse">
            <a:avLst/>
          </a:prstGeom>
          <a:solidFill>
            <a:srgbClr val="D31242"/>
          </a:solidFill>
          <a:ln/>
          <a:effectLst>
            <a:outerShdw sx="100000" sy="100000" kx="0" ky="0" algn="bl" rotWithShape="0" blurRad="88900" dist="38100" dir="5400000">
              <a:srgbClr val="1F2733">
                <a:alpha val="10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786384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64208" y="54864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ARE YOU NOW?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664208" y="841248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30" kern="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Sound familiar? Then you're in the right room.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965960"/>
            <a:ext cx="5349240" cy="1225296"/>
          </a:xfrm>
          <a:prstGeom prst="roundRect">
            <a:avLst>
              <a:gd name="adj" fmla="val 6716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14400" y="2350008"/>
            <a:ext cx="457200" cy="457200"/>
          </a:xfrm>
          <a:prstGeom prst="ellipse">
            <a:avLst/>
          </a:prstGeom>
          <a:solidFill>
            <a:srgbClr val="D3124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2459736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54480" y="214884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 type one line and hope.”</a:t>
            </a:r>
            <a:endParaRPr lang="en-US" sz="15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most common habit — and the easiest to beat.</a:t>
            </a:r>
            <a:endParaRPr lang="en-US" sz="1550" dirty="0"/>
          </a:p>
        </p:txBody>
      </p:sp>
      <p:sp>
        <p:nvSpPr>
          <p:cNvPr id="10" name="Shape 6"/>
          <p:cNvSpPr/>
          <p:nvPr/>
        </p:nvSpPr>
        <p:spPr>
          <a:xfrm>
            <a:off x="6172200" y="1965960"/>
            <a:ext cx="5349240" cy="1225296"/>
          </a:xfrm>
          <a:prstGeom prst="roundRect">
            <a:avLst>
              <a:gd name="adj" fmla="val 6716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446520" y="2350008"/>
            <a:ext cx="457200" cy="457200"/>
          </a:xfrm>
          <a:prstGeom prst="ellipse">
            <a:avLst/>
          </a:prstGeom>
          <a:solidFill>
            <a:srgbClr val="D31242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6248" y="2459736"/>
            <a:ext cx="237744" cy="23774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086600" y="214884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“My results are hit-or-miss.”</a:t>
            </a:r>
            <a:endParaRPr lang="en-US" sz="15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prompts make results repeatable.</a:t>
            </a:r>
            <a:endParaRPr lang="en-US" sz="1550" dirty="0"/>
          </a:p>
        </p:txBody>
      </p:sp>
      <p:sp>
        <p:nvSpPr>
          <p:cNvPr id="14" name="Shape 9"/>
          <p:cNvSpPr/>
          <p:nvPr/>
        </p:nvSpPr>
        <p:spPr>
          <a:xfrm>
            <a:off x="640080" y="3355848"/>
            <a:ext cx="5349240" cy="1225296"/>
          </a:xfrm>
          <a:prstGeom prst="roundRect">
            <a:avLst>
              <a:gd name="adj" fmla="val 6716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914400" y="3739896"/>
            <a:ext cx="457200" cy="457200"/>
          </a:xfrm>
          <a:prstGeom prst="ellipse">
            <a:avLst/>
          </a:prstGeom>
          <a:solidFill>
            <a:srgbClr val="D31242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28" y="3849624"/>
            <a:ext cx="237744" cy="23774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554480" y="3538728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 restart when it's wrong.”</a:t>
            </a:r>
            <a:endParaRPr lang="en-US" sz="15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There's a faster way: refine.</a:t>
            </a:r>
            <a:endParaRPr lang="en-US" sz="1550" dirty="0"/>
          </a:p>
        </p:txBody>
      </p:sp>
      <p:sp>
        <p:nvSpPr>
          <p:cNvPr id="18" name="Shape 12"/>
          <p:cNvSpPr/>
          <p:nvPr/>
        </p:nvSpPr>
        <p:spPr>
          <a:xfrm>
            <a:off x="6172200" y="3355848"/>
            <a:ext cx="5349240" cy="1225296"/>
          </a:xfrm>
          <a:prstGeom prst="roundRect">
            <a:avLst>
              <a:gd name="adj" fmla="val 6716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6446520" y="3739896"/>
            <a:ext cx="457200" cy="457200"/>
          </a:xfrm>
          <a:prstGeom prst="ellipse">
            <a:avLst/>
          </a:prstGeom>
          <a:solidFill>
            <a:srgbClr val="D31242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6248" y="3849624"/>
            <a:ext cx="237744" cy="23774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086600" y="3538728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“I've no repeatable structure.”</a:t>
            </a:r>
            <a:endParaRPr lang="en-US" sz="15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end, you'll have one: CO-STAR.</a:t>
            </a:r>
            <a:endParaRPr lang="en-US" sz="1550" dirty="0"/>
          </a:p>
        </p:txBody>
      </p:sp>
      <p:sp>
        <p:nvSpPr>
          <p:cNvPr id="22" name="Text 15"/>
          <p:cNvSpPr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ENGINEERING · BEGINNER</a:t>
            </a:r>
            <a:endParaRPr lang="en-US" sz="850" dirty="0"/>
          </a:p>
        </p:txBody>
      </p:sp>
      <p:sp>
        <p:nvSpPr>
          <p:cNvPr id="23" name="Text 16"/>
          <p:cNvSpPr/>
          <p:nvPr/>
        </p:nvSpPr>
        <p:spPr>
          <a:xfrm>
            <a:off x="6519672" y="64190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training material — not an official BJ's publication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841248" cy="841248"/>
          </a:xfrm>
          <a:prstGeom prst="ellipse">
            <a:avLst/>
          </a:prstGeom>
          <a:solidFill>
            <a:srgbClr val="D31242"/>
          </a:solidFill>
          <a:ln/>
          <a:effectLst>
            <a:outerShdw sx="100000" sy="100000" kx="0" ky="0" algn="bl" rotWithShape="0" blurRad="88900" dist="38100" dir="5400000">
              <a:srgbClr val="1F2733">
                <a:alpha val="10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786384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64208" y="54864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OBJECTIVES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664208" y="841248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30" kern="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module, you will be able to: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2011680"/>
            <a:ext cx="10881360" cy="896112"/>
          </a:xfrm>
          <a:prstGeom prst="roundRect">
            <a:avLst>
              <a:gd name="adj" fmla="val 9184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2212848"/>
            <a:ext cx="493776" cy="493776"/>
          </a:xfrm>
          <a:prstGeom prst="ellipse">
            <a:avLst/>
          </a:prstGeom>
          <a:solidFill>
            <a:srgbClr val="D31242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221284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600200" y="2121408"/>
            <a:ext cx="9692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what AI is really doing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 clear prompt beats a one-liner.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40080" y="3035808"/>
            <a:ext cx="10881360" cy="896112"/>
          </a:xfrm>
          <a:prstGeom prst="roundRect">
            <a:avLst>
              <a:gd name="adj" fmla="val 9184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68680" y="3236976"/>
            <a:ext cx="493776" cy="493776"/>
          </a:xfrm>
          <a:prstGeom prst="ellipse">
            <a:avLst/>
          </a:prstGeom>
          <a:solidFill>
            <a:srgbClr val="D31242"/>
          </a:solidFill>
          <a:ln/>
        </p:spPr>
      </p:sp>
      <p:sp>
        <p:nvSpPr>
          <p:cNvPr id="12" name="Text 9"/>
          <p:cNvSpPr/>
          <p:nvPr/>
        </p:nvSpPr>
        <p:spPr>
          <a:xfrm>
            <a:off x="868680" y="323697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1600200" y="3145536"/>
            <a:ext cx="9692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prompt with CO-STAR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six parts of a strong prompt.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40080" y="4059936"/>
            <a:ext cx="10881360" cy="896112"/>
          </a:xfrm>
          <a:prstGeom prst="roundRect">
            <a:avLst>
              <a:gd name="adj" fmla="val 9184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68680" y="4261104"/>
            <a:ext cx="493776" cy="493776"/>
          </a:xfrm>
          <a:prstGeom prst="ellipse">
            <a:avLst/>
          </a:prstGeom>
          <a:solidFill>
            <a:srgbClr val="D31242"/>
          </a:solidFill>
          <a:ln/>
        </p:spPr>
      </p:sp>
      <p:sp>
        <p:nvSpPr>
          <p:cNvPr id="16" name="Text 13"/>
          <p:cNvSpPr/>
          <p:nvPr/>
        </p:nvSpPr>
        <p:spPr>
          <a:xfrm>
            <a:off x="868680" y="426110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1600200" y="4169664"/>
            <a:ext cx="9692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Steer tone, length, and format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the answer fits your reader.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640080" y="5084064"/>
            <a:ext cx="10881360" cy="896112"/>
          </a:xfrm>
          <a:prstGeom prst="roundRect">
            <a:avLst>
              <a:gd name="adj" fmla="val 9184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68680" y="5285232"/>
            <a:ext cx="493776" cy="493776"/>
          </a:xfrm>
          <a:prstGeom prst="ellipse">
            <a:avLst/>
          </a:prstGeom>
          <a:solidFill>
            <a:srgbClr val="D31242"/>
          </a:solidFill>
          <a:ln/>
        </p:spPr>
      </p:sp>
      <p:sp>
        <p:nvSpPr>
          <p:cNvPr id="20" name="Text 17"/>
          <p:cNvSpPr/>
          <p:nvPr/>
        </p:nvSpPr>
        <p:spPr>
          <a:xfrm>
            <a:off x="868680" y="528523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1600200" y="5193792"/>
            <a:ext cx="9692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Refine instead of restarting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Lift a result with one follow-up.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ENGINEERING · BEGINNER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6519672" y="64190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training material — not an official BJ's publication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841248" cy="841248"/>
          </a:xfrm>
          <a:prstGeom prst="ellipse">
            <a:avLst/>
          </a:prstGeom>
          <a:solidFill>
            <a:srgbClr val="D31242"/>
          </a:solidFill>
          <a:ln/>
          <a:effectLst>
            <a:outerShdw sx="100000" sy="100000" kx="0" ky="0" algn="bl" rotWithShape="0" blurRad="88900" dist="38100" dir="5400000">
              <a:srgbClr val="1F2733">
                <a:alpha val="10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786384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64208" y="54864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MATTERS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664208" y="841248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30" kern="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prompts, better answers — every time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640080" y="2103120"/>
            <a:ext cx="63093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5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You've all tried prompting. The gap between a frustrating answer and a great one is rarely the tool — it's the prompt. Today we make that gap deliberate, with one structure you can reuse and teach to anyone on your team.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7269480" y="2103120"/>
            <a:ext cx="4251960" cy="3200400"/>
          </a:xfrm>
          <a:prstGeom prst="roundRect">
            <a:avLst>
              <a:gd name="adj" fmla="val 2571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89520" y="2377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RUNNING EXAMPLE TODAY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589520" y="2834640"/>
            <a:ext cx="36576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member emailed, upset:
</a:t>
            </a:r>
            <a:pPr indent="0" marL="0">
              <a:lnSpc>
                <a:spcPct val="115000"/>
              </a:lnSpc>
              <a:buNone/>
            </a:pPr>
            <a:r>
              <a:rPr lang="en-US" sz="1400" i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“BJ's charged me $60 to auto-renew. Nobody warned me. I want my money back.”
</a:t>
            </a:r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need to write the reply.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ENGINEERING · BEGINNER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6519672" y="64190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training material — not an official BJ's publication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841248" cy="841248"/>
          </a:xfrm>
          <a:prstGeom prst="ellipse">
            <a:avLst/>
          </a:prstGeom>
          <a:solidFill>
            <a:srgbClr val="D31242"/>
          </a:solidFill>
          <a:ln/>
          <a:effectLst>
            <a:outerShdw sx="100000" sy="100000" kx="0" ky="0" algn="bl" rotWithShape="0" blurRad="88900" dist="38100" dir="5400000">
              <a:srgbClr val="1F2733">
                <a:alpha val="10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786384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64208" y="54864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MENTAL MODEL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664208" y="841248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30" kern="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capable assistant — not a mind-reader, not a search box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640080" y="2103120"/>
            <a:ext cx="63093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5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isn't reading your mind, and it isn't looking things up on the web. It works from what you give it plus what it already knows. So a one-line request leaves it guessing — at your situation, your policy, and how you want to sound. Give it those, and it can genuinely help.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7269480" y="2103120"/>
            <a:ext cx="4251960" cy="3200400"/>
          </a:xfrm>
          <a:prstGeom prst="roundRect">
            <a:avLst>
              <a:gd name="adj" fmla="val 2571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89520" y="2377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 ONE-LINER LEAVES TO GUESS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589520" y="2834640"/>
            <a:ext cx="36576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i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“reply to this angry member”
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Who are you?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What's the policy?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What tone?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How long?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What outcome?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ENGINEERING · BEGINNER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6519672" y="64190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training material — not an official BJ's publication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841248" cy="841248"/>
          </a:xfrm>
          <a:prstGeom prst="ellipse">
            <a:avLst/>
          </a:prstGeom>
          <a:solidFill>
            <a:srgbClr val="D31242"/>
          </a:solidFill>
          <a:ln/>
          <a:effectLst>
            <a:outerShdw sx="100000" sy="100000" kx="0" ky="0" algn="bl" rotWithShape="0" blurRad="88900" dist="38100" dir="5400000">
              <a:srgbClr val="1F2733">
                <a:alpha val="10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786384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64208" y="54864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 · BEFORE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664208" y="841248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30" kern="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one-line prompt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965960"/>
            <a:ext cx="5486400" cy="4160520"/>
          </a:xfrm>
          <a:prstGeom prst="roundRect">
            <a:avLst>
              <a:gd name="adj" fmla="val 1978"/>
            </a:avLst>
          </a:prstGeom>
          <a:solidFill>
            <a:srgbClr val="1F2733"/>
          </a:solidFill>
          <a:ln/>
          <a:effectLst>
            <a:outerShdw sx="100000" sy="100000" kx="0" ky="0" algn="bl" rotWithShape="0" blurRad="88900" dist="38100" dir="5400000">
              <a:srgbClr val="1F2733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914400" y="215798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CE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 PASTE THIS INTO CLAUDE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914400" y="2523744"/>
            <a:ext cx="4956048" cy="3456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a reply to this member: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“BJ's charged me $60 to auto-renew my membership. Nobody warned me. I want my money back.”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355080" y="1965960"/>
            <a:ext cx="5193792" cy="4160520"/>
          </a:xfrm>
          <a:prstGeom prst="roundRect">
            <a:avLst>
              <a:gd name="adj" fmla="val 1978"/>
            </a:avLst>
          </a:prstGeom>
          <a:solidFill>
            <a:srgbClr val="DCFCE7"/>
          </a:solidFill>
          <a:ln/>
        </p:spPr>
      </p:sp>
      <p:sp>
        <p:nvSpPr>
          <p:cNvPr id="10" name="Text 7"/>
          <p:cNvSpPr/>
          <p:nvPr/>
        </p:nvSpPr>
        <p:spPr>
          <a:xfrm>
            <a:off x="6629400" y="215798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CLAUDE GIVES BACK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629400" y="2523744"/>
            <a:ext cx="4681728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Dear Valued Member,</a:t>
            </a:r>
            <a:endParaRPr lang="en-US" sz="1050" dirty="0"/>
          </a:p>
          <a:p>
            <a:pPr indent="0" marL="0">
              <a:lnSpc>
                <a:spcPct val="114000"/>
              </a:lnSpc>
              <a:buNone/>
            </a:pPr>
            <a:endParaRPr lang="en-US" sz="10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 for reaching out. We're sorry to hear about your frustration. Your membership was renewed in accordance with our standard terms and conditions.</a:t>
            </a:r>
            <a:endParaRPr lang="en-US" sz="1050" dirty="0"/>
          </a:p>
          <a:p>
            <a:pPr indent="0" marL="0">
              <a:lnSpc>
                <a:spcPct val="114000"/>
              </a:lnSpc>
              <a:buNone/>
            </a:pPr>
            <a:endParaRPr lang="en-US" sz="10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 have any further questions, please don't hesitate to contact us.</a:t>
            </a:r>
            <a:endParaRPr lang="en-US" sz="1050" dirty="0"/>
          </a:p>
          <a:p>
            <a:pPr indent="0" marL="0">
              <a:lnSpc>
                <a:spcPct val="114000"/>
              </a:lnSpc>
              <a:buNone/>
            </a:pPr>
            <a:endParaRPr lang="en-US" sz="10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regards,</a:t>
            </a:r>
            <a:endParaRPr lang="en-US" sz="10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BJ's Wholesale Club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629400" y="5413248"/>
            <a:ext cx="4681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i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Cold and generic. Explains nothing, offers no options, and quietly refuses the refund.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ENGINEERING · BEGINNER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6519672" y="64190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training material — not an official BJ's publication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841248" cy="841248"/>
          </a:xfrm>
          <a:prstGeom prst="ellipse">
            <a:avLst/>
          </a:prstGeom>
          <a:solidFill>
            <a:srgbClr val="D31242"/>
          </a:solidFill>
          <a:ln/>
          <a:effectLst>
            <a:outerShdw sx="100000" sy="100000" kx="0" ky="0" algn="bl" rotWithShape="0" blurRad="88900" dist="38100" dir="5400000">
              <a:srgbClr val="1F2733">
                <a:alpha val="10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786384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64208" y="54864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FRAMEWORK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664208" y="841248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30" kern="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CO-STAR: the six parts of a strong prompt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965960"/>
            <a:ext cx="5349240" cy="1225296"/>
          </a:xfrm>
          <a:prstGeom prst="roundRect">
            <a:avLst>
              <a:gd name="adj" fmla="val 6716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14400" y="2350008"/>
            <a:ext cx="457200" cy="457200"/>
          </a:xfrm>
          <a:prstGeom prst="ellipse">
            <a:avLst/>
          </a:prstGeom>
          <a:solidFill>
            <a:srgbClr val="D3124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2459736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54480" y="214884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— Context</a:t>
            </a:r>
            <a:endParaRPr lang="en-US" sz="15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you are and the situation.</a:t>
            </a:r>
            <a:endParaRPr lang="en-US" sz="1550" dirty="0"/>
          </a:p>
        </p:txBody>
      </p:sp>
      <p:sp>
        <p:nvSpPr>
          <p:cNvPr id="10" name="Shape 6"/>
          <p:cNvSpPr/>
          <p:nvPr/>
        </p:nvSpPr>
        <p:spPr>
          <a:xfrm>
            <a:off x="6172200" y="1965960"/>
            <a:ext cx="5349240" cy="1225296"/>
          </a:xfrm>
          <a:prstGeom prst="roundRect">
            <a:avLst>
              <a:gd name="adj" fmla="val 6716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446520" y="2350008"/>
            <a:ext cx="457200" cy="457200"/>
          </a:xfrm>
          <a:prstGeom prst="ellipse">
            <a:avLst/>
          </a:prstGeom>
          <a:solidFill>
            <a:srgbClr val="D31242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6248" y="2459736"/>
            <a:ext cx="237744" cy="23774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086600" y="214884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— Objective</a:t>
            </a:r>
            <a:endParaRPr lang="en-US" sz="15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want it to do.</a:t>
            </a:r>
            <a:endParaRPr lang="en-US" sz="1550" dirty="0"/>
          </a:p>
        </p:txBody>
      </p:sp>
      <p:sp>
        <p:nvSpPr>
          <p:cNvPr id="14" name="Shape 9"/>
          <p:cNvSpPr/>
          <p:nvPr/>
        </p:nvSpPr>
        <p:spPr>
          <a:xfrm>
            <a:off x="640080" y="3355848"/>
            <a:ext cx="5349240" cy="1225296"/>
          </a:xfrm>
          <a:prstGeom prst="roundRect">
            <a:avLst>
              <a:gd name="adj" fmla="val 6716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914400" y="3739896"/>
            <a:ext cx="457200" cy="457200"/>
          </a:xfrm>
          <a:prstGeom prst="ellipse">
            <a:avLst/>
          </a:prstGeom>
          <a:solidFill>
            <a:srgbClr val="D31242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28" y="3849624"/>
            <a:ext cx="237744" cy="23774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554480" y="3538728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— Style</a:t>
            </a:r>
            <a:endParaRPr lang="en-US" sz="15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should read — format, length.</a:t>
            </a:r>
            <a:endParaRPr lang="en-US" sz="1550" dirty="0"/>
          </a:p>
        </p:txBody>
      </p:sp>
      <p:sp>
        <p:nvSpPr>
          <p:cNvPr id="18" name="Shape 12"/>
          <p:cNvSpPr/>
          <p:nvPr/>
        </p:nvSpPr>
        <p:spPr>
          <a:xfrm>
            <a:off x="6172200" y="3355848"/>
            <a:ext cx="5349240" cy="1225296"/>
          </a:xfrm>
          <a:prstGeom prst="roundRect">
            <a:avLst>
              <a:gd name="adj" fmla="val 6716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6446520" y="3739896"/>
            <a:ext cx="457200" cy="457200"/>
          </a:xfrm>
          <a:prstGeom prst="ellipse">
            <a:avLst/>
          </a:prstGeom>
          <a:solidFill>
            <a:srgbClr val="D31242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6248" y="3849624"/>
            <a:ext cx="237744" cy="23774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086600" y="3538728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 — Tone</a:t>
            </a:r>
            <a:endParaRPr lang="en-US" sz="15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voice: warm, formal, upbeat.</a:t>
            </a:r>
            <a:endParaRPr lang="en-US" sz="1550" dirty="0"/>
          </a:p>
        </p:txBody>
      </p:sp>
      <p:sp>
        <p:nvSpPr>
          <p:cNvPr id="22" name="Shape 15"/>
          <p:cNvSpPr/>
          <p:nvPr/>
        </p:nvSpPr>
        <p:spPr>
          <a:xfrm>
            <a:off x="640080" y="4745736"/>
            <a:ext cx="5349240" cy="1225296"/>
          </a:xfrm>
          <a:prstGeom prst="roundRect">
            <a:avLst>
              <a:gd name="adj" fmla="val 6716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23" name="Shape 16"/>
          <p:cNvSpPr/>
          <p:nvPr/>
        </p:nvSpPr>
        <p:spPr>
          <a:xfrm>
            <a:off x="914400" y="5129784"/>
            <a:ext cx="457200" cy="457200"/>
          </a:xfrm>
          <a:prstGeom prst="ellipse">
            <a:avLst/>
          </a:prstGeom>
          <a:solidFill>
            <a:srgbClr val="D31242"/>
          </a:solidFill>
          <a:ln/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4128" y="5239512"/>
            <a:ext cx="237744" cy="237744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554480" y="4928616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— Audience</a:t>
            </a:r>
            <a:endParaRPr lang="en-US" sz="15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the answer is for.</a:t>
            </a:r>
            <a:endParaRPr lang="en-US" sz="1550" dirty="0"/>
          </a:p>
        </p:txBody>
      </p:sp>
      <p:sp>
        <p:nvSpPr>
          <p:cNvPr id="26" name="Shape 18"/>
          <p:cNvSpPr/>
          <p:nvPr/>
        </p:nvSpPr>
        <p:spPr>
          <a:xfrm>
            <a:off x="6172200" y="4745736"/>
            <a:ext cx="5349240" cy="1225296"/>
          </a:xfrm>
          <a:prstGeom prst="roundRect">
            <a:avLst>
              <a:gd name="adj" fmla="val 6716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27" name="Shape 19"/>
          <p:cNvSpPr/>
          <p:nvPr/>
        </p:nvSpPr>
        <p:spPr>
          <a:xfrm>
            <a:off x="6446520" y="5129784"/>
            <a:ext cx="457200" cy="457200"/>
          </a:xfrm>
          <a:prstGeom prst="ellipse">
            <a:avLst/>
          </a:prstGeom>
          <a:solidFill>
            <a:srgbClr val="D31242"/>
          </a:solidFill>
          <a:ln/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6248" y="5239512"/>
            <a:ext cx="237744" cy="237744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7086600" y="4928616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— Response</a:t>
            </a:r>
            <a:endParaRPr lang="en-US" sz="15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exact output shape you want.</a:t>
            </a:r>
            <a:endParaRPr lang="en-US" sz="1550" dirty="0"/>
          </a:p>
        </p:txBody>
      </p:sp>
      <p:sp>
        <p:nvSpPr>
          <p:cNvPr id="30" name="Text 21"/>
          <p:cNvSpPr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ENGINEERING · BEGINNER</a:t>
            </a:r>
            <a:endParaRPr lang="en-US" sz="850" dirty="0"/>
          </a:p>
        </p:txBody>
      </p:sp>
      <p:sp>
        <p:nvSpPr>
          <p:cNvPr id="31" name="Text 22"/>
          <p:cNvSpPr/>
          <p:nvPr/>
        </p:nvSpPr>
        <p:spPr>
          <a:xfrm>
            <a:off x="6519672" y="64190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training material — not an official BJ's publication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841248" cy="841248"/>
          </a:xfrm>
          <a:prstGeom prst="ellipse">
            <a:avLst/>
          </a:prstGeom>
          <a:solidFill>
            <a:srgbClr val="D31242"/>
          </a:solidFill>
          <a:ln/>
          <a:effectLst>
            <a:outerShdw sx="100000" sy="100000" kx="0" ky="0" algn="bl" rotWithShape="0" blurRad="88900" dist="38100" dir="5400000">
              <a:srgbClr val="1F2733">
                <a:alpha val="10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786384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64208" y="54864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 · AFTER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664208" y="841248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30" kern="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request, built with CO-STAR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965960"/>
            <a:ext cx="5486400" cy="4160520"/>
          </a:xfrm>
          <a:prstGeom prst="roundRect">
            <a:avLst>
              <a:gd name="adj" fmla="val 1978"/>
            </a:avLst>
          </a:prstGeom>
          <a:solidFill>
            <a:srgbClr val="1F2733"/>
          </a:solidFill>
          <a:ln/>
          <a:effectLst>
            <a:outerShdw sx="100000" sy="100000" kx="0" ky="0" algn="bl" rotWithShape="0" blurRad="88900" dist="38100" dir="5400000">
              <a:srgbClr val="1F2733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914400" y="215798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CE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 PASTE THIS INTO CLAUDE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914400" y="2523744"/>
            <a:ext cx="4956048" cy="3456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Context: I'm in Member Care at BJ's. A member is upset their membership auto-renewed — a $60 charge they say they weren't warned about. Policy: full refund within 30 days if unused; a renewal reminder goes out ~30 days before.</a:t>
            </a:r>
            <a:endParaRPr lang="en-US" sz="930" dirty="0"/>
          </a:p>
          <a:p>
            <a:pPr indent="0" marL="0">
              <a:lnSpc>
                <a:spcPct val="112000"/>
              </a:lnSpc>
              <a:buNone/>
            </a:pPr>
            <a:endParaRPr lang="en-US" sz="9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Objective: Reply that acknowledges the frustration, gently explains the reminder, and lays out their options.</a:t>
            </a:r>
            <a:endParaRPr lang="en-US" sz="930" dirty="0"/>
          </a:p>
          <a:p>
            <a:pPr indent="0" marL="0">
              <a:lnSpc>
                <a:spcPct val="112000"/>
              </a:lnSpc>
              <a:buNone/>
            </a:pPr>
            <a:endParaRPr lang="en-US" sz="9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Style: Plain language, short paragraphs, no jargon.</a:t>
            </a:r>
            <a:endParaRPr lang="en-US" sz="9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Tone: Warm, empathetic — never defensive.</a:t>
            </a:r>
            <a:endParaRPr lang="en-US" sz="9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Audience: A frustrated member who feels blindsided.</a:t>
            </a:r>
            <a:endParaRPr lang="en-US" sz="9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Response: A 120–150 word email — acknowledge, give the two options, end with a clear next step and warm sign-off.</a:t>
            </a:r>
            <a:endParaRPr lang="en-US" sz="930" dirty="0"/>
          </a:p>
        </p:txBody>
      </p:sp>
      <p:sp>
        <p:nvSpPr>
          <p:cNvPr id="9" name="Shape 6"/>
          <p:cNvSpPr/>
          <p:nvPr/>
        </p:nvSpPr>
        <p:spPr>
          <a:xfrm>
            <a:off x="6355080" y="1965960"/>
            <a:ext cx="5193792" cy="4160520"/>
          </a:xfrm>
          <a:prstGeom prst="roundRect">
            <a:avLst>
              <a:gd name="adj" fmla="val 1978"/>
            </a:avLst>
          </a:prstGeom>
          <a:solidFill>
            <a:srgbClr val="DCFCE7"/>
          </a:solidFill>
          <a:ln/>
        </p:spPr>
      </p:sp>
      <p:sp>
        <p:nvSpPr>
          <p:cNvPr id="10" name="Text 7"/>
          <p:cNvSpPr/>
          <p:nvPr/>
        </p:nvSpPr>
        <p:spPr>
          <a:xfrm>
            <a:off x="6629400" y="215798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CLAUDE GIVES BACK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629400" y="2523744"/>
            <a:ext cx="4681728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 [Name],</a:t>
            </a:r>
            <a:endParaRPr lang="en-US" sz="950" dirty="0"/>
          </a:p>
          <a:p>
            <a:pPr indent="0" marL="0">
              <a:lnSpc>
                <a:spcPct val="114000"/>
              </a:lnSpc>
              <a:buNone/>
            </a:pPr>
            <a:endParaRPr lang="en-US" sz="9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I'm sorry — an unexpected $60 charge is frustrating, and I understand why you're upset.</a:t>
            </a:r>
            <a:endParaRPr lang="en-US" sz="950" dirty="0"/>
          </a:p>
          <a:p>
            <a:pPr indent="0" marL="0">
              <a:lnSpc>
                <a:spcPct val="114000"/>
              </a:lnSpc>
              <a:buNone/>
            </a:pPr>
            <a:endParaRPr lang="en-US" sz="9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Memberships renew automatically, and we email a reminder ~30 days ahead, which may have been missed.</a:t>
            </a:r>
            <a:endParaRPr lang="en-US" sz="950" dirty="0"/>
          </a:p>
          <a:p>
            <a:pPr indent="0" marL="0">
              <a:lnSpc>
                <a:spcPct val="114000"/>
              </a:lnSpc>
              <a:buNone/>
            </a:pPr>
            <a:endParaRPr lang="en-US" sz="9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options: if you haven't used your membership since it renewed, I can refund the full $60. Or if you'd like to keep it, I'll show the savings ahead this year.</a:t>
            </a:r>
            <a:endParaRPr lang="en-US" sz="950" dirty="0"/>
          </a:p>
          <a:p>
            <a:pPr indent="0" marL="0">
              <a:lnSpc>
                <a:spcPct val="114000"/>
              </a:lnSpc>
              <a:buNone/>
            </a:pPr>
            <a:endParaRPr lang="en-US" sz="9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Reply with your choice and I'll take care of it right away.</a:t>
            </a:r>
            <a:endParaRPr lang="en-US" sz="950" dirty="0"/>
          </a:p>
          <a:p>
            <a:pPr indent="0" marL="0">
              <a:lnSpc>
                <a:spcPct val="114000"/>
              </a:lnSpc>
              <a:buNone/>
            </a:pPr>
            <a:endParaRPr lang="en-US" sz="9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Warmly, [Your name] — BJ's Member Care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6629400" y="5413248"/>
            <a:ext cx="4681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i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Specific, warm, and it solves the problem — real options and a clear next step.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ENGINEERING · BEGINNER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6519672" y="64190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training material — not an official BJ's publication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841248" cy="841248"/>
          </a:xfrm>
          <a:prstGeom prst="ellipse">
            <a:avLst/>
          </a:prstGeom>
          <a:solidFill>
            <a:srgbClr val="D31242"/>
          </a:solidFill>
          <a:ln/>
          <a:effectLst>
            <a:outerShdw sx="100000" sy="100000" kx="0" ky="0" algn="bl" rotWithShape="0" blurRad="88900" dist="38100" dir="5400000">
              <a:srgbClr val="1F2733">
                <a:alpha val="10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786384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64208" y="54864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PAYOFF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664208" y="841248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30" kern="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line vs. CO-STAR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2103120"/>
            <a:ext cx="5303520" cy="3611880"/>
          </a:xfrm>
          <a:prstGeom prst="roundRect">
            <a:avLst>
              <a:gd name="adj" fmla="val 2278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22860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ONE-LINE PROMPT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914400" y="2578608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“Write a reply to this member…”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14400" y="32918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GET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4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cold, generic apology that explains nothing and offers no options.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914400" y="50292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to type — slow to fix.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217920" y="2103120"/>
            <a:ext cx="5303520" cy="3611880"/>
          </a:xfrm>
          <a:prstGeom prst="roundRect">
            <a:avLst>
              <a:gd name="adj" fmla="val 2278"/>
            </a:avLst>
          </a:prstGeom>
          <a:solidFill>
            <a:srgbClr val="DCFCE7"/>
          </a:solidFill>
          <a:ln/>
        </p:spPr>
      </p:sp>
      <p:sp>
        <p:nvSpPr>
          <p:cNvPr id="13" name="Text 10"/>
          <p:cNvSpPr/>
          <p:nvPr/>
        </p:nvSpPr>
        <p:spPr>
          <a:xfrm>
            <a:off x="6492240" y="22860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CO-STAR PROMPT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492240" y="2578608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· Objective · Style · Tone · Audience · Response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492240" y="32918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GET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492240" y="361188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4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warm reply that acknowledges the issue, explains the reminder, and gives two clear options + a next step.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492240" y="50292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minute more — and actually usable.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ENGINEERING · BEGINNER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6519672" y="64190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training material — not an official BJ's publication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841248" cy="841248"/>
          </a:xfrm>
          <a:prstGeom prst="ellipse">
            <a:avLst/>
          </a:prstGeom>
          <a:solidFill>
            <a:srgbClr val="D31242"/>
          </a:solidFill>
          <a:ln/>
          <a:effectLst>
            <a:outerShdw sx="100000" sy="100000" kx="0" ky="0" algn="bl" rotWithShape="0" blurRad="88900" dist="38100" dir="5400000">
              <a:srgbClr val="1F2733">
                <a:alpha val="10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786384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64208" y="54864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REFINE LOOP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664208" y="841248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30" kern="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strong prompt is a first draft — then refine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640080" y="2103120"/>
            <a:ext cx="63093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5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rarely nail it in one shot, and you don't need to. Read what came back, decide what's off, and ask for a change in plain words. Refining keeps everything good and fixes only what's missing — far faster than starting over.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7269480" y="2103120"/>
            <a:ext cx="4251960" cy="3200400"/>
          </a:xfrm>
          <a:prstGeom prst="roundRect">
            <a:avLst>
              <a:gd name="adj" fmla="val 2571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89520" y="2377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REFINE, DON'T RESTART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589520" y="2834640"/>
            <a:ext cx="36576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i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“Make it warmer.”
“Keep it under 120 words.”
“Offer a $20 courtesy credit.”
</a:t>
            </a:r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nudges → big improvement.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ENGINEERING · BEGINNER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6519672" y="64190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training material — not an official BJ's publication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841248" cy="841248"/>
          </a:xfrm>
          <a:prstGeom prst="ellipse">
            <a:avLst/>
          </a:prstGeom>
          <a:solidFill>
            <a:srgbClr val="D31242"/>
          </a:solidFill>
          <a:ln/>
          <a:effectLst>
            <a:outerShdw sx="100000" sy="100000" kx="0" ky="0" algn="bl" rotWithShape="0" blurRad="88900" dist="38100" dir="5400000">
              <a:srgbClr val="1F2733">
                <a:alpha val="10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786384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64208" y="54864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 · REFINE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664208" y="841248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30" kern="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 it in one follow-up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965960"/>
            <a:ext cx="5486400" cy="4160520"/>
          </a:xfrm>
          <a:prstGeom prst="roundRect">
            <a:avLst>
              <a:gd name="adj" fmla="val 1978"/>
            </a:avLst>
          </a:prstGeom>
          <a:solidFill>
            <a:srgbClr val="1F2733"/>
          </a:solidFill>
          <a:ln/>
          <a:effectLst>
            <a:outerShdw sx="100000" sy="100000" kx="0" ky="0" algn="bl" rotWithShape="0" blurRad="88900" dist="38100" dir="5400000">
              <a:srgbClr val="1F2733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914400" y="215798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CE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 PASTE THIS INTO CLAUDE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914400" y="2523744"/>
            <a:ext cx="4956048" cy="3456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it a little warmer, keep it under 120 words, and offer a one-time $20 courtesy credit if they'd like to stay.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355080" y="1965960"/>
            <a:ext cx="5193792" cy="4160520"/>
          </a:xfrm>
          <a:prstGeom prst="roundRect">
            <a:avLst>
              <a:gd name="adj" fmla="val 1978"/>
            </a:avLst>
          </a:prstGeom>
          <a:solidFill>
            <a:srgbClr val="DCFCE7"/>
          </a:solidFill>
          <a:ln/>
        </p:spPr>
      </p:sp>
      <p:sp>
        <p:nvSpPr>
          <p:cNvPr id="10" name="Text 7"/>
          <p:cNvSpPr/>
          <p:nvPr/>
        </p:nvSpPr>
        <p:spPr>
          <a:xfrm>
            <a:off x="6629400" y="215798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CLAUDE GIVES BACK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629400" y="2523744"/>
            <a:ext cx="4681728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 [Name],</a:t>
            </a:r>
            <a:endParaRPr lang="en-US" sz="1000" dirty="0"/>
          </a:p>
          <a:p>
            <a:pPr indent="0" marL="0">
              <a:lnSpc>
                <a:spcPct val="114000"/>
              </a:lnSpc>
              <a:buNone/>
            </a:pPr>
            <a:endParaRPr lang="en-US" sz="10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I'm so sorry for the surprise — a $60 charge you weren't expecting is genuinely frustrating.</a:t>
            </a:r>
            <a:endParaRPr lang="en-US" sz="1000" dirty="0"/>
          </a:p>
          <a:p>
            <a:pPr indent="0" marL="0">
              <a:lnSpc>
                <a:spcPct val="114000"/>
              </a:lnSpc>
              <a:buNone/>
            </a:pPr>
            <a:endParaRPr lang="en-US" sz="10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Here's what I can do: if your membership is unused since renewing, I'll refund the full $60. Or, if you'd like to stay, I'd love to add a one-time $20 courtesy credit as a thank-you.</a:t>
            </a:r>
            <a:endParaRPr lang="en-US" sz="1000" dirty="0"/>
          </a:p>
          <a:p>
            <a:pPr indent="0" marL="0">
              <a:lnSpc>
                <a:spcPct val="114000"/>
              </a:lnSpc>
              <a:buNone/>
            </a:pPr>
            <a:endParaRPr lang="en-US" sz="10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 reply with what works best and I'll sort it out today.</a:t>
            </a:r>
            <a:endParaRPr lang="en-US" sz="1000" dirty="0"/>
          </a:p>
          <a:p>
            <a:pPr indent="0" marL="0">
              <a:lnSpc>
                <a:spcPct val="114000"/>
              </a:lnSpc>
              <a:buNone/>
            </a:pPr>
            <a:endParaRPr lang="en-US" sz="10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Warmly, [Your name] — BJ's Member Care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629400" y="5413248"/>
            <a:ext cx="4681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i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One follow-up — not a restart. Warmer, shorter, and more generous.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ENGINEERING · BEGINNER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6519672" y="64190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training material — not an official BJ's publication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841248" cy="841248"/>
          </a:xfrm>
          <a:prstGeom prst="ellipse">
            <a:avLst/>
          </a:prstGeom>
          <a:solidFill>
            <a:srgbClr val="D31242"/>
          </a:solidFill>
          <a:ln/>
          <a:effectLst>
            <a:outerShdw sx="100000" sy="100000" kx="0" ky="0" algn="bl" rotWithShape="0" blurRad="88900" dist="38100" dir="5400000">
              <a:srgbClr val="1F2733">
                <a:alpha val="10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786384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64208" y="54864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CAN NOW DO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664208" y="841248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30" kern="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have met every goal we set at the start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2148840"/>
            <a:ext cx="5349240" cy="1600200"/>
          </a:xfrm>
          <a:prstGeom prst="roundRect">
            <a:avLst>
              <a:gd name="adj" fmla="val 5143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14400" y="2651760"/>
            <a:ext cx="548640" cy="548640"/>
          </a:xfrm>
          <a:prstGeom prst="ellipse">
            <a:avLst/>
          </a:prstGeom>
          <a:solidFill>
            <a:srgbClr val="D3124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" y="2779776"/>
            <a:ext cx="292608" cy="2926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45920" y="2377440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why structure matters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capable assistant, not a mind-reader.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6172200" y="2148840"/>
            <a:ext cx="5349240" cy="1600200"/>
          </a:xfrm>
          <a:prstGeom prst="roundRect">
            <a:avLst>
              <a:gd name="adj" fmla="val 5143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446520" y="2651760"/>
            <a:ext cx="548640" cy="548640"/>
          </a:xfrm>
          <a:prstGeom prst="ellipse">
            <a:avLst/>
          </a:prstGeom>
          <a:solidFill>
            <a:srgbClr val="D31242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4536" y="2779776"/>
            <a:ext cx="292608" cy="29260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178040" y="2377440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prompt with CO-STAR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parts, every time.</a:t>
            </a:r>
            <a:endParaRPr lang="en-US" sz="1600" dirty="0"/>
          </a:p>
        </p:txBody>
      </p:sp>
      <p:sp>
        <p:nvSpPr>
          <p:cNvPr id="14" name="Shape 9"/>
          <p:cNvSpPr/>
          <p:nvPr/>
        </p:nvSpPr>
        <p:spPr>
          <a:xfrm>
            <a:off x="640080" y="3931920"/>
            <a:ext cx="5349240" cy="1600200"/>
          </a:xfrm>
          <a:prstGeom prst="roundRect">
            <a:avLst>
              <a:gd name="adj" fmla="val 5143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914400" y="4434840"/>
            <a:ext cx="548640" cy="548640"/>
          </a:xfrm>
          <a:prstGeom prst="ellipse">
            <a:avLst/>
          </a:prstGeom>
          <a:solidFill>
            <a:srgbClr val="D31242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2416" y="4562856"/>
            <a:ext cx="292608" cy="29260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645920" y="4160520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Steer tone, length &amp; format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answer fits the reader.</a:t>
            </a:r>
            <a:endParaRPr lang="en-US" sz="1600" dirty="0"/>
          </a:p>
        </p:txBody>
      </p:sp>
      <p:sp>
        <p:nvSpPr>
          <p:cNvPr id="18" name="Shape 12"/>
          <p:cNvSpPr/>
          <p:nvPr/>
        </p:nvSpPr>
        <p:spPr>
          <a:xfrm>
            <a:off x="6172200" y="3931920"/>
            <a:ext cx="5349240" cy="1600200"/>
          </a:xfrm>
          <a:prstGeom prst="roundRect">
            <a:avLst>
              <a:gd name="adj" fmla="val 5143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6446520" y="4434840"/>
            <a:ext cx="548640" cy="548640"/>
          </a:xfrm>
          <a:prstGeom prst="ellipse">
            <a:avLst/>
          </a:prstGeom>
          <a:solidFill>
            <a:srgbClr val="D31242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4536" y="4562856"/>
            <a:ext cx="292608" cy="29260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78040" y="4160520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Refine, not restart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follow-up lifts the result.</a:t>
            </a:r>
            <a:endParaRPr lang="en-US" sz="1600" dirty="0"/>
          </a:p>
        </p:txBody>
      </p:sp>
      <p:sp>
        <p:nvSpPr>
          <p:cNvPr id="22" name="Text 15"/>
          <p:cNvSpPr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ENGINEERING · BEGINNER</a:t>
            </a:r>
            <a:endParaRPr lang="en-US" sz="850" dirty="0"/>
          </a:p>
        </p:txBody>
      </p:sp>
      <p:sp>
        <p:nvSpPr>
          <p:cNvPr id="23" name="Text 16"/>
          <p:cNvSpPr/>
          <p:nvPr/>
        </p:nvSpPr>
        <p:spPr>
          <a:xfrm>
            <a:off x="6519672" y="64190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training material — not an official BJ's publication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841248" cy="841248"/>
          </a:xfrm>
          <a:prstGeom prst="ellipse">
            <a:avLst/>
          </a:prstGeom>
          <a:solidFill>
            <a:srgbClr val="D31242"/>
          </a:solidFill>
          <a:ln/>
          <a:effectLst>
            <a:outerShdw sx="100000" sy="100000" kx="0" ky="0" algn="bl" rotWithShape="0" blurRad="88900" dist="38100" dir="5400000">
              <a:srgbClr val="1F2733">
                <a:alpha val="10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786384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64208" y="54864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KEEP-AT-YOUR-DESK CARD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664208" y="841248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30" kern="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CO-STAR + Refine cheat-sheet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10881360" cy="548640"/>
          </a:xfrm>
          <a:prstGeom prst="roundRect">
            <a:avLst>
              <a:gd name="adj" fmla="val 15000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856232"/>
            <a:ext cx="402336" cy="402336"/>
          </a:xfrm>
          <a:prstGeom prst="ellipse">
            <a:avLst/>
          </a:prstGeom>
          <a:solidFill>
            <a:srgbClr val="D31242"/>
          </a:solidFill>
          <a:ln/>
        </p:spPr>
      </p:sp>
      <p:sp>
        <p:nvSpPr>
          <p:cNvPr id="8" name="Text 5"/>
          <p:cNvSpPr/>
          <p:nvPr/>
        </p:nvSpPr>
        <p:spPr>
          <a:xfrm>
            <a:off x="841248" y="18562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463040" y="178308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  </a:t>
            </a:r>
            <a:pPr indent="0" marL="0">
              <a:buNone/>
            </a:pPr>
            <a:r>
              <a:rPr lang="en-US" sz="12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you are and the situation.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40080" y="2386584"/>
            <a:ext cx="10881360" cy="548640"/>
          </a:xfrm>
          <a:prstGeom prst="roundRect">
            <a:avLst>
              <a:gd name="adj" fmla="val 15000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41248" y="2459736"/>
            <a:ext cx="402336" cy="402336"/>
          </a:xfrm>
          <a:prstGeom prst="ellipse">
            <a:avLst/>
          </a:prstGeom>
          <a:solidFill>
            <a:srgbClr val="D31242"/>
          </a:solidFill>
          <a:ln/>
        </p:spPr>
      </p:sp>
      <p:sp>
        <p:nvSpPr>
          <p:cNvPr id="12" name="Text 9"/>
          <p:cNvSpPr/>
          <p:nvPr/>
        </p:nvSpPr>
        <p:spPr>
          <a:xfrm>
            <a:off x="841248" y="24597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463040" y="2386584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  </a:t>
            </a:r>
            <a:pPr indent="0" marL="0">
              <a:buNone/>
            </a:pPr>
            <a:r>
              <a:rPr lang="en-US" sz="12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want it to do.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40080" y="2990088"/>
            <a:ext cx="10881360" cy="548640"/>
          </a:xfrm>
          <a:prstGeom prst="roundRect">
            <a:avLst>
              <a:gd name="adj" fmla="val 15000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41248" y="3063240"/>
            <a:ext cx="402336" cy="402336"/>
          </a:xfrm>
          <a:prstGeom prst="ellipse">
            <a:avLst/>
          </a:prstGeom>
          <a:solidFill>
            <a:srgbClr val="D31242"/>
          </a:solidFill>
          <a:ln/>
        </p:spPr>
      </p:sp>
      <p:sp>
        <p:nvSpPr>
          <p:cNvPr id="16" name="Text 13"/>
          <p:cNvSpPr/>
          <p:nvPr/>
        </p:nvSpPr>
        <p:spPr>
          <a:xfrm>
            <a:off x="841248" y="3063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463040" y="2990088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Style   </a:t>
            </a:r>
            <a:pPr indent="0" marL="0">
              <a:buNone/>
            </a:pPr>
            <a:r>
              <a:rPr lang="en-US" sz="12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should read — format, length, structure.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40080" y="3593592"/>
            <a:ext cx="10881360" cy="548640"/>
          </a:xfrm>
          <a:prstGeom prst="roundRect">
            <a:avLst>
              <a:gd name="adj" fmla="val 15000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41248" y="3666744"/>
            <a:ext cx="402336" cy="402336"/>
          </a:xfrm>
          <a:prstGeom prst="ellipse">
            <a:avLst/>
          </a:prstGeom>
          <a:solidFill>
            <a:srgbClr val="D31242"/>
          </a:solidFill>
          <a:ln/>
        </p:spPr>
      </p:sp>
      <p:sp>
        <p:nvSpPr>
          <p:cNvPr id="20" name="Text 17"/>
          <p:cNvSpPr/>
          <p:nvPr/>
        </p:nvSpPr>
        <p:spPr>
          <a:xfrm>
            <a:off x="841248" y="36667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463040" y="3593592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Tone   </a:t>
            </a:r>
            <a:pPr indent="0" marL="0">
              <a:buNone/>
            </a:pPr>
            <a:r>
              <a:rPr lang="en-US" sz="12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voice — warm, formal, upbeat.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640080" y="4197096"/>
            <a:ext cx="10881360" cy="548640"/>
          </a:xfrm>
          <a:prstGeom prst="roundRect">
            <a:avLst>
              <a:gd name="adj" fmla="val 15000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41248" y="4270248"/>
            <a:ext cx="402336" cy="402336"/>
          </a:xfrm>
          <a:prstGeom prst="ellipse">
            <a:avLst/>
          </a:prstGeom>
          <a:solidFill>
            <a:srgbClr val="D31242"/>
          </a:solidFill>
          <a:ln/>
        </p:spPr>
      </p:sp>
      <p:sp>
        <p:nvSpPr>
          <p:cNvPr id="24" name="Text 21"/>
          <p:cNvSpPr/>
          <p:nvPr/>
        </p:nvSpPr>
        <p:spPr>
          <a:xfrm>
            <a:off x="841248" y="42702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1463040" y="4197096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Audience   </a:t>
            </a:r>
            <a:pPr indent="0" marL="0">
              <a:buNone/>
            </a:pPr>
            <a:r>
              <a:rPr lang="en-US" sz="12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the answer is for.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640080" y="4800600"/>
            <a:ext cx="10881360" cy="548640"/>
          </a:xfrm>
          <a:prstGeom prst="roundRect">
            <a:avLst>
              <a:gd name="adj" fmla="val 15000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41248" y="4873752"/>
            <a:ext cx="402336" cy="402336"/>
          </a:xfrm>
          <a:prstGeom prst="ellipse">
            <a:avLst/>
          </a:prstGeom>
          <a:solidFill>
            <a:srgbClr val="D31242"/>
          </a:solidFill>
          <a:ln/>
        </p:spPr>
      </p:sp>
      <p:sp>
        <p:nvSpPr>
          <p:cNvPr id="28" name="Text 25"/>
          <p:cNvSpPr/>
          <p:nvPr/>
        </p:nvSpPr>
        <p:spPr>
          <a:xfrm>
            <a:off x="841248" y="4873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1463040" y="480060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   </a:t>
            </a:r>
            <a:pPr indent="0" marL="0">
              <a:buNone/>
            </a:pPr>
            <a:r>
              <a:rPr lang="en-US" sz="12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exact output shape you want.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640080" y="5404104"/>
            <a:ext cx="10881360" cy="548640"/>
          </a:xfrm>
          <a:prstGeom prst="roundRect">
            <a:avLst>
              <a:gd name="adj" fmla="val 15000"/>
            </a:avLst>
          </a:prstGeom>
          <a:solidFill>
            <a:srgbClr val="FCE4EA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41248" y="5477256"/>
            <a:ext cx="402336" cy="402336"/>
          </a:xfrm>
          <a:prstGeom prst="ellipse">
            <a:avLst/>
          </a:prstGeom>
          <a:solidFill>
            <a:srgbClr val="D31242"/>
          </a:solidFill>
          <a:ln/>
        </p:spPr>
      </p:sp>
      <p:sp>
        <p:nvSpPr>
          <p:cNvPr id="32" name="Text 29"/>
          <p:cNvSpPr/>
          <p:nvPr/>
        </p:nvSpPr>
        <p:spPr>
          <a:xfrm>
            <a:off x="841248" y="54772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↻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1463040" y="5404104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Refine   </a:t>
            </a:r>
            <a:pPr indent="0" marL="0">
              <a:buNone/>
            </a:pPr>
            <a:r>
              <a:rPr lang="en-US" sz="12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it, then improve in one follow-up — don't restart.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BEGINNER · CHEAT-SHEET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6519672" y="64190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training material — not an official BJ's publication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D312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394960"/>
            <a:ext cx="12188952" cy="1463040"/>
          </a:xfrm>
          <a:prstGeom prst="rect">
            <a:avLst/>
          </a:prstGeom>
          <a:solidFill>
            <a:srgbClr val="7E0A27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48640"/>
            <a:ext cx="137160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8100" dir="5400000">
              <a:srgbClr val="1F2733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4864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2000" b="1" spc="-1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BJ's</a:t>
            </a:r>
            <a:endParaRPr lang="en-US" sz="20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600" b="1" spc="2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WHOLESALE CLUB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58368" y="2148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CE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THIS ON MONDAY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21792" y="260604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one real task and CO-STAR it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58368" y="4069080"/>
            <a:ext cx="969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CE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a message you'd normally dash off, write it with all six parts, then refine once. Next stop on your journey: Directing (Intermediate) — examples, reasoning, and working from your own documents.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F2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137160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8100" dir="5400000">
              <a:srgbClr val="1F2733">
                <a:alpha val="1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640080" y="54864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2000" b="1" spc="-1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BJ's</a:t>
            </a:r>
            <a:endParaRPr lang="en-US" sz="20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600" b="1" spc="2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WHOLESALE CLUB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58368" y="2148840"/>
            <a:ext cx="3246120" cy="457200"/>
          </a:xfrm>
          <a:prstGeom prst="roundRect">
            <a:avLst>
              <a:gd name="adj" fmla="val 24000"/>
            </a:avLst>
          </a:prstGeom>
          <a:solidFill>
            <a:srgbClr val="D31242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21488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— GO DEEPER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21792" y="278892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658368" y="397764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C8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extras — a taste of what's next, and where to learn more.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841248" cy="841248"/>
          </a:xfrm>
          <a:prstGeom prst="ellipse">
            <a:avLst/>
          </a:prstGeom>
          <a:solidFill>
            <a:srgbClr val="5E6A78"/>
          </a:solidFill>
          <a:ln/>
          <a:effectLst>
            <a:outerShdw sx="100000" sy="100000" kx="0" ky="0" algn="bl" rotWithShape="0" blurRad="88900" dist="38100" dir="5400000">
              <a:srgbClr val="1F2733">
                <a:alpha val="10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786384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64208" y="54864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664208" y="841248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30" kern="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taste of what's next: show it an example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640080" y="2103120"/>
            <a:ext cx="63093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5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of the most powerful moves is giving the AI a sample of what 'good' looks like, then asking for more in that style. You'll go deep on this in the Intermediate course — here's the idea.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7269480" y="2103120"/>
            <a:ext cx="4251960" cy="3200400"/>
          </a:xfrm>
          <a:prstGeom prst="roundRect">
            <a:avLst>
              <a:gd name="adj" fmla="val 2571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89520" y="2377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IDEA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589520" y="2834640"/>
            <a:ext cx="36576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 an example you like →
</a:t>
            </a:r>
            <a:pPr indent="0" marL="0">
              <a:lnSpc>
                <a:spcPct val="115000"/>
              </a:lnSpc>
              <a:buNone/>
            </a:pPr>
            <a:r>
              <a:rPr lang="en-US" sz="1400" i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“Now do the same for ___, in this style.”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BEGINNER · APPENDIX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6519672" y="64190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training material — not an official BJ's publication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841248" cy="841248"/>
          </a:xfrm>
          <a:prstGeom prst="ellipse">
            <a:avLst/>
          </a:prstGeom>
          <a:solidFill>
            <a:srgbClr val="5E6A78"/>
          </a:solidFill>
          <a:ln/>
          <a:effectLst>
            <a:outerShdw sx="100000" sy="100000" kx="0" ky="0" algn="bl" rotWithShape="0" blurRad="88900" dist="38100" dir="5400000">
              <a:srgbClr val="1F2733">
                <a:alpha val="10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786384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64208" y="54864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664208" y="841248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30" kern="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Show, don't just tell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2103120"/>
            <a:ext cx="5303520" cy="3611880"/>
          </a:xfrm>
          <a:prstGeom prst="roundRect">
            <a:avLst>
              <a:gd name="adj" fmla="val 2278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22860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914400" y="2578608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“Write a description for our rotisserie chicken.”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14400" y="32918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GET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4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generic blurb that could be any store's.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217920" y="2103120"/>
            <a:ext cx="5303520" cy="3611880"/>
          </a:xfrm>
          <a:prstGeom prst="roundRect">
            <a:avLst>
              <a:gd name="adj" fmla="val 2278"/>
            </a:avLst>
          </a:prstGeom>
          <a:solidFill>
            <a:srgbClr val="DCFCE7"/>
          </a:solidFill>
          <a:ln/>
        </p:spPr>
      </p:sp>
      <p:sp>
        <p:nvSpPr>
          <p:cNvPr id="12" name="Text 9"/>
          <p:cNvSpPr/>
          <p:nvPr/>
        </p:nvSpPr>
        <p:spPr>
          <a:xfrm>
            <a:off x="6492240" y="22860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492240" y="2578608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“Here's a description we love: [paste]. Write one in the same style for our rotisserie chicken.”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492240" y="32918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GET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492240" y="361188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4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 that matches BJ's voice and format.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BEGINNER · APPENDIX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6519672" y="64190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training material — not an official BJ's publication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841248" cy="841248"/>
          </a:xfrm>
          <a:prstGeom prst="ellipse">
            <a:avLst/>
          </a:prstGeom>
          <a:solidFill>
            <a:srgbClr val="D31242"/>
          </a:solidFill>
          <a:ln/>
          <a:effectLst>
            <a:outerShdw sx="100000" sy="100000" kx="0" ky="0" algn="bl" rotWithShape="0" blurRad="88900" dist="38100" dir="5400000">
              <a:srgbClr val="1F2733">
                <a:alpha val="10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786384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64208" y="54864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FURTHER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664208" y="841248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30" kern="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to learn more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965960"/>
            <a:ext cx="5349240" cy="1225296"/>
          </a:xfrm>
          <a:prstGeom prst="roundRect">
            <a:avLst>
              <a:gd name="adj" fmla="val 6716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14400" y="2350008"/>
            <a:ext cx="457200" cy="457200"/>
          </a:xfrm>
          <a:prstGeom prst="ellipse">
            <a:avLst/>
          </a:prstGeom>
          <a:solidFill>
            <a:srgbClr val="D3124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2459736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54480" y="214884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 — Prompt engineering overview</a:t>
            </a:r>
            <a:endParaRPr lang="en-US" sz="15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techniques, from the source.</a:t>
            </a:r>
            <a:endParaRPr lang="en-US" sz="1550" dirty="0"/>
          </a:p>
        </p:txBody>
      </p:sp>
      <p:sp>
        <p:nvSpPr>
          <p:cNvPr id="10" name="Shape 6"/>
          <p:cNvSpPr/>
          <p:nvPr/>
        </p:nvSpPr>
        <p:spPr>
          <a:xfrm>
            <a:off x="6172200" y="1965960"/>
            <a:ext cx="5349240" cy="1225296"/>
          </a:xfrm>
          <a:prstGeom prst="roundRect">
            <a:avLst>
              <a:gd name="adj" fmla="val 6716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446520" y="2350008"/>
            <a:ext cx="457200" cy="457200"/>
          </a:xfrm>
          <a:prstGeom prst="ellipse">
            <a:avLst/>
          </a:prstGeom>
          <a:solidFill>
            <a:srgbClr val="D31242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6248" y="2459736"/>
            <a:ext cx="237744" cy="23774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086600" y="214884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GovTech — CO-STAR playbook</a:t>
            </a:r>
            <a:endParaRPr lang="en-US" sz="15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framework comes from.</a:t>
            </a:r>
            <a:endParaRPr lang="en-US" sz="1550" dirty="0"/>
          </a:p>
        </p:txBody>
      </p:sp>
      <p:sp>
        <p:nvSpPr>
          <p:cNvPr id="14" name="Shape 9"/>
          <p:cNvSpPr/>
          <p:nvPr/>
        </p:nvSpPr>
        <p:spPr>
          <a:xfrm>
            <a:off x="640080" y="3355848"/>
            <a:ext cx="5349240" cy="1225296"/>
          </a:xfrm>
          <a:prstGeom prst="roundRect">
            <a:avLst>
              <a:gd name="adj" fmla="val 6716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914400" y="3739896"/>
            <a:ext cx="457200" cy="457200"/>
          </a:xfrm>
          <a:prstGeom prst="ellipse">
            <a:avLst/>
          </a:prstGeom>
          <a:solidFill>
            <a:srgbClr val="D31242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28" y="3849624"/>
            <a:ext cx="237744" cy="23774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554480" y="3538728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— Prompting Essentials</a:t>
            </a:r>
            <a:endParaRPr lang="en-US" sz="15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free short course for everyone.</a:t>
            </a:r>
            <a:endParaRPr lang="en-US" sz="1550" dirty="0"/>
          </a:p>
        </p:txBody>
      </p:sp>
      <p:sp>
        <p:nvSpPr>
          <p:cNvPr id="18" name="Shape 12"/>
          <p:cNvSpPr/>
          <p:nvPr/>
        </p:nvSpPr>
        <p:spPr>
          <a:xfrm>
            <a:off x="6172200" y="3355848"/>
            <a:ext cx="5349240" cy="1225296"/>
          </a:xfrm>
          <a:prstGeom prst="roundRect">
            <a:avLst>
              <a:gd name="adj" fmla="val 6716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6446520" y="3739896"/>
            <a:ext cx="457200" cy="457200"/>
          </a:xfrm>
          <a:prstGeom prst="ellipse">
            <a:avLst/>
          </a:prstGeom>
          <a:solidFill>
            <a:srgbClr val="D31242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6248" y="3849624"/>
            <a:ext cx="237744" cy="23774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086600" y="3538728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Prompt Engineering Guide</a:t>
            </a:r>
            <a:endParaRPr lang="en-US" sz="15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promptingguide.ai — a deeper reference.</a:t>
            </a:r>
            <a:endParaRPr lang="en-US" sz="1550" dirty="0"/>
          </a:p>
        </p:txBody>
      </p:sp>
      <p:sp>
        <p:nvSpPr>
          <p:cNvPr id="22" name="Text 15"/>
          <p:cNvSpPr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BEGINNER · APPENDIX</a:t>
            </a:r>
            <a:endParaRPr lang="en-US" sz="850" dirty="0"/>
          </a:p>
        </p:txBody>
      </p:sp>
      <p:sp>
        <p:nvSpPr>
          <p:cNvPr id="23" name="Text 16"/>
          <p:cNvSpPr/>
          <p:nvPr/>
        </p:nvSpPr>
        <p:spPr>
          <a:xfrm>
            <a:off x="6519672" y="64190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training material — not an official BJ's publication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640080" y="566928"/>
            <a:ext cx="841248" cy="841248"/>
          </a:xfrm>
          <a:prstGeom prst="ellipse">
            <a:avLst/>
          </a:prstGeom>
          <a:solidFill>
            <a:srgbClr val="D31242"/>
          </a:solidFill>
          <a:ln/>
          <a:effectLst>
            <a:outerShdw sx="100000" sy="100000" kx="0" ky="0" algn="bl" rotWithShape="0" blurRad="88900" dist="38100" dir="5400000">
              <a:srgbClr val="1F2733">
                <a:alpha val="10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786384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64208" y="54864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 BEATS VAGUE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664208" y="841248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30" kern="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six parts, filled in for one member complaint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828800"/>
            <a:ext cx="5349240" cy="1371600"/>
          </a:xfrm>
          <a:prstGeom prst="roundRect">
            <a:avLst>
              <a:gd name="adj" fmla="val 6716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14400" y="2029968"/>
            <a:ext cx="457200" cy="457200"/>
          </a:xfrm>
          <a:prstGeom prst="ellipse">
            <a:avLst/>
          </a:prstGeom>
          <a:solidFill>
            <a:srgbClr val="D3124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7" y="2139696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54480" y="1956816"/>
            <a:ext cx="4343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350" b="1" i="0">
                <a:solidFill>
                  <a:srgbClr val="1F2733"/>
                </a:solidFill>
                <a:latin typeface="Arial"/>
              </a:rPr>
              <a:t>C — Context</a:t>
            </a:r>
            <a:endParaRPr lang="en-US" sz="1550" dirty="0"/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B91C1C"/>
                </a:solidFill>
                <a:latin typeface="Arial"/>
              </a:rPr>
              <a:t>✗  </a:t>
            </a:r>
            <a:r>
              <a:rPr sz="1000" b="0" i="1">
                <a:solidFill>
                  <a:srgbClr val="5E6A78"/>
                </a:solidFill>
                <a:latin typeface="Arial"/>
              </a:rPr>
              <a:t>"I work in customer service"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5803D"/>
                </a:solidFill>
                <a:latin typeface="Arial"/>
              </a:rPr>
              <a:t>✓  </a:t>
            </a:r>
            <a:r>
              <a:rPr sz="1050" b="0" i="0">
                <a:solidFill>
                  <a:srgbClr val="1F2733"/>
                </a:solidFill>
                <a:latin typeface="Arial"/>
              </a:rPr>
              <a:t>I'm in Member Care at BJ's; a $60 auto-renewal caught a member off guard.</a:t>
            </a:r>
          </a:p>
        </p:txBody>
      </p:sp>
      <p:sp>
        <p:nvSpPr>
          <p:cNvPr id="10" name="Shape 6"/>
          <p:cNvSpPr/>
          <p:nvPr/>
        </p:nvSpPr>
        <p:spPr>
          <a:xfrm>
            <a:off x="6172200" y="1828800"/>
            <a:ext cx="5349240" cy="1371600"/>
          </a:xfrm>
          <a:prstGeom prst="roundRect">
            <a:avLst>
              <a:gd name="adj" fmla="val 6716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446520" y="2029968"/>
            <a:ext cx="457200" cy="457200"/>
          </a:xfrm>
          <a:prstGeom prst="ellipse">
            <a:avLst/>
          </a:prstGeom>
          <a:solidFill>
            <a:srgbClr val="D31242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6248" y="2139696"/>
            <a:ext cx="237744" cy="23774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086600" y="1956816"/>
            <a:ext cx="4343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350" b="1" i="0">
                <a:solidFill>
                  <a:srgbClr val="1F2733"/>
                </a:solidFill>
                <a:latin typeface="Arial"/>
              </a:rPr>
              <a:t>O — Objective</a:t>
            </a:r>
            <a:endParaRPr lang="en-US" sz="1550" dirty="0"/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B91C1C"/>
                </a:solidFill>
                <a:latin typeface="Arial"/>
              </a:rPr>
              <a:t>✗  </a:t>
            </a:r>
            <a:r>
              <a:rPr sz="1000" b="0" i="1">
                <a:solidFill>
                  <a:srgbClr val="5E6A78"/>
                </a:solidFill>
                <a:latin typeface="Arial"/>
              </a:rPr>
              <a:t>"help with this complaint"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5803D"/>
                </a:solidFill>
                <a:latin typeface="Arial"/>
              </a:rPr>
              <a:t>✓  </a:t>
            </a:r>
            <a:r>
              <a:rPr sz="1050" b="0" i="0">
                <a:solidFill>
                  <a:srgbClr val="1F2733"/>
                </a:solidFill>
                <a:latin typeface="Arial"/>
              </a:rPr>
              <a:t>Acknowledge the frustration, explain the reminder, lay out their options.</a:t>
            </a:r>
          </a:p>
        </p:txBody>
      </p:sp>
      <p:sp>
        <p:nvSpPr>
          <p:cNvPr id="14" name="Shape 9"/>
          <p:cNvSpPr/>
          <p:nvPr/>
        </p:nvSpPr>
        <p:spPr>
          <a:xfrm>
            <a:off x="640080" y="3310128"/>
            <a:ext cx="5349240" cy="1371600"/>
          </a:xfrm>
          <a:prstGeom prst="roundRect">
            <a:avLst>
              <a:gd name="adj" fmla="val 6716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914400" y="3511296"/>
            <a:ext cx="457200" cy="457200"/>
          </a:xfrm>
          <a:prstGeom prst="ellipse">
            <a:avLst/>
          </a:prstGeom>
          <a:solidFill>
            <a:srgbClr val="D31242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127" y="3621024"/>
            <a:ext cx="237744" cy="23774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554480" y="3438144"/>
            <a:ext cx="4343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350" b="1" i="0">
                <a:solidFill>
                  <a:srgbClr val="1F2733"/>
                </a:solidFill>
                <a:latin typeface="Arial"/>
              </a:rPr>
              <a:t>S — Style</a:t>
            </a:r>
            <a:endParaRPr lang="en-US" sz="1550" dirty="0"/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B91C1C"/>
                </a:solidFill>
                <a:latin typeface="Arial"/>
              </a:rPr>
              <a:t>✗  </a:t>
            </a:r>
            <a:r>
              <a:rPr sz="1000" b="0" i="1">
                <a:solidFill>
                  <a:srgbClr val="5E6A78"/>
                </a:solidFill>
                <a:latin typeface="Arial"/>
              </a:rPr>
              <a:t>"make it sound professional"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5803D"/>
                </a:solidFill>
                <a:latin typeface="Arial"/>
              </a:rPr>
              <a:t>✓  </a:t>
            </a:r>
            <a:r>
              <a:rPr sz="1050" b="0" i="0">
                <a:solidFill>
                  <a:srgbClr val="1F2733"/>
                </a:solidFill>
                <a:latin typeface="Arial"/>
              </a:rPr>
              <a:t>Plain language, short paragraphs, no jargon.</a:t>
            </a:r>
          </a:p>
        </p:txBody>
      </p:sp>
      <p:sp>
        <p:nvSpPr>
          <p:cNvPr id="18" name="Shape 12"/>
          <p:cNvSpPr/>
          <p:nvPr/>
        </p:nvSpPr>
        <p:spPr>
          <a:xfrm>
            <a:off x="6172200" y="3310128"/>
            <a:ext cx="5349240" cy="1371600"/>
          </a:xfrm>
          <a:prstGeom prst="roundRect">
            <a:avLst>
              <a:gd name="adj" fmla="val 6716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6446520" y="3511296"/>
            <a:ext cx="457200" cy="457200"/>
          </a:xfrm>
          <a:prstGeom prst="ellipse">
            <a:avLst/>
          </a:prstGeom>
          <a:solidFill>
            <a:srgbClr val="D31242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6248" y="3621024"/>
            <a:ext cx="237744" cy="23774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086600" y="3438144"/>
            <a:ext cx="4343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350" b="1" i="0">
                <a:solidFill>
                  <a:srgbClr val="1F2733"/>
                </a:solidFill>
                <a:latin typeface="Arial"/>
              </a:rPr>
              <a:t>T — Tone</a:t>
            </a:r>
            <a:endParaRPr lang="en-US" sz="1550" dirty="0"/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B91C1C"/>
                </a:solidFill>
                <a:latin typeface="Arial"/>
              </a:rPr>
              <a:t>✗  </a:t>
            </a:r>
            <a:r>
              <a:rPr sz="1000" b="0" i="1">
                <a:solidFill>
                  <a:srgbClr val="5E6A78"/>
                </a:solidFill>
                <a:latin typeface="Arial"/>
              </a:rPr>
              <a:t>"be nice about it"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5803D"/>
                </a:solidFill>
                <a:latin typeface="Arial"/>
              </a:rPr>
              <a:t>✓  </a:t>
            </a:r>
            <a:r>
              <a:rPr sz="1050" b="0" i="0">
                <a:solidFill>
                  <a:srgbClr val="1F2733"/>
                </a:solidFill>
                <a:latin typeface="Arial"/>
              </a:rPr>
              <a:t>Warm and empathetic — never defensive.</a:t>
            </a:r>
          </a:p>
        </p:txBody>
      </p:sp>
      <p:sp>
        <p:nvSpPr>
          <p:cNvPr id="22" name="Shape 15"/>
          <p:cNvSpPr/>
          <p:nvPr/>
        </p:nvSpPr>
        <p:spPr>
          <a:xfrm>
            <a:off x="640080" y="4791456"/>
            <a:ext cx="5349240" cy="1371600"/>
          </a:xfrm>
          <a:prstGeom prst="roundRect">
            <a:avLst>
              <a:gd name="adj" fmla="val 6716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23" name="Shape 16"/>
          <p:cNvSpPr/>
          <p:nvPr/>
        </p:nvSpPr>
        <p:spPr>
          <a:xfrm>
            <a:off x="914400" y="4992624"/>
            <a:ext cx="457200" cy="457200"/>
          </a:xfrm>
          <a:prstGeom prst="ellipse">
            <a:avLst/>
          </a:prstGeom>
          <a:solidFill>
            <a:srgbClr val="D31242"/>
          </a:solidFill>
          <a:ln/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4127" y="5102352"/>
            <a:ext cx="237744" cy="237744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554480" y="4919472"/>
            <a:ext cx="4343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350" b="1" i="0">
                <a:solidFill>
                  <a:srgbClr val="1F2733"/>
                </a:solidFill>
                <a:latin typeface="Arial"/>
              </a:rPr>
              <a:t>A — Audience</a:t>
            </a:r>
            <a:endParaRPr lang="en-US" sz="1550" dirty="0"/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B91C1C"/>
                </a:solidFill>
                <a:latin typeface="Arial"/>
              </a:rPr>
              <a:t>✗  </a:t>
            </a:r>
            <a:r>
              <a:rPr sz="1000" b="0" i="1">
                <a:solidFill>
                  <a:srgbClr val="5E6A78"/>
                </a:solidFill>
                <a:latin typeface="Arial"/>
              </a:rPr>
              <a:t>"a customer"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5803D"/>
                </a:solidFill>
                <a:latin typeface="Arial"/>
              </a:rPr>
              <a:t>✓  </a:t>
            </a:r>
            <a:r>
              <a:rPr sz="1050" b="0" i="0">
                <a:solidFill>
                  <a:srgbClr val="1F2733"/>
                </a:solidFill>
                <a:latin typeface="Arial"/>
              </a:rPr>
              <a:t>A member who feels blindsided and wants their money back.</a:t>
            </a:r>
          </a:p>
        </p:txBody>
      </p:sp>
      <p:sp>
        <p:nvSpPr>
          <p:cNvPr id="26" name="Shape 18"/>
          <p:cNvSpPr/>
          <p:nvPr/>
        </p:nvSpPr>
        <p:spPr>
          <a:xfrm>
            <a:off x="6172200" y="4791456"/>
            <a:ext cx="5349240" cy="1371600"/>
          </a:xfrm>
          <a:prstGeom prst="roundRect">
            <a:avLst>
              <a:gd name="adj" fmla="val 6716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27" name="Shape 19"/>
          <p:cNvSpPr/>
          <p:nvPr/>
        </p:nvSpPr>
        <p:spPr>
          <a:xfrm>
            <a:off x="6446520" y="4992624"/>
            <a:ext cx="457200" cy="457200"/>
          </a:xfrm>
          <a:prstGeom prst="ellipse">
            <a:avLst/>
          </a:prstGeom>
          <a:solidFill>
            <a:srgbClr val="D31242"/>
          </a:solidFill>
          <a:ln/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56248" y="5102352"/>
            <a:ext cx="237744" cy="237744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7086600" y="4919472"/>
            <a:ext cx="4343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350" b="1" i="0">
                <a:solidFill>
                  <a:srgbClr val="1F2733"/>
                </a:solidFill>
                <a:latin typeface="Arial"/>
              </a:rPr>
              <a:t>R — Response</a:t>
            </a:r>
            <a:endParaRPr lang="en-US" sz="1550" dirty="0"/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B91C1C"/>
                </a:solidFill>
                <a:latin typeface="Arial"/>
              </a:rPr>
              <a:t>✗  </a:t>
            </a:r>
            <a:r>
              <a:rPr sz="1000" b="0" i="1">
                <a:solidFill>
                  <a:srgbClr val="5E6A78"/>
                </a:solidFill>
                <a:latin typeface="Arial"/>
              </a:rPr>
              <a:t>"write an email"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5803D"/>
                </a:solidFill>
                <a:latin typeface="Arial"/>
              </a:rPr>
              <a:t>✓  </a:t>
            </a:r>
            <a:r>
              <a:rPr sz="1050" b="0" i="0">
                <a:solidFill>
                  <a:srgbClr val="1F2733"/>
                </a:solidFill>
                <a:latin typeface="Arial"/>
              </a:rPr>
              <a:t>A 120-150 word email that ends with a clear next step.</a:t>
            </a:r>
          </a:p>
        </p:txBody>
      </p:sp>
      <p:sp>
        <p:nvSpPr>
          <p:cNvPr id="30" name="Text 21"/>
          <p:cNvSpPr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ENGINEERING · BEGINNER</a:t>
            </a:r>
            <a:endParaRPr lang="en-US" sz="850" dirty="0"/>
          </a:p>
        </p:txBody>
      </p:sp>
      <p:sp>
        <p:nvSpPr>
          <p:cNvPr id="31" name="Text 22"/>
          <p:cNvSpPr/>
          <p:nvPr/>
        </p:nvSpPr>
        <p:spPr>
          <a:xfrm>
            <a:off x="6519672" y="64190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training material — not an official BJ's publication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Prompt Engineering — Beginner</dc:title>
  <dc:subject>PptxGenJS Presentation</dc:subject>
  <dc:creator>BJ's AI Enablement</dc:creator>
  <cp:lastModifiedBy>BJ's AI Enablement</cp:lastModifiedBy>
  <cp:revision>1</cp:revision>
  <dcterms:created xsi:type="dcterms:W3CDTF">2026-07-11T19:38:17Z</dcterms:created>
  <dcterms:modified xsi:type="dcterms:W3CDTF">2026-07-11T19:38:17Z</dcterms:modified>
</cp:coreProperties>
</file>