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the course in one line: you all have access to ChatGPT Enterprise and Claude — this 20-minute course is the bridge between having access and using AI well on real BJ's work. Say explicitly: this course is NOT about prompt wording. Prompt Engineering Essentials follows it. Today is about the thinking that happens before and after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 they are the contract for the next 20 minutes. Point out that objective 4 is the real one: the first three are steps, the fourth is the habit. The closing slide maps back to these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whole course lives on this slide: AI value comes from rethinking the work, not from clever wording. Introduce Maria — club manager, renewals proposal. One deliberate choice: a club-level example, so club teams see themselves in it; the loop applies identically to HQ analyst work. If asked why renewals: it's real, it's cross-functional, and everyone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raises the question on purpose and refuses to answer it yet. Ask who has typed something like the left side and been underwhelmed (most hands). Then point at the right side and say the quiet part out loud: 'Right now this looks like magic. Good — hold that. By the end of this course you'll watch her do it step by step, and you'll see there's no trick, just three habits.' Do NOT explain how here; the whole course is the answer, and the full worked example lands on the put-it-together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everything that follows is one of these three steps, and it genuinely loops: point at the return arrow and say a failed check isn't the end, it's a trip back to the conversation with what you now know. Note the small gate under 'your task' — before HOW comes WHETHER, and that's the very next slide. Say the subtitle out loud; it's the one sentence to remember if they remember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the start of Step 1: before HOW comes WHETHER. Three tests, ten seconds. Say the Maria line out loud — her proposal clears all three fast, and that's the point: for most everyday tasks the gate is a formality; the three examples on the cards are the tasks where it isn't. This aligns with the Delegation idea in Anthropic's AI Fluency framework — deciding whether, when, and how to engage AI — but keep the framework name in your pocket unless asked; the provenance appendix covers it. On the data test: point people to BJ's data guidance on the AI Hub rather than reciting rules from memory. Important nuance: a yes usually means AI can still help you think, but the task and the decision stay visibly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thirty seconds, before the tool is even open. Emphasize question 3: context is the single biggest driver of output quality, and it's the part only the human has. Emphasize question 5: deciding up front which parts need your judgment is what prevents quietly outsourcing the whole task. These questions work on any task — a report, a schedule, a member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rows slowly — this is the quiet hero of the course. Nothing has been typed into any AI tool yet, and the task is already ten times better. Left column is the procedure anyone can copy: answer the five questions, then rewrite the ask in one sentence. Portability line for the room: this works on anything — budgets, schedules, planogram questions,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roles, grouped in three families so they're holdable: see, shape, test. Don't ask the room to memorize seven — ask them to remember the three families and that a menu exists. The teaching point is the bottom line: ‘write it for me’ is one role out of seven, and it's the default people reach for even when the task calls for another. The next two slides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most of the room does today — and note it FEELS productive because the output looks polished. That polish is the trap: it's generic and it isn't hers. On the right, Maria picks the generate-options role and feeds it her actual context, so the options are about HER club. She chooses three. Don't cover the pushback here — that's the next slide's move, and the parenthetical on the note line tees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course changes one behavior, make it this one. Ask the room: when did you last ask AI to disagree with you? (Almost never.) The agreeable default is a property of how these tools are built — not a flaw you can prompt away, but one you can counter by explicitly requesting opposition. If someone sharp notes that Maria already mentioned her weekend staffing as context: exactly right — the AI didn't discover the staffing, it connected her stated constraint to the option she liked most. That connection is what pressure-testing produces, and it's the kind of collision that's obvious in hindsight and invisible in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story gap between choosing options and 'Maria's draft' appearing on the next slides. Two rows: she acts on the pushback, then asks AI to write. The teaching point is timing, not prohibition: 'write it for me' isn't a bad move — it's a bad OPENING move. After the thinking, drafting is exactly what AI is for, because the draft is assembled from her thinking, not instead of it. The second row's result deliberately reads 'clean, confident, and finished' — say 'hold that thought' out loud here; it hands off to the confidence trap two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before anything ships. Check 4 is the one nobody knows: you can literally ask the tool what it assumed, and it will tell you — one of the highest-value questions in all of AI use. Check 5 is the accountability line: AI never owns an outcome at BJ's; a person does. This connects to the responsible-use guidance on the AI Hub — same principle, applied at the moment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v1.1 and evidence-backed: Lee et al., 2025, Microsoft Research and Carnegie Mellon, 'The Impact of Generative AI on Critical Thinking' — a survey of 319 knowledge workers with 936 real examples. Higher confidence in GenAI predicted less critical thinking; higher self-confidence predicted more. Say the reframe explicitly: this course's biggest beneficiaries are the room's HEAVIEST AI users, not its skeptics. Full citation is in the appendix. If someone asks whether AI makes you worse at thinking: the honest answer is that unscrutinized use is associated with less critical thinking — which is scrutiny's case, not abstinence's.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and the left column is the procedure: run the accuracy check, ask the AI what it assumed, loop back with what you learned. Two catches, deliberately different in kind: a factual/policy error (the discount) and a hidden assumption (auto-renewal) that silently reshaped the answer. Key line to say aloud: no prompt, however well written, would have caught these — so the next course won't fix them either; only the human check does. Point from the third row to the return arrow on the loop map: this is that arrow, happening. The closing band is the course's ethical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promise made on the problem slide — say so explicitly: 'Remember the slide that looked like magic? This is her doing it, step by step. No trick.' Assemble the whole running example end to end. The loop must feel lighter than the work it saves. If running live with time to spare, this is the slide to pause on and take a volunteer's real task through the three steps verbally. If asked what her three actions were: they are deliberately not on the slide — they came from her club's context and would not transfer to another club. The method transfers; the answers are local. That is the point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card back to the objectives slide explicitly — the loop is closed. Screenshot moment: tell the room this slide plus the loop slide are the two to keep. Both live on the AI Hub with the self-read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slide to keep: the gate, the five questions, the seven roles, the five checks. State the memory contract explicitly: participants are expected to memorize the three steps only; this card carries the rest and lives on the AI Hub beside the self-read deck. Suggest a screenshot or a saved copy at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assignment, deliberately small: one task, one loop, this week. The write-it-down moment is live practice — give the room 90 seconds of actual silence to write; a task named on paper is far more likely to get the rep than a good intention. If self-read, the instruction works as-is. Trail the next course: this one taught judgment (where AI fits); Prompt Engineering Essentials teaches execution (how to phrase it). Close with pointers: the AI Hub for the self-read deck and the loop card; your AI Champion for help picking a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 skip live. The single page behind it exists for credibility: it shows the course's structure and key claims trace to published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provenance page — skip live unless someone challenges the course's grounding, in which case this is your answer: the structure maps to Anthropic's published framework and the key claim is peer-reviewed research, with links learners can check themselves. The AI Fluency course is also the recommended deeper path for AI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BJ'S AI ENABLEMENT · CORE COURSE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Thinking with AI</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A method for deciding where and how AI fits into daily work — before any prompt is written. For ChatGPT and Claude, on real BJ's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Determine whether and how AI fits a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Three screening tests, followed by five questions that clarify the task.</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Select the role AI should play</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Seven roles, and why the selection matters more than the wording.</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Evaluate AI output before acting on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Five checks to complete before any output is used.</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Apply the full loop to real work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Think → Partner → Decide, in about two minutes.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OBJECTIVES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COURSE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value does not come from better prompt wording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Access to ChatGPT and Claude is not the same as the ability to use them on real BJ's work.</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value comes from rethinking the work itself: clarifying the outcome, deciding what AI should help with, and applying human judgment before anything is shipped.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supports this. In a large study of AI users at work, higher trust in the AI was associated with less critical evaluation of its output. This course addresses that gap; prompt wording is covered in the next course in the series.</a:t>
            </a:r>
            <a:endParaRPr lang="en-US" sz="1650" dirty="0"/>
          </a:p>
        </p:txBody>
      </p:sp>
      <p:sp>
        <p:nvSpPr>
          <p:cNvPr id="7" name="Shape 4"/>
          <p:cNvSpPr/>
          <p:nvPr/>
        </p:nvSpPr>
        <p:spPr>
          <a:xfrm>
            <a:off x="7269480" y="2103120"/>
            <a:ext cx="4251960" cy="3200400"/>
          </a:xfrm>
          <a:prstGeom prst="roundRect">
            <a:avLst>
              <a:gd name="adj" fmla="val 2571"/>
            </a:avLst>
          </a:prstGeom>
          <a:solidFill>
            <a:srgbClr val="FCE4EA"/>
          </a:solidFill>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Maria manages a BJ's club. Her regional manager has asked her to propose how the club can improve membership renewals.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This single task is followed through the entire course.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PROBLEM — AND THE DESTINATION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Two people, same tool, same task — different results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WITHOUT PREPARATION</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“Give me ideas to improve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Five generic suggestions any retailer could receive: better service, reminder emails, loyalty rewards.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Nothing specific to her club, her members, or what has already been tried.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THE SAME PERSON, WITH PREPARATION</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The same task — after clarifying the outcome, selecting AI's role, and checking the output.</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Three specific actions for her club's next 90 days, with the weaknesses identified in advance.</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The method behind this result is the subject of this course: three steps, shown start to finish.</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PROBLEM</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HABIT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AI Thinking Loop</a:t>
            </a:r>
            <a:endParaRPr lang="en-US" sz="3000" dirty="0"/>
          </a:p>
        </p:txBody>
      </p:sp>
      <p:sp>
        <p:nvSpPr>
          <p:cNvPr id="6" name="Shape 3"/>
          <p:cNvSpPr/>
          <p:nvPr/>
        </p:nvSpPr>
        <p:spPr>
          <a:xfrm>
            <a:off x="640080" y="2743200"/>
            <a:ext cx="1737360" cy="1371600"/>
          </a:xfrm>
          <a:prstGeom prst="roundRect">
            <a:avLst>
              <a:gd name="adj" fmla="val 6000"/>
            </a:avLst>
          </a:prstGeom>
          <a:solidFill>
            <a:srgbClr val="F5F6F8"/>
          </a:solidFill>
          <a:ln w="12700">
            <a:solidFill>
              <a:srgbClr val="E7E9EE"/>
            </a:solidFill>
            <a:prstDash val="solid"/>
          </a:ln>
        </p:spPr>
      </p:sp>
      <p:sp>
        <p:nvSpPr>
          <p:cNvPr id="7" name="Text 4"/>
          <p:cNvSpPr/>
          <p:nvPr/>
        </p:nvSpPr>
        <p:spPr>
          <a:xfrm>
            <a:off x="640080" y="2743200"/>
            <a:ext cx="1737360" cy="1371600"/>
          </a:xfrm>
          <a:prstGeom prst="rect">
            <a:avLst/>
          </a:prstGeom>
          <a:noFill/>
          <a:ln/>
        </p:spPr>
        <p:txBody>
          <a:bodyPr wrap="square" lIns="0" tIns="0" rIns="0" bIns="0" rtlCol="0" anchor="ctr"/>
          <a:lstStyle/>
          <a:p>
            <a:pPr algn="ctr" indent="0" marL="0">
              <a:buNone/>
            </a:pPr>
            <a:r>
              <a:rPr lang="en-US" sz="1300" b="1" dirty="0">
                <a:solidFill>
                  <a:srgbClr val="3A4452"/>
                </a:solidFill>
                <a:latin typeface="Arial" pitchFamily="34" charset="0"/>
                <a:ea typeface="Arial" pitchFamily="34" charset="-122"/>
                <a:cs typeface="Arial" pitchFamily="34" charset="-120"/>
              </a:rPr>
              <a:t>THE TASK</a:t>
            </a:r>
            <a:endParaRPr lang="en-US" sz="1300" dirty="0"/>
          </a:p>
        </p:txBody>
      </p:sp>
      <p:sp>
        <p:nvSpPr>
          <p:cNvPr id="8" name="Shape 5"/>
          <p:cNvSpPr/>
          <p:nvPr/>
        </p:nvSpPr>
        <p:spPr>
          <a:xfrm>
            <a:off x="10058400" y="2743200"/>
            <a:ext cx="1508760" cy="1371600"/>
          </a:xfrm>
          <a:prstGeom prst="roundRect">
            <a:avLst>
              <a:gd name="adj" fmla="val 6000"/>
            </a:avLst>
          </a:prstGeom>
          <a:solidFill>
            <a:srgbClr val="DCFCE7"/>
          </a:solidFill>
          <a:ln/>
        </p:spPr>
      </p:sp>
      <p:sp>
        <p:nvSpPr>
          <p:cNvPr id="9" name="Text 6"/>
          <p:cNvSpPr/>
          <p:nvPr/>
        </p:nvSpPr>
        <p:spPr>
          <a:xfrm>
            <a:off x="10058400" y="2743200"/>
            <a:ext cx="1508760" cy="1371600"/>
          </a:xfrm>
          <a:prstGeom prst="rect">
            <a:avLst/>
          </a:prstGeom>
          <a:noFill/>
          <a:ln/>
        </p:spPr>
        <p:txBody>
          <a:bodyPr wrap="square" lIns="0" tIns="0" rIns="0" bIns="0" rtlCol="0" anchor="ctr"/>
          <a:lstStyle/>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BETTER</a:t>
            </a:r>
            <a:endParaRPr lang="en-US" sz="1250" dirty="0"/>
          </a:p>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OUTCOME</a:t>
            </a:r>
            <a:endParaRPr lang="en-US" sz="1250" dirty="0"/>
          </a:p>
        </p:txBody>
      </p:sp>
      <p:sp>
        <p:nvSpPr>
          <p:cNvPr id="10" name="Shape 7"/>
          <p:cNvSpPr/>
          <p:nvPr/>
        </p:nvSpPr>
        <p:spPr>
          <a:xfrm>
            <a:off x="278892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1" name="Text 8"/>
          <p:cNvSpPr/>
          <p:nvPr/>
        </p:nvSpPr>
        <p:spPr>
          <a:xfrm>
            <a:off x="278892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1. THINK</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Clarify</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the task</a:t>
            </a:r>
            <a:endParaRPr lang="en-US" sz="1600" dirty="0"/>
          </a:p>
        </p:txBody>
      </p:sp>
      <p:sp>
        <p:nvSpPr>
          <p:cNvPr id="12" name="Shape 9"/>
          <p:cNvSpPr/>
          <p:nvPr/>
        </p:nvSpPr>
        <p:spPr>
          <a:xfrm>
            <a:off x="534924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3" name="Text 10"/>
          <p:cNvSpPr/>
          <p:nvPr/>
        </p:nvSpPr>
        <p:spPr>
          <a:xfrm>
            <a:off x="534924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2. PARTNER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Select</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AI's role</a:t>
            </a:r>
            <a:endParaRPr lang="en-US" sz="1600" dirty="0"/>
          </a:p>
        </p:txBody>
      </p:sp>
      <p:sp>
        <p:nvSpPr>
          <p:cNvPr id="14" name="Shape 11"/>
          <p:cNvSpPr/>
          <p:nvPr/>
        </p:nvSpPr>
        <p:spPr>
          <a:xfrm>
            <a:off x="790956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5" name="Text 12"/>
          <p:cNvSpPr/>
          <p:nvPr/>
        </p:nvSpPr>
        <p:spPr>
          <a:xfrm>
            <a:off x="790956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3. DECIDE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Apply human</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judgment</a:t>
            </a:r>
            <a:endParaRPr lang="en-US" sz="1600" dirty="0"/>
          </a:p>
        </p:txBody>
      </p:sp>
      <p:sp>
        <p:nvSpPr>
          <p:cNvPr id="16" name="Shape 13"/>
          <p:cNvSpPr/>
          <p:nvPr/>
        </p:nvSpPr>
        <p:spPr>
          <a:xfrm>
            <a:off x="2395728" y="3429000"/>
            <a:ext cx="374904" cy="0"/>
          </a:xfrm>
          <a:prstGeom prst="line">
            <a:avLst/>
          </a:prstGeom>
          <a:noFill/>
          <a:ln w="28575">
            <a:solidFill>
              <a:srgbClr val="3A4452"/>
            </a:solidFill>
            <a:prstDash val="solid"/>
            <a:tailEnd type="triangle"/>
          </a:ln>
        </p:spPr>
      </p:sp>
      <p:sp>
        <p:nvSpPr>
          <p:cNvPr id="17" name="Shape 14"/>
          <p:cNvSpPr/>
          <p:nvPr/>
        </p:nvSpPr>
        <p:spPr>
          <a:xfrm>
            <a:off x="4873752" y="3429000"/>
            <a:ext cx="457200" cy="0"/>
          </a:xfrm>
          <a:prstGeom prst="line">
            <a:avLst/>
          </a:prstGeom>
          <a:noFill/>
          <a:ln w="28575">
            <a:solidFill>
              <a:srgbClr val="3A4452"/>
            </a:solidFill>
            <a:prstDash val="solid"/>
            <a:tailEnd type="triangle"/>
          </a:ln>
        </p:spPr>
      </p:sp>
      <p:sp>
        <p:nvSpPr>
          <p:cNvPr id="18" name="Shape 15"/>
          <p:cNvSpPr/>
          <p:nvPr/>
        </p:nvSpPr>
        <p:spPr>
          <a:xfrm>
            <a:off x="7434072" y="3429000"/>
            <a:ext cx="457200" cy="0"/>
          </a:xfrm>
          <a:prstGeom prst="line">
            <a:avLst/>
          </a:prstGeom>
          <a:noFill/>
          <a:ln w="28575">
            <a:solidFill>
              <a:srgbClr val="3A4452"/>
            </a:solidFill>
            <a:prstDash val="solid"/>
            <a:tailEnd type="triangle"/>
          </a:ln>
        </p:spPr>
      </p:sp>
      <p:sp>
        <p:nvSpPr>
          <p:cNvPr id="19" name="Shape 16"/>
          <p:cNvSpPr/>
          <p:nvPr/>
        </p:nvSpPr>
        <p:spPr>
          <a:xfrm>
            <a:off x="9994392" y="3429000"/>
            <a:ext cx="347472" cy="0"/>
          </a:xfrm>
          <a:prstGeom prst="line">
            <a:avLst/>
          </a:prstGeom>
          <a:noFill/>
          <a:ln w="28575">
            <a:solidFill>
              <a:srgbClr val="3A4452"/>
            </a:solidFill>
            <a:prstDash val="solid"/>
            <a:tailEnd type="triangle"/>
          </a:ln>
        </p:spPr>
      </p:sp>
      <p:sp>
        <p:nvSpPr>
          <p:cNvPr id="20" name="Text 17"/>
          <p:cNvSpPr/>
          <p:nvPr/>
        </p:nvSpPr>
        <p:spPr>
          <a:xfrm>
            <a:off x="365760" y="4224528"/>
            <a:ext cx="2286000" cy="548640"/>
          </a:xfrm>
          <a:prstGeom prst="rect">
            <a:avLst/>
          </a:prstGeom>
          <a:noFill/>
          <a:ln/>
        </p:spPr>
        <p:txBody>
          <a:bodyPr wrap="square" lIns="0" tIns="0" rIns="0" bIns="0" rtlCol="0" anchor="ctr"/>
          <a:lstStyle/>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Step 1 begins here:</a:t>
            </a:r>
            <a:endParaRPr lang="en-US" sz="1050" dirty="0"/>
          </a:p>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should AI be used at all?</a:t>
            </a:r>
            <a:endParaRPr lang="en-US" sz="1050" dirty="0"/>
          </a:p>
        </p:txBody>
      </p:sp>
      <p:sp>
        <p:nvSpPr>
          <p:cNvPr id="21" name="Shape 18"/>
          <p:cNvSpPr/>
          <p:nvPr/>
        </p:nvSpPr>
        <p:spPr>
          <a:xfrm>
            <a:off x="8942832" y="4553712"/>
            <a:ext cx="0" cy="329184"/>
          </a:xfrm>
          <a:prstGeom prst="line">
            <a:avLst/>
          </a:prstGeom>
          <a:noFill/>
          <a:ln w="22225">
            <a:solidFill>
              <a:srgbClr val="5E6A78"/>
            </a:solidFill>
            <a:prstDash val="solid"/>
          </a:ln>
        </p:spPr>
      </p:sp>
      <p:sp>
        <p:nvSpPr>
          <p:cNvPr id="22" name="Shape 19"/>
          <p:cNvSpPr/>
          <p:nvPr/>
        </p:nvSpPr>
        <p:spPr>
          <a:xfrm>
            <a:off x="6382512" y="4882896"/>
            <a:ext cx="2560320" cy="0"/>
          </a:xfrm>
          <a:prstGeom prst="line">
            <a:avLst/>
          </a:prstGeom>
          <a:noFill/>
          <a:ln w="22225">
            <a:solidFill>
              <a:srgbClr val="5E6A78"/>
            </a:solidFill>
            <a:prstDash val="solid"/>
          </a:ln>
        </p:spPr>
      </p:sp>
      <p:sp>
        <p:nvSpPr>
          <p:cNvPr id="23" name="Shape 20"/>
          <p:cNvSpPr/>
          <p:nvPr/>
        </p:nvSpPr>
        <p:spPr>
          <a:xfrm>
            <a:off x="6382512" y="4553712"/>
            <a:ext cx="0" cy="329184"/>
          </a:xfrm>
          <a:prstGeom prst="line">
            <a:avLst/>
          </a:prstGeom>
          <a:noFill/>
          <a:ln w="22225">
            <a:solidFill>
              <a:srgbClr val="5E6A78"/>
            </a:solidFill>
            <a:prstDash val="solid"/>
            <a:headEnd type="triangle"/>
          </a:ln>
        </p:spPr>
      </p:sp>
      <p:sp>
        <p:nvSpPr>
          <p:cNvPr id="24" name="Text 21"/>
          <p:cNvSpPr/>
          <p:nvPr/>
        </p:nvSpPr>
        <p:spPr>
          <a:xfrm>
            <a:off x="6035040" y="4956048"/>
            <a:ext cx="3246120" cy="27432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a failed check returns to the conversation</a:t>
            </a:r>
            <a:endParaRPr lang="en-US" sz="1050" dirty="0"/>
          </a:p>
        </p:txBody>
      </p:sp>
      <p:sp>
        <p:nvSpPr>
          <p:cNvPr id="25" name="Text 22"/>
          <p:cNvSpPr/>
          <p:nvPr/>
        </p:nvSpPr>
        <p:spPr>
          <a:xfrm>
            <a:off x="640080" y="5440680"/>
            <a:ext cx="10881360" cy="384048"/>
          </a:xfrm>
          <a:prstGeom prst="rect">
            <a:avLst/>
          </a:prstGeom>
          <a:noFill/>
          <a:ln/>
        </p:spPr>
        <p:txBody>
          <a:bodyPr wrap="square" lIns="0" tIns="0" rIns="0" bIns="0" rtlCol="0" anchor="ctr"/>
          <a:lstStyle/>
          <a:p>
            <a:pPr algn="ctr" indent="0" marL="0">
              <a:buNone/>
            </a:pPr>
            <a:r>
              <a:rPr lang="en-US" sz="1500" i="1" dirty="0">
                <a:solidFill>
                  <a:srgbClr val="5E6A78"/>
                </a:solidFill>
                <a:latin typeface="Arial" pitchFamily="34" charset="0"/>
                <a:ea typeface="Arial" pitchFamily="34" charset="-122"/>
                <a:cs typeface="Arial" pitchFamily="34" charset="-120"/>
              </a:rPr>
              <a:t>Prompting begins after the task, AI's role, and the human's responsibility are understood.</a:t>
            </a:r>
            <a:endParaRPr lang="en-US" sz="1500" dirty="0"/>
          </a:p>
        </p:txBody>
      </p:sp>
      <p:sp>
        <p:nvSpPr>
          <p:cNvPr id="26" name="Text 23"/>
          <p:cNvSpPr/>
          <p:nvPr/>
        </p:nvSpPr>
        <p:spPr>
          <a:xfrm>
            <a:off x="640080" y="5852160"/>
            <a:ext cx="10881360" cy="274320"/>
          </a:xfrm>
          <a:prstGeom prst="rect">
            <a:avLst/>
          </a:prstGeom>
          <a:noFill/>
          <a:ln/>
        </p:spPr>
        <p:txBody>
          <a:bodyPr wrap="square" lIns="0" tIns="0" rIns="0" bIns="0" rtlCol="0" anchor="ctr"/>
          <a:lstStyle/>
          <a:p>
            <a:pPr algn="ctr" indent="0" marL="0">
              <a:buNone/>
            </a:pPr>
            <a:r>
              <a:rPr lang="en-US" sz="1150" dirty="0">
                <a:solidFill>
                  <a:srgbClr val="8A93A0"/>
                </a:solidFill>
                <a:latin typeface="Arial" pitchFamily="34" charset="0"/>
                <a:ea typeface="Arial" pitchFamily="34" charset="-122"/>
                <a:cs typeface="Arial" pitchFamily="34" charset="-120"/>
              </a:rPr>
              <a:t>Memorize the three steps. The supporting lists are provided on the reference card at the end of this course.</a:t>
            </a:r>
            <a:endParaRPr lang="en-US" sz="1150" dirty="0"/>
          </a:p>
        </p:txBody>
      </p:sp>
      <p:sp>
        <p:nvSpPr>
          <p:cNvPr id="27" name="Text 2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LOOP</a:t>
            </a:r>
            <a:endParaRPr lang="en-US" sz="850" dirty="0"/>
          </a:p>
        </p:txBody>
      </p:sp>
      <p:sp>
        <p:nvSpPr>
          <p:cNvPr id="28" name="Text 2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 — FIRST, WHETHER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Should AI be used for this task at all?</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the task high-stakes and difficult to reverse?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Terminations, member disputes, and safety decisions remain human decisions.</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human judgment the deliverable?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When the reasoning and accountability are the deliverable, AI can inform the work but not perform it.</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the data governed by policy?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Member, payroll, and confidential data are subject to BJ's data guidance. Confirm before sharing.</a:t>
            </a:r>
            <a:endParaRPr lang="en-US" sz="1550" dirty="0"/>
          </a:p>
        </p:txBody>
      </p:sp>
      <p:sp>
        <p:nvSpPr>
          <p:cNvPr id="18" name="Text 1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19"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0" name="Text 14"/>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450" i="1" dirty="0">
                <a:solidFill>
                  <a:srgbClr val="3A4452"/>
                </a:solidFill>
                <a:latin typeface="Arial" pitchFamily="34" charset="0"/>
                <a:ea typeface="Arial" pitchFamily="34" charset="-122"/>
                <a:cs typeface="Arial" pitchFamily="34" charset="-120"/>
              </a:rPr>
              <a:t>Maria's proposal clears all three tests in seconds. When a test applies, the task remains with the person. For all other tasks, apply the loop.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Clarify the task before opening AI</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outcome am I trying to produce?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decision, a proposal, a set of options — name the deliverable.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Who is this for?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regional manager reads differently than a club team.</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context matters?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information only the requester holds: the club, the members, prior attempts.</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does good look like?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Specific, achievable, defensible — defined before starting.</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Which parts need my judgment?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elements that must come from the person, regardless of AI output.</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Thirty seconds of preparation changed the task</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Applied the five questions to the assignment — “Improve membership renewals” — before typing anything.</a:t>
            </a:r>
            <a:endParaRPr lang="en-US" sz="1300" dirty="0"/>
          </a:p>
        </p:txBody>
      </p:sp>
      <p:sp>
        <p:nvSpPr>
          <p:cNvPr id="9" name="Shape 6"/>
          <p:cNvSpPr/>
          <p:nvPr/>
        </p:nvSpPr>
        <p:spPr>
          <a:xfrm>
            <a:off x="5897880" y="2011680"/>
            <a:ext cx="5623560" cy="1600200"/>
          </a:xfrm>
          <a:prstGeom prst="roundRect">
            <a:avLst>
              <a:gd name="adj" fmla="val 5143"/>
            </a:avLst>
          </a:prstGeom>
          <a:solidFill>
            <a:srgbClr val="FCE4EA"/>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PRODUCED</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Outcome: 3 actions, 90 days. For: her regional manager. Context: renewal dip since spring; reminder calls already tried. Hers: the final call.</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Restated the task from the answers: “Propose three actions my club can take in the next 90 days to lift renewals — for my regional manager, using what I know about my members and what we tried last quarter.”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DCFCE7"/>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task AI can work with: specific, scoped, and owned.</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A vague task produces vague answers. </a:t>
            </a:r>
            <a:pPr indent="0" marL="0">
              <a:buNone/>
            </a:pPr>
            <a:r>
              <a:rPr lang="en-US" sz="1350" b="1" dirty="0">
                <a:solidFill>
                  <a:srgbClr val="D31242"/>
                </a:solidFill>
                <a:latin typeface="Arial" pitchFamily="34" charset="0"/>
                <a:ea typeface="Arial" pitchFamily="34" charset="-122"/>
                <a:cs typeface="Arial" pitchFamily="34" charset="-120"/>
              </a:rPr>
              <a:t>A clear task improves everything downstream — no advanced prompt wording required.</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PARTNER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Select the role AI should play</a:t>
            </a:r>
            <a:endParaRPr lang="en-US" sz="3000" dirty="0"/>
          </a:p>
        </p:txBody>
      </p:sp>
      <p:sp>
        <p:nvSpPr>
          <p:cNvPr id="6" name="Shape 3"/>
          <p:cNvSpPr/>
          <p:nvPr/>
        </p:nvSpPr>
        <p:spPr>
          <a:xfrm>
            <a:off x="640080" y="1965960"/>
            <a:ext cx="3566160" cy="3520440"/>
          </a:xfrm>
          <a:prstGeom prst="roundRect">
            <a:avLst>
              <a:gd name="adj" fmla="val 2338"/>
            </a:avLst>
          </a:prstGeom>
          <a:solidFill>
            <a:srgbClr val="F5F6F8"/>
          </a:solidFill>
          <a:ln w="12700">
            <a:solidFill>
              <a:srgbClr val="E7E9EE"/>
            </a:solidFill>
            <a:prstDash val="solid"/>
          </a:ln>
        </p:spPr>
      </p:sp>
      <p:sp>
        <p:nvSpPr>
          <p:cNvPr id="7" name="Text 4"/>
          <p:cNvSpPr/>
          <p:nvPr/>
        </p:nvSpPr>
        <p:spPr>
          <a:xfrm>
            <a:off x="91440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SEE</a:t>
            </a:r>
            <a:endParaRPr lang="en-US" sz="1250" dirty="0"/>
          </a:p>
        </p:txBody>
      </p:sp>
      <p:sp>
        <p:nvSpPr>
          <p:cNvPr id="8" name="Text 5"/>
          <p:cNvSpPr/>
          <p:nvPr/>
        </p:nvSpPr>
        <p:spPr>
          <a:xfrm>
            <a:off x="91440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Organize information</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Convert scattered notes into structure.</a:t>
            </a:r>
            <a:endParaRPr lang="en-US" sz="1400" dirty="0"/>
          </a:p>
        </p:txBody>
      </p:sp>
      <p:sp>
        <p:nvSpPr>
          <p:cNvPr id="9" name="Text 6"/>
          <p:cNvSpPr/>
          <p:nvPr/>
        </p:nvSpPr>
        <p:spPr>
          <a:xfrm>
            <a:off x="91440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Analyze patterns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Identify changes and outliers.</a:t>
            </a:r>
            <a:endParaRPr lang="en-US" sz="1400" dirty="0"/>
          </a:p>
        </p:txBody>
      </p:sp>
      <p:sp>
        <p:nvSpPr>
          <p:cNvPr id="10" name="Shape 7"/>
          <p:cNvSpPr/>
          <p:nvPr/>
        </p:nvSpPr>
        <p:spPr>
          <a:xfrm>
            <a:off x="4389120" y="1965960"/>
            <a:ext cx="3566160" cy="3520440"/>
          </a:xfrm>
          <a:prstGeom prst="roundRect">
            <a:avLst>
              <a:gd name="adj" fmla="val 2338"/>
            </a:avLst>
          </a:prstGeom>
          <a:solidFill>
            <a:srgbClr val="F5F6F8"/>
          </a:solidFill>
          <a:ln w="12700">
            <a:solidFill>
              <a:srgbClr val="E7E9EE"/>
            </a:solidFill>
            <a:prstDash val="solid"/>
          </a:ln>
        </p:spPr>
      </p:sp>
      <p:sp>
        <p:nvSpPr>
          <p:cNvPr id="11" name="Text 8"/>
          <p:cNvSpPr/>
          <p:nvPr/>
        </p:nvSpPr>
        <p:spPr>
          <a:xfrm>
            <a:off x="466344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SHAPE</a:t>
            </a:r>
            <a:endParaRPr lang="en-US" sz="1250" dirty="0"/>
          </a:p>
        </p:txBody>
      </p:sp>
      <p:sp>
        <p:nvSpPr>
          <p:cNvPr id="12" name="Text 9"/>
          <p:cNvSpPr/>
          <p:nvPr/>
        </p:nvSpPr>
        <p:spPr>
          <a:xfrm>
            <a:off x="466344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Clarify the problem</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“Ask me questions before you answer.”</a:t>
            </a:r>
            <a:endParaRPr lang="en-US" sz="1400" dirty="0"/>
          </a:p>
        </p:txBody>
      </p:sp>
      <p:sp>
        <p:nvSpPr>
          <p:cNvPr id="13" name="Text 10"/>
          <p:cNvSpPr/>
          <p:nvPr/>
        </p:nvSpPr>
        <p:spPr>
          <a:xfrm>
            <a:off x="466344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Generate options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Multiple options before a single draft.</a:t>
            </a:r>
            <a:endParaRPr lang="en-US" sz="1400" dirty="0"/>
          </a:p>
        </p:txBody>
      </p:sp>
      <p:sp>
        <p:nvSpPr>
          <p:cNvPr id="14" name="Text 11"/>
          <p:cNvSpPr/>
          <p:nvPr/>
        </p:nvSpPr>
        <p:spPr>
          <a:xfrm>
            <a:off x="4663440" y="4517136"/>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Improve a draft</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Refine existing writing while preserving ownership.</a:t>
            </a:r>
            <a:endParaRPr lang="en-US" sz="1400" dirty="0"/>
          </a:p>
        </p:txBody>
      </p:sp>
      <p:sp>
        <p:nvSpPr>
          <p:cNvPr id="15" name="Shape 12"/>
          <p:cNvSpPr/>
          <p:nvPr/>
        </p:nvSpPr>
        <p:spPr>
          <a:xfrm>
            <a:off x="8138160" y="1965960"/>
            <a:ext cx="3566160" cy="3520440"/>
          </a:xfrm>
          <a:prstGeom prst="roundRect">
            <a:avLst>
              <a:gd name="adj" fmla="val 2338"/>
            </a:avLst>
          </a:prstGeom>
          <a:solidFill>
            <a:srgbClr val="F5F6F8"/>
          </a:solidFill>
          <a:ln w="12700">
            <a:solidFill>
              <a:srgbClr val="E7E9EE"/>
            </a:solidFill>
            <a:prstDash val="solid"/>
          </a:ln>
        </p:spPr>
      </p:sp>
      <p:sp>
        <p:nvSpPr>
          <p:cNvPr id="16" name="Text 13"/>
          <p:cNvSpPr/>
          <p:nvPr/>
        </p:nvSpPr>
        <p:spPr>
          <a:xfrm>
            <a:off x="841248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TEST</a:t>
            </a:r>
            <a:endParaRPr lang="en-US" sz="1250" dirty="0"/>
          </a:p>
        </p:txBody>
      </p:sp>
      <p:sp>
        <p:nvSpPr>
          <p:cNvPr id="17" name="Text 14"/>
          <p:cNvSpPr/>
          <p:nvPr/>
        </p:nvSpPr>
        <p:spPr>
          <a:xfrm>
            <a:off x="841248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Challenge assumptions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“Where does this plan fall apart?”</a:t>
            </a:r>
            <a:endParaRPr lang="en-US" sz="1400" dirty="0"/>
          </a:p>
        </p:txBody>
      </p:sp>
      <p:sp>
        <p:nvSpPr>
          <p:cNvPr id="18" name="Text 15"/>
          <p:cNvSpPr/>
          <p:nvPr/>
        </p:nvSpPr>
        <p:spPr>
          <a:xfrm>
            <a:off x="841248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Simulate a stakeholder</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“Read this as my regional manager.”</a:t>
            </a:r>
            <a:endParaRPr lang="en-US" sz="1400" dirty="0"/>
          </a:p>
        </p:txBody>
      </p:sp>
      <p:sp>
        <p:nvSpPr>
          <p:cNvPr id="19" name="Text 16"/>
          <p:cNvSpPr/>
          <p:nvPr/>
        </p:nvSpPr>
        <p:spPr>
          <a:xfrm>
            <a:off x="640080" y="5715000"/>
            <a:ext cx="10881360" cy="502920"/>
          </a:xfrm>
          <a:prstGeom prst="rect">
            <a:avLst/>
          </a:prstGeom>
          <a:noFill/>
          <a:ln/>
        </p:spPr>
        <p:txBody>
          <a:bodyPr wrap="square" lIns="0" tIns="0" rIns="0" bIns="0" rtlCol="0" anchor="t"/>
          <a:lstStyle/>
          <a:p>
            <a:pPr algn="ctr" indent="0" marL="0">
              <a:buNone/>
            </a:pPr>
            <a:r>
              <a:rPr lang="en-US" sz="1400" i="1" dirty="0">
                <a:solidFill>
                  <a:srgbClr val="3A4452"/>
                </a:solidFill>
                <a:latin typeface="Arial" pitchFamily="34" charset="0"/>
                <a:ea typeface="Arial" pitchFamily="34" charset="-122"/>
                <a:cs typeface="Arial" pitchFamily="34" charset="-120"/>
              </a:rPr>
              <a:t>Most users default to “write it for me.” The task often requires a different role, and the role selection is the step that matters most.</a:t>
            </a:r>
            <a:endParaRPr lang="en-US" sz="140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task — the role selection made the difference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INCORRECT ROLE: “WRITE IT FOR ME”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“Write a proposal to improve my club's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A polished proposal built on guesses. The AI does not know her club, so it invents.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It reads as finished. It is not hers.</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CORRECT ROLE: GENERATE OPTIONS</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“Here's my situation — the renewal dip, what we've tried, my weekend staffing. Give me eight options for the next 90 days.”</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Options grounded in her club's context. She selected three to develop further.</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AI supported the thinking; the selection remained hers. The pressure test follows.</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THE UNDERUSED ROLES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will not challenge a plan unless asked to</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two most valuable roles are the two used least: challenge assumptions and simulate a stakeholder.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ChatGPT and Claude are designed to be agreeable. Genuine opposition appears only when it is requested — and that request is the point at which a plan is strengthened.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One sentence activates it. Use it before work is sent to anyone whose opinion matters.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MARIA'S MOVE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300" b="1" dirty="0">
                <a:solidFill>
                  <a:srgbClr val="1F2733"/>
                </a:solidFill>
                <a:latin typeface="Arial" pitchFamily="34" charset="0"/>
                <a:ea typeface="Arial" pitchFamily="34" charset="-122"/>
                <a:cs typeface="Arial" pitchFamily="34" charset="-120"/>
              </a:rPr>
              <a:t>Maria typed: </a:t>
            </a:r>
            <a:pPr indent="0" marL="0">
              <a:lnSpc>
                <a:spcPct val="115000"/>
              </a:lnSpc>
              <a:buNone/>
            </a:pPr>
            <a:r>
              <a:rPr lang="en-US" sz="1300" i="1" dirty="0">
                <a:solidFill>
                  <a:srgbClr val="1F2733"/>
                </a:solidFill>
                <a:latin typeface="Arial" pitchFamily="34" charset="0"/>
                <a:ea typeface="Arial" pitchFamily="34" charset="-122"/>
                <a:cs typeface="Arial" pitchFamily="34" charset="-120"/>
              </a:rPr>
              <a:t>“Act as my skeptical regional manager. Where does this plan fall apart?”
</a:t>
            </a:r>
            <a:pPr indent="0" marL="0">
              <a:lnSpc>
                <a:spcPct val="115000"/>
              </a:lnSpc>
              <a:buNone/>
            </a:pPr>
            <a:r>
              <a:rPr lang="en-US" sz="1300" b="1" dirty="0">
                <a:solidFill>
                  <a:srgbClr val="1F2733"/>
                </a:solidFill>
                <a:latin typeface="Arial" pitchFamily="34" charset="0"/>
                <a:ea typeface="Arial" pitchFamily="34" charset="-122"/>
                <a:cs typeface="Arial" pitchFamily="34" charset="-120"/>
              </a:rPr>
              <a:t>The AI replied: </a:t>
            </a:r>
            <a:pPr indent="0" marL="0">
              <a:lnSpc>
                <a:spcPct val="115000"/>
              </a:lnSpc>
              <a:buNone/>
            </a:pPr>
            <a:r>
              <a:rPr lang="en-US" sz="1300" i="1" dirty="0">
                <a:solidFill>
                  <a:srgbClr val="1F2733"/>
                </a:solidFill>
                <a:latin typeface="Arial" pitchFamily="34" charset="0"/>
                <a:ea typeface="Arial" pitchFamily="34" charset="-122"/>
                <a:cs typeface="Arial" pitchFamily="34" charset="-120"/>
              </a:rPr>
              <a:t>“Your strongest option assumes weekend front-desk coverage, which the context you provided says you do not have.”
</a:t>
            </a:r>
            <a:pPr indent="0" marL="0">
              <a:lnSpc>
                <a:spcPct val="115000"/>
              </a:lnSpc>
              <a:buNone/>
            </a:pPr>
            <a:r>
              <a:rPr lang="en-US" sz="1300" b="1" dirty="0">
                <a:solidFill>
                  <a:srgbClr val="D31242"/>
                </a:solidFill>
                <a:latin typeface="Arial" pitchFamily="34" charset="0"/>
                <a:ea typeface="Arial" pitchFamily="34" charset="-122"/>
                <a:cs typeface="Arial" pitchFamily="34" charset="-120"/>
              </a:rPr>
              <a:t>Identified before the meeting, not during it.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 — THE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Only now does she ask AI to write</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Acted on the pushback: replaced the staffing-dependent option with another from her list of eight.</a:t>
            </a:r>
            <a:endParaRPr lang="en-US" sz="1300" dirty="0"/>
          </a:p>
        </p:txBody>
      </p:sp>
      <p:sp>
        <p:nvSpPr>
          <p:cNvPr id="9" name="Shape 6"/>
          <p:cNvSpPr/>
          <p:nvPr/>
        </p:nvSpPr>
        <p:spPr>
          <a:xfrm>
            <a:off x="5897880" y="2011680"/>
            <a:ext cx="5623560" cy="1600200"/>
          </a:xfrm>
          <a:prstGeom prst="roundRect">
            <a:avLst>
              <a:gd name="adj" fmla="val 5143"/>
            </a:avLst>
          </a:prstGeom>
          <a:solidFill>
            <a:srgbClr val="DCFCE7"/>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Three options that fit her club, her members, and her weekend staffing.</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Then asked AI to write: “Turn my three options into a one-page proposal draft for my regional manager.”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FCE4EA"/>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CAME BACK</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draft that reads as polished, confident, and complete.</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“Write it for me” is appropriate once the thinking is complete. </a:t>
            </a:r>
            <a:pPr indent="0" marL="0">
              <a:buNone/>
            </a:pPr>
            <a:r>
              <a:rPr lang="en-US" sz="1350" b="1" dirty="0">
                <a:solidFill>
                  <a:srgbClr val="D31242"/>
                </a:solidFill>
                <a:latin typeface="Arial" pitchFamily="34" charset="0"/>
                <a:ea typeface="Arial" pitchFamily="34" charset="-122"/>
                <a:cs typeface="Arial" pitchFamily="34" charset="-120"/>
              </a:rPr>
              <a:t>The draft is built from her options, her context, and her constraints.</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DECIDE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Judgment before action: check the output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accurate?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Verify names, numbers, and claims. AI states guesses with confidence.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complete?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Identify omissions for which the user remains accountable.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right for BJ's?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BJ's members, tone, and policies — not generic retail.</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did AI assume?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Ask it directly: “What assumptions did you make?”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 I own?</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decision, the figures, and the name on the work remain with the person.</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THE CONFIDENCE TRAP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Higher trust in AI is associated with less checking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from Microsoft and Carnegie Mellon, based on a survey of 319 professionals, found that higher confidence in AI tools is associated with reduced critical evaluation of AI output. Confidence in one's own expertise showed the opposite effect: more scrutiny and better results.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This risk increases with experience. As users complete more successful tasks, they become less likely to review results before acting on them. For this reason, the five checks should be applied to every AI output, regardless of how reliable the output appears.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TRAP IN ONE LINE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As trust in the tool increases, scrutiny decreases.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The checks matter most when they appear least necessary.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Maria's draft, on the next slide, is an example of exactly this moment.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draft appeared ready — the checks showed otherwise</a:t>
            </a:r>
            <a:endParaRPr lang="en-US" sz="3000" dirty="0"/>
          </a:p>
        </p:txBody>
      </p:sp>
      <p:sp>
        <p:nvSpPr>
          <p:cNvPr id="6" name="Shape 3"/>
          <p:cNvSpPr/>
          <p:nvPr/>
        </p:nvSpPr>
        <p:spPr>
          <a:xfrm>
            <a:off x="640080" y="1920240"/>
            <a:ext cx="5074920" cy="1133856"/>
          </a:xfrm>
          <a:prstGeom prst="roundRect">
            <a:avLst>
              <a:gd name="adj" fmla="val 7258"/>
            </a:avLst>
          </a:prstGeom>
          <a:solidFill>
            <a:srgbClr val="F5F6F8"/>
          </a:solidFill>
          <a:ln w="12700">
            <a:solidFill>
              <a:srgbClr val="E7E9EE"/>
            </a:solidFill>
            <a:prstDash val="solid"/>
          </a:ln>
        </p:spPr>
      </p:sp>
      <p:sp>
        <p:nvSpPr>
          <p:cNvPr id="7" name="Text 4"/>
          <p:cNvSpPr/>
          <p:nvPr/>
        </p:nvSpPr>
        <p:spPr>
          <a:xfrm>
            <a:off x="914400" y="202996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286000"/>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Ran the accuracy check against what a club can decide.</a:t>
            </a:r>
            <a:endParaRPr lang="en-US" sz="1300" dirty="0"/>
          </a:p>
        </p:txBody>
      </p:sp>
      <p:sp>
        <p:nvSpPr>
          <p:cNvPr id="9" name="Shape 6"/>
          <p:cNvSpPr/>
          <p:nvPr/>
        </p:nvSpPr>
        <p:spPr>
          <a:xfrm>
            <a:off x="5897880" y="1920240"/>
            <a:ext cx="5623560" cy="1133856"/>
          </a:xfrm>
          <a:prstGeom prst="roundRect">
            <a:avLst>
              <a:gd name="adj" fmla="val 7258"/>
            </a:avLst>
          </a:prstGeom>
          <a:solidFill>
            <a:srgbClr val="FCE4EA"/>
          </a:solidFill>
          <a:ln/>
        </p:spPr>
      </p:sp>
      <p:sp>
        <p:nvSpPr>
          <p:cNvPr id="10" name="Text 7"/>
          <p:cNvSpPr/>
          <p:nvPr/>
        </p:nvSpPr>
        <p:spPr>
          <a:xfrm>
            <a:off x="6172200" y="202996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1" name="Text 8"/>
          <p:cNvSpPr/>
          <p:nvPr/>
        </p:nvSpPr>
        <p:spPr>
          <a:xfrm>
            <a:off x="6172200" y="2286000"/>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One option offered a renewal discount. Membership pricing is not a club-level decision — the AI stated a guess as fact.</a:t>
            </a:r>
            <a:endParaRPr lang="en-US" sz="1300" dirty="0"/>
          </a:p>
        </p:txBody>
      </p:sp>
      <p:sp>
        <p:nvSpPr>
          <p:cNvPr id="12" name="Shape 9"/>
          <p:cNvSpPr/>
          <p:nvPr/>
        </p:nvSpPr>
        <p:spPr>
          <a:xfrm>
            <a:off x="640080" y="3182112"/>
            <a:ext cx="5074920" cy="1133856"/>
          </a:xfrm>
          <a:prstGeom prst="roundRect">
            <a:avLst>
              <a:gd name="adj" fmla="val 7258"/>
            </a:avLst>
          </a:prstGeom>
          <a:solidFill>
            <a:srgbClr val="F5F6F8"/>
          </a:solidFill>
          <a:ln w="12700">
            <a:solidFill>
              <a:srgbClr val="E7E9EE"/>
            </a:solidFill>
            <a:prstDash val="solid"/>
          </a:ln>
        </p:spPr>
      </p:sp>
      <p:sp>
        <p:nvSpPr>
          <p:cNvPr id="13" name="Text 10"/>
          <p:cNvSpPr/>
          <p:nvPr/>
        </p:nvSpPr>
        <p:spPr>
          <a:xfrm>
            <a:off x="914400" y="3291840"/>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3547872"/>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Asked the AI directly: “What assumptions did you make?”</a:t>
            </a:r>
            <a:endParaRPr lang="en-US" sz="1300" dirty="0"/>
          </a:p>
        </p:txBody>
      </p:sp>
      <p:sp>
        <p:nvSpPr>
          <p:cNvPr id="15" name="Shape 12"/>
          <p:cNvSpPr/>
          <p:nvPr/>
        </p:nvSpPr>
        <p:spPr>
          <a:xfrm>
            <a:off x="5897880" y="3182112"/>
            <a:ext cx="5623560" cy="1133856"/>
          </a:xfrm>
          <a:prstGeom prst="roundRect">
            <a:avLst>
              <a:gd name="adj" fmla="val 7258"/>
            </a:avLst>
          </a:prstGeom>
          <a:solidFill>
            <a:srgbClr val="FCE4EA"/>
          </a:solidFill>
          <a:ln/>
        </p:spPr>
      </p:sp>
      <p:sp>
        <p:nvSpPr>
          <p:cNvPr id="16" name="Text 13"/>
          <p:cNvSpPr/>
          <p:nvPr/>
        </p:nvSpPr>
        <p:spPr>
          <a:xfrm>
            <a:off x="6172200" y="3291840"/>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7" name="Text 14"/>
          <p:cNvSpPr/>
          <p:nvPr/>
        </p:nvSpPr>
        <p:spPr>
          <a:xfrm>
            <a:off x="6172200" y="3547872"/>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 AI had assumed most members auto-renew. At her club, most do not — which changes which actions matter.</a:t>
            </a:r>
            <a:endParaRPr lang="en-US" sz="1300" dirty="0"/>
          </a:p>
        </p:txBody>
      </p:sp>
      <p:sp>
        <p:nvSpPr>
          <p:cNvPr id="18" name="Shape 15"/>
          <p:cNvSpPr/>
          <p:nvPr/>
        </p:nvSpPr>
        <p:spPr>
          <a:xfrm>
            <a:off x="640080" y="4443984"/>
            <a:ext cx="5074920" cy="1133856"/>
          </a:xfrm>
          <a:prstGeom prst="roundRect">
            <a:avLst>
              <a:gd name="adj" fmla="val 7258"/>
            </a:avLst>
          </a:prstGeom>
          <a:solidFill>
            <a:srgbClr val="F5F6F8"/>
          </a:solidFill>
          <a:ln w="12700">
            <a:solidFill>
              <a:srgbClr val="E7E9EE"/>
            </a:solidFill>
            <a:prstDash val="solid"/>
          </a:ln>
        </p:spPr>
      </p:sp>
      <p:sp>
        <p:nvSpPr>
          <p:cNvPr id="19" name="Text 16"/>
          <p:cNvSpPr/>
          <p:nvPr/>
        </p:nvSpPr>
        <p:spPr>
          <a:xfrm>
            <a:off x="914400" y="4553712"/>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20" name="Text 17"/>
          <p:cNvSpPr/>
          <p:nvPr/>
        </p:nvSpPr>
        <p:spPr>
          <a:xfrm>
            <a:off x="914400" y="4809744"/>
            <a:ext cx="457200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Looped back: “Drop the discount. Assume most members do not auto-renew. Rework it.”</a:t>
            </a:r>
            <a:endParaRPr lang="en-US" sz="1300" dirty="0"/>
          </a:p>
        </p:txBody>
      </p:sp>
      <p:sp>
        <p:nvSpPr>
          <p:cNvPr id="21" name="Shape 18"/>
          <p:cNvSpPr/>
          <p:nvPr/>
        </p:nvSpPr>
        <p:spPr>
          <a:xfrm>
            <a:off x="5897880" y="4443984"/>
            <a:ext cx="5623560" cy="1133856"/>
          </a:xfrm>
          <a:prstGeom prst="roundRect">
            <a:avLst>
              <a:gd name="adj" fmla="val 7258"/>
            </a:avLst>
          </a:prstGeom>
          <a:solidFill>
            <a:srgbClr val="DCFCE7"/>
          </a:solidFill>
          <a:ln/>
        </p:spPr>
      </p:sp>
      <p:sp>
        <p:nvSpPr>
          <p:cNvPr id="22" name="Text 19"/>
          <p:cNvSpPr/>
          <p:nvPr/>
        </p:nvSpPr>
        <p:spPr>
          <a:xfrm>
            <a:off x="6172200" y="4553712"/>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23" name="Text 20"/>
          <p:cNvSpPr/>
          <p:nvPr/>
        </p:nvSpPr>
        <p:spPr>
          <a:xfrm>
            <a:off x="6172200" y="4809744"/>
            <a:ext cx="5120640" cy="676656"/>
          </a:xfrm>
          <a:prstGeom prst="rect">
            <a:avLst/>
          </a:prstGeom>
          <a:noFill/>
          <a:ln/>
        </p:spPr>
        <p:txBody>
          <a:bodyPr wrap="square" lIns="0" tIns="0" rIns="0" bIns="0" rtlCol="0" anchor="t"/>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 reworked draft passes all five checks.</a:t>
            </a:r>
            <a:endParaRPr lang="en-US" sz="1300" dirty="0"/>
          </a:p>
        </p:txBody>
      </p:sp>
      <p:sp>
        <p:nvSpPr>
          <p:cNvPr id="24" name="Shape 21"/>
          <p:cNvSpPr/>
          <p:nvPr/>
        </p:nvSpPr>
        <p:spPr>
          <a:xfrm>
            <a:off x="640080" y="5760720"/>
            <a:ext cx="10881360" cy="530352"/>
          </a:xfrm>
          <a:prstGeom prst="roundRect">
            <a:avLst>
              <a:gd name="adj" fmla="val 15517"/>
            </a:avLst>
          </a:prstGeom>
          <a:solidFill>
            <a:srgbClr val="F5F6F8"/>
          </a:solidFill>
          <a:ln w="12700">
            <a:solidFill>
              <a:srgbClr val="E7E9EE"/>
            </a:solidFill>
            <a:prstDash val="solid"/>
          </a:ln>
        </p:spPr>
      </p:sp>
      <p:sp>
        <p:nvSpPr>
          <p:cNvPr id="25" name="Text 22"/>
          <p:cNvSpPr/>
          <p:nvPr/>
        </p:nvSpPr>
        <p:spPr>
          <a:xfrm>
            <a:off x="914400" y="5760720"/>
            <a:ext cx="10332720" cy="530352"/>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The output is not complete when AI stops typing; it is complete when it can be defended. </a:t>
            </a:r>
            <a:pPr indent="0" marL="0">
              <a:buNone/>
            </a:pPr>
            <a:r>
              <a:rPr lang="en-US" sz="1350" b="1" dirty="0">
                <a:solidFill>
                  <a:srgbClr val="D31242"/>
                </a:solidFill>
                <a:latin typeface="Arial" pitchFamily="34" charset="0"/>
                <a:ea typeface="Arial" pitchFamily="34" charset="-122"/>
                <a:cs typeface="Arial" pitchFamily="34" charset="-120"/>
              </a:rPr>
              <a:t>Output should not be used unless the user can substantiate it.</a:t>
            </a:r>
            <a:endParaRPr lang="en-US" sz="13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FULL LOOP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full loop on one real task — about two minutes</a:t>
            </a:r>
            <a:endParaRPr lang="en-US" sz="3000" dirty="0"/>
          </a:p>
        </p:txBody>
      </p:sp>
      <p:sp>
        <p:nvSpPr>
          <p:cNvPr id="6" name="Shape 3"/>
          <p:cNvSpPr/>
          <p:nvPr/>
        </p:nvSpPr>
        <p:spPr>
          <a:xfrm>
            <a:off x="640080" y="1965960"/>
            <a:ext cx="10881360" cy="1060704"/>
          </a:xfrm>
          <a:prstGeom prst="roundRect">
            <a:avLst>
              <a:gd name="adj" fmla="val 7759"/>
            </a:avLst>
          </a:prstGeom>
          <a:solidFill>
            <a:srgbClr val="F5F6F8"/>
          </a:solidFill>
          <a:ln w="12700">
            <a:solidFill>
              <a:srgbClr val="E7E9EE"/>
            </a:solidFill>
            <a:prstDash val="solid"/>
          </a:ln>
        </p:spPr>
      </p:sp>
      <p:sp>
        <p:nvSpPr>
          <p:cNvPr id="7" name="Shape 4"/>
          <p:cNvSpPr/>
          <p:nvPr/>
        </p:nvSpPr>
        <p:spPr>
          <a:xfrm>
            <a:off x="896112" y="2240280"/>
            <a:ext cx="512064" cy="512064"/>
          </a:xfrm>
          <a:prstGeom prst="ellipse">
            <a:avLst/>
          </a:prstGeom>
          <a:solidFill>
            <a:srgbClr val="D31242"/>
          </a:solidFill>
          <a:ln/>
        </p:spPr>
      </p:sp>
      <p:sp>
        <p:nvSpPr>
          <p:cNvPr id="8" name="Text 5"/>
          <p:cNvSpPr/>
          <p:nvPr/>
        </p:nvSpPr>
        <p:spPr>
          <a:xfrm>
            <a:off x="896112" y="224028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9" name="Text 6"/>
          <p:cNvSpPr/>
          <p:nvPr/>
        </p:nvSpPr>
        <p:spPr>
          <a:xfrm>
            <a:off x="1645920" y="2093976"/>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1. THINK — 30 seconds</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Outcome: 3 actions, 90 days. For: her regional manager. Context: renewal dip; reminder calls already tried. Hers: the final decision.</a:t>
            </a:r>
            <a:endParaRPr lang="en-US" sz="1450" dirty="0"/>
          </a:p>
        </p:txBody>
      </p:sp>
      <p:sp>
        <p:nvSpPr>
          <p:cNvPr id="10" name="Shape 7"/>
          <p:cNvSpPr/>
          <p:nvPr/>
        </p:nvSpPr>
        <p:spPr>
          <a:xfrm>
            <a:off x="640080" y="3172968"/>
            <a:ext cx="10881360" cy="1060704"/>
          </a:xfrm>
          <a:prstGeom prst="roundRect">
            <a:avLst>
              <a:gd name="adj" fmla="val 7759"/>
            </a:avLst>
          </a:prstGeom>
          <a:solidFill>
            <a:srgbClr val="F5F6F8"/>
          </a:solidFill>
          <a:ln w="12700">
            <a:solidFill>
              <a:srgbClr val="E7E9EE"/>
            </a:solidFill>
            <a:prstDash val="solid"/>
          </a:ln>
        </p:spPr>
      </p:sp>
      <p:sp>
        <p:nvSpPr>
          <p:cNvPr id="11" name="Shape 8"/>
          <p:cNvSpPr/>
          <p:nvPr/>
        </p:nvSpPr>
        <p:spPr>
          <a:xfrm>
            <a:off x="896112" y="3447288"/>
            <a:ext cx="512064" cy="512064"/>
          </a:xfrm>
          <a:prstGeom prst="ellipse">
            <a:avLst/>
          </a:prstGeom>
          <a:solidFill>
            <a:srgbClr val="D31242"/>
          </a:solidFill>
          <a:ln/>
        </p:spPr>
      </p:sp>
      <p:sp>
        <p:nvSpPr>
          <p:cNvPr id="12" name="Text 9"/>
          <p:cNvSpPr/>
          <p:nvPr/>
        </p:nvSpPr>
        <p:spPr>
          <a:xfrm>
            <a:off x="896112" y="3447288"/>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3" name="Text 10"/>
          <p:cNvSpPr/>
          <p:nvPr/>
        </p:nvSpPr>
        <p:spPr>
          <a:xfrm>
            <a:off x="1645920" y="3300984"/>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2. PARTNER — 1 minute</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Generated options (“give me eight”) → pressure-tested with a skeptical regional manager → replaced one option → converted the three into a one-page draft.</a:t>
            </a:r>
            <a:endParaRPr lang="en-US" sz="1450" dirty="0"/>
          </a:p>
        </p:txBody>
      </p:sp>
      <p:sp>
        <p:nvSpPr>
          <p:cNvPr id="14" name="Shape 11"/>
          <p:cNvSpPr/>
          <p:nvPr/>
        </p:nvSpPr>
        <p:spPr>
          <a:xfrm>
            <a:off x="640080" y="4379976"/>
            <a:ext cx="10881360" cy="1060704"/>
          </a:xfrm>
          <a:prstGeom prst="roundRect">
            <a:avLst>
              <a:gd name="adj" fmla="val 7759"/>
            </a:avLst>
          </a:prstGeom>
          <a:solidFill>
            <a:srgbClr val="F5F6F8"/>
          </a:solidFill>
          <a:ln w="12700">
            <a:solidFill>
              <a:srgbClr val="E7E9EE"/>
            </a:solidFill>
            <a:prstDash val="solid"/>
          </a:ln>
        </p:spPr>
      </p:sp>
      <p:sp>
        <p:nvSpPr>
          <p:cNvPr id="15" name="Shape 12"/>
          <p:cNvSpPr/>
          <p:nvPr/>
        </p:nvSpPr>
        <p:spPr>
          <a:xfrm>
            <a:off x="896112" y="4654296"/>
            <a:ext cx="512064" cy="512064"/>
          </a:xfrm>
          <a:prstGeom prst="ellipse">
            <a:avLst/>
          </a:prstGeom>
          <a:solidFill>
            <a:srgbClr val="D31242"/>
          </a:solidFill>
          <a:ln/>
        </p:spPr>
      </p:sp>
      <p:sp>
        <p:nvSpPr>
          <p:cNvPr id="16" name="Text 13"/>
          <p:cNvSpPr/>
          <p:nvPr/>
        </p:nvSpPr>
        <p:spPr>
          <a:xfrm>
            <a:off x="896112" y="4654296"/>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4"/>
          <p:cNvSpPr/>
          <p:nvPr/>
        </p:nvSpPr>
        <p:spPr>
          <a:xfrm>
            <a:off x="1645920" y="4507992"/>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3. DECIDE — 30 seconds, plus one loop back</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Identified the discount error and the auto-renew assumption — returned both to the conversation, reworked, and re-checked. Retained three actions she can defend.</a:t>
            </a:r>
            <a:endParaRPr lang="en-US" sz="1450" dirty="0"/>
          </a:p>
        </p:txBody>
      </p:sp>
      <p:sp>
        <p:nvSpPr>
          <p:cNvPr id="18" name="Shape 15"/>
          <p:cNvSpPr/>
          <p:nvPr/>
        </p:nvSpPr>
        <p:spPr>
          <a:xfrm>
            <a:off x="640080" y="5669280"/>
            <a:ext cx="10881360" cy="566928"/>
          </a:xfrm>
          <a:prstGeom prst="roundRect">
            <a:avLst>
              <a:gd name="adj" fmla="val 14516"/>
            </a:avLst>
          </a:prstGeom>
          <a:solidFill>
            <a:srgbClr val="DCFCE7"/>
          </a:solidFill>
          <a:ln/>
        </p:spPr>
      </p:sp>
      <p:sp>
        <p:nvSpPr>
          <p:cNvPr id="19" name="Text 16"/>
          <p:cNvSpPr/>
          <p:nvPr/>
        </p:nvSpPr>
        <p:spPr>
          <a:xfrm>
            <a:off x="914400" y="5669280"/>
            <a:ext cx="10332720" cy="566928"/>
          </a:xfrm>
          <a:prstGeom prst="rect">
            <a:avLst/>
          </a:prstGeom>
          <a:noFill/>
          <a:ln/>
        </p:spPr>
        <p:txBody>
          <a:bodyPr wrap="square" lIns="0" tIns="0" rIns="0" bIns="0" rtlCol="0" anchor="ctr"/>
          <a:lstStyle/>
          <a:p>
            <a:pPr indent="0" marL="0">
              <a:buNone/>
            </a:pPr>
            <a:r>
              <a:rPr lang="en-US" sz="1450" b="1" dirty="0">
                <a:solidFill>
                  <a:srgbClr val="15803D"/>
                </a:solidFill>
                <a:latin typeface="Arial" pitchFamily="34" charset="0"/>
                <a:ea typeface="Arial" pitchFamily="34" charset="-122"/>
                <a:cs typeface="Arial" pitchFamily="34" charset="-120"/>
              </a:rPr>
              <a:t>Result: a proposal specific to her club, tested against pushback, and owned by her.</a:t>
            </a:r>
            <a:endParaRPr lang="en-US" sz="14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PUT IT TOGETHER</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 objective set at the start has been met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Determine AI fit, then clarify the task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Three screening tests and five questions, before AI is involved.</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Select AI's role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See, shape, or test — not only “write it for 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Check before acting</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Five checks. Output should not be used unless the user can substantiate it.</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Apply the loop to real work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Think → Partner → Decide, on any task, in about two minutes.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TAKEAWAYS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KEEP THIS SLIDE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reference card: Think → Partner → Decide</a:t>
            </a:r>
            <a:endParaRPr lang="en-US" sz="3000" dirty="0"/>
          </a:p>
        </p:txBody>
      </p:sp>
      <p:sp>
        <p:nvSpPr>
          <p:cNvPr id="6" name="Shape 3"/>
          <p:cNvSpPr/>
          <p:nvPr/>
        </p:nvSpPr>
        <p:spPr>
          <a:xfrm>
            <a:off x="640080" y="1920240"/>
            <a:ext cx="2651760" cy="4069080"/>
          </a:xfrm>
          <a:prstGeom prst="roundRect">
            <a:avLst>
              <a:gd name="adj" fmla="val 3103"/>
            </a:avLst>
          </a:prstGeom>
          <a:solidFill>
            <a:srgbClr val="F5F6F8"/>
          </a:solidFill>
          <a:ln w="12700">
            <a:solidFill>
              <a:srgbClr val="E7E9EE"/>
            </a:solidFill>
            <a:prstDash val="solid"/>
          </a:ln>
        </p:spPr>
      </p:sp>
      <p:sp>
        <p:nvSpPr>
          <p:cNvPr id="7" name="Text 4"/>
          <p:cNvSpPr/>
          <p:nvPr/>
        </p:nvSpPr>
        <p:spPr>
          <a:xfrm>
            <a:off x="868680"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THE GATE</a:t>
            </a:r>
            <a:endParaRPr lang="en-US" sz="1200" dirty="0"/>
          </a:p>
        </p:txBody>
      </p:sp>
      <p:sp>
        <p:nvSpPr>
          <p:cNvPr id="8" name="Text 5"/>
          <p:cNvSpPr/>
          <p:nvPr/>
        </p:nvSpPr>
        <p:spPr>
          <a:xfrm>
            <a:off x="868680" y="2487168"/>
            <a:ext cx="2240280" cy="3383280"/>
          </a:xfrm>
          <a:prstGeom prst="rect">
            <a:avLst/>
          </a:prstGeom>
          <a:noFill/>
          <a:ln/>
        </p:spPr>
        <p:txBody>
          <a:bodyPr wrap="square" lIns="0" tIns="0" rIns="0" bIns="0" rtlCol="0" anchor="t"/>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High-stakes and hard to reverse?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Human judgment is the deliverable?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Data governed by policy?</a:t>
            </a:r>
            <a:endParaRPr lang="en-US" sz="1150" dirty="0"/>
          </a:p>
        </p:txBody>
      </p:sp>
      <p:sp>
        <p:nvSpPr>
          <p:cNvPr id="9" name="Shape 6"/>
          <p:cNvSpPr/>
          <p:nvPr/>
        </p:nvSpPr>
        <p:spPr>
          <a:xfrm>
            <a:off x="3456432" y="1920240"/>
            <a:ext cx="2651760" cy="4069080"/>
          </a:xfrm>
          <a:prstGeom prst="roundRect">
            <a:avLst>
              <a:gd name="adj" fmla="val 3103"/>
            </a:avLst>
          </a:prstGeom>
          <a:solidFill>
            <a:srgbClr val="F5F6F8"/>
          </a:solidFill>
          <a:ln w="12700">
            <a:solidFill>
              <a:srgbClr val="E7E9EE"/>
            </a:solidFill>
            <a:prstDash val="solid"/>
          </a:ln>
        </p:spPr>
      </p:sp>
      <p:sp>
        <p:nvSpPr>
          <p:cNvPr id="10" name="Text 7"/>
          <p:cNvSpPr/>
          <p:nvPr/>
        </p:nvSpPr>
        <p:spPr>
          <a:xfrm>
            <a:off x="3685032"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1. THINK</a:t>
            </a:r>
            <a:endParaRPr lang="en-US" sz="1200" dirty="0"/>
          </a:p>
        </p:txBody>
      </p:sp>
      <p:sp>
        <p:nvSpPr>
          <p:cNvPr id="11" name="Text 8"/>
          <p:cNvSpPr/>
          <p:nvPr/>
        </p:nvSpPr>
        <p:spPr>
          <a:xfrm>
            <a:off x="3685032" y="2487168"/>
            <a:ext cx="2240280" cy="3383280"/>
          </a:xfrm>
          <a:prstGeom prst="rect">
            <a:avLst/>
          </a:prstGeom>
          <a:noFill/>
          <a:ln/>
        </p:spPr>
        <p:txBody>
          <a:bodyPr wrap="square" lIns="0" tIns="0" rIns="0" bIns="0" rtlCol="0" anchor="t"/>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outcome?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For whom?</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context matters?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does good look like?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needs human judgment?</a:t>
            </a:r>
            <a:endParaRPr lang="en-US" sz="1150" dirty="0"/>
          </a:p>
        </p:txBody>
      </p:sp>
      <p:sp>
        <p:nvSpPr>
          <p:cNvPr id="12" name="Shape 9"/>
          <p:cNvSpPr/>
          <p:nvPr/>
        </p:nvSpPr>
        <p:spPr>
          <a:xfrm>
            <a:off x="6272784" y="1920240"/>
            <a:ext cx="2651760" cy="4069080"/>
          </a:xfrm>
          <a:prstGeom prst="roundRect">
            <a:avLst>
              <a:gd name="adj" fmla="val 3103"/>
            </a:avLst>
          </a:prstGeom>
          <a:solidFill>
            <a:srgbClr val="F5F6F8"/>
          </a:solidFill>
          <a:ln w="12700">
            <a:solidFill>
              <a:srgbClr val="E7E9EE"/>
            </a:solidFill>
            <a:prstDash val="solid"/>
          </a:ln>
        </p:spPr>
      </p:sp>
      <p:sp>
        <p:nvSpPr>
          <p:cNvPr id="13" name="Text 10"/>
          <p:cNvSpPr/>
          <p:nvPr/>
        </p:nvSpPr>
        <p:spPr>
          <a:xfrm>
            <a:off x="6501384"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2. PARTNER</a:t>
            </a:r>
            <a:endParaRPr lang="en-US" sz="1200" dirty="0"/>
          </a:p>
        </p:txBody>
      </p:sp>
      <p:sp>
        <p:nvSpPr>
          <p:cNvPr id="14" name="Text 11"/>
          <p:cNvSpPr/>
          <p:nvPr/>
        </p:nvSpPr>
        <p:spPr>
          <a:xfrm>
            <a:off x="6501384" y="2487168"/>
            <a:ext cx="2240280" cy="3383280"/>
          </a:xfrm>
          <a:prstGeom prst="rect">
            <a:avLst/>
          </a:prstGeom>
          <a:noFill/>
          <a:ln/>
        </p:spPr>
        <p:txBody>
          <a:bodyPr wrap="square" lIns="0" tIns="0" rIns="0" bIns="0" rtlCol="0" anchor="t"/>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Organize information</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Analyze patterns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Clarify the problem</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Generate options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Improve a draft</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Challenge assumptions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Simulate a stakeholder</a:t>
            </a:r>
            <a:endParaRPr lang="en-US" sz="1150" dirty="0"/>
          </a:p>
        </p:txBody>
      </p:sp>
      <p:sp>
        <p:nvSpPr>
          <p:cNvPr id="15" name="Shape 12"/>
          <p:cNvSpPr/>
          <p:nvPr/>
        </p:nvSpPr>
        <p:spPr>
          <a:xfrm>
            <a:off x="9089136" y="1920240"/>
            <a:ext cx="2651760" cy="4069080"/>
          </a:xfrm>
          <a:prstGeom prst="roundRect">
            <a:avLst>
              <a:gd name="adj" fmla="val 3103"/>
            </a:avLst>
          </a:prstGeom>
          <a:solidFill>
            <a:srgbClr val="F5F6F8"/>
          </a:solidFill>
          <a:ln w="12700">
            <a:solidFill>
              <a:srgbClr val="E7E9EE"/>
            </a:solidFill>
            <a:prstDash val="solid"/>
          </a:ln>
        </p:spPr>
      </p:sp>
      <p:sp>
        <p:nvSpPr>
          <p:cNvPr id="16" name="Text 13"/>
          <p:cNvSpPr/>
          <p:nvPr/>
        </p:nvSpPr>
        <p:spPr>
          <a:xfrm>
            <a:off x="9317736"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3. DECIDE</a:t>
            </a:r>
            <a:endParaRPr lang="en-US" sz="1200" dirty="0"/>
          </a:p>
        </p:txBody>
      </p:sp>
      <p:sp>
        <p:nvSpPr>
          <p:cNvPr id="17" name="Text 14"/>
          <p:cNvSpPr/>
          <p:nvPr/>
        </p:nvSpPr>
        <p:spPr>
          <a:xfrm>
            <a:off x="9317736" y="2487168"/>
            <a:ext cx="2240280" cy="3383280"/>
          </a:xfrm>
          <a:prstGeom prst="rect">
            <a:avLst/>
          </a:prstGeom>
          <a:noFill/>
          <a:ln/>
        </p:spPr>
        <p:txBody>
          <a:bodyPr wrap="square" lIns="0" tIns="0" rIns="0" bIns="0" rtlCol="0" anchor="t"/>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Accurate?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Complete?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Right for BJ's?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did AI assume?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does the person own?</a:t>
            </a:r>
            <a:endParaRPr lang="en-US" sz="1150" dirty="0"/>
          </a:p>
        </p:txBody>
      </p:sp>
      <p:sp>
        <p:nvSpPr>
          <p:cNvPr id="18" name="Text 15"/>
          <p:cNvSpPr/>
          <p:nvPr/>
        </p:nvSpPr>
        <p:spPr>
          <a:xfrm>
            <a:off x="640080" y="6108192"/>
            <a:ext cx="10881360" cy="274320"/>
          </a:xfrm>
          <a:prstGeom prst="rect">
            <a:avLst/>
          </a:prstGeom>
          <a:noFill/>
          <a:ln/>
        </p:spPr>
        <p:txBody>
          <a:bodyPr wrap="square" lIns="0" tIns="0" rIns="0" bIns="0" rtlCol="0" anchor="ctr"/>
          <a:lstStyle/>
          <a:p>
            <a:pPr algn="ctr" indent="0" marL="0">
              <a:buNone/>
            </a:pPr>
            <a:r>
              <a:rPr lang="en-US" sz="1200" i="1" dirty="0">
                <a:solidFill>
                  <a:srgbClr val="5E6A78"/>
                </a:solidFill>
                <a:latin typeface="Arial" pitchFamily="34" charset="0"/>
                <a:ea typeface="Arial" pitchFamily="34" charset="-122"/>
                <a:cs typeface="Arial" pitchFamily="34" charset="-120"/>
              </a:rPr>
              <a:t>Memorize the three steps. This card provides the supporting lists — it is available on the AI Hub.</a:t>
            </a:r>
            <a:endParaRPr lang="en-US" sz="1200" dirty="0"/>
          </a:p>
        </p:txBody>
      </p:sp>
      <p:sp>
        <p:nvSpPr>
          <p:cNvPr id="19" name="Text 1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REFERENCE CARD</a:t>
            </a:r>
            <a:endParaRPr lang="en-US" sz="850" dirty="0"/>
          </a:p>
        </p:txBody>
      </p:sp>
      <p:sp>
        <p:nvSpPr>
          <p:cNvPr id="20" name="Text 1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YOUR TURN</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One task this week</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Before leaving, identify one task from the coming week and note which screening test or which of the five questions it currently fails. That is the first practice run. The next course in the series, Prompt Engineering Essentials, covers how to get the most from each exchange once AI's role is decided.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page: the published sources behind this course, provided for verification.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this course comes from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structure of this course follows published work; the specific questions, roles, and checks were built at BJ's on that foundation.</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three steps align with the AI Fluency framework published by Anthropic with University College Cork and Ringling College: Delegation (our Think), Discernment and Diligence (our Decide). Their fourth competency — Description, the wording of prompts — is our next course.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confidence trap and the three-phase picture of critical thinking with AI come from a 2025 Microsoft Research and Carnegie Mellon survey of 319 knowledge workers.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GO DEEPER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AI Fluency: Framework &amp; Foundations — free, about 3 hours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anthropic.com/ai-fluency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Impact of Generative AI on Critical Thinking” (Lee et al., 2025)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microsoft.com/research</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with AI</dc:title>
  <dc:subject>PptxGenJS Presentation</dc:subject>
  <dc:creator>BJ's AI Enablement</dc:creator>
  <cp:lastModifiedBy>BJ's AI Enablement</cp:lastModifiedBy>
  <cp:revision>1</cp:revision>
  <dcterms:created xsi:type="dcterms:W3CDTF">2026-07-14T00:07:23Z</dcterms:created>
  <dcterms:modified xsi:type="dcterms:W3CDTF">2026-07-14T00:07:23Z</dcterms:modified>
</cp:coreProperties>
</file>