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six levers in one view. All six apply to both tools; the next two slides show how the billing math differs — which changes where each lever pays off most. For Champions: this is the slide to reuse when an associate asks 'how do I stop hitting my limit?'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Technical term for the notes only: Claude bills in tokens at API rates — input tokens include the full re-read conversation each turn, and extended thinking tokens are billed as output. This is why levers 2, 3, 4, and 5 hit hardest in Claude: they all shrink what gets re-read or re-reasoned. If an associate asks why the same question costs more in an old thread than a fresh one, this slide is the answer.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contrast to land: in Claude, thinking effort changes the bill; in ChatGPT, it does not — the per-message credit cost is flat regardless of effort level. The credit pool is shared across the org, so heavy-feature discipline is a team behavior, not a personal one. If asked 'so can I use high effort freely in ChatGPT?' — yes on cost, but still match effort to the task for speed.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841248" cy="841248"/>
          </a:xfrm>
          <a:prstGeom prst="ellipse">
            <a:avLst/>
          </a:prstGeom>
          <a:solidFill>
            <a:srgbClr val="D31242"/>
          </a:solidFill>
          <a:ln/>
          <a:effectLst>
            <a:outerShdw sx="100000" sy="100000" kx="0" ky="0" algn="bl" rotWithShape="0" blurRad="88900" dist="38100" dir="5400000">
              <a:srgbClr val="1F2733">
                <a:alpha val="10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9536" y="786384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64208" y="548640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31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MAP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664208" y="841248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spc="-30" kern="0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Six levers to cut usage — none of them cut quality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965960"/>
            <a:ext cx="3520440" cy="1965960"/>
          </a:xfrm>
          <a:prstGeom prst="roundRect">
            <a:avLst>
              <a:gd name="adj" fmla="val 4186"/>
            </a:avLst>
          </a:prstGeom>
          <a:solidFill>
            <a:srgbClr val="F5F6F8"/>
          </a:solidFill>
          <a:ln w="12700">
            <a:solidFill>
              <a:srgbClr val="E7E9EE"/>
            </a:solidFill>
            <a:prstDash val="solid"/>
          </a:ln>
          <a:effectLst>
            <a:outerShdw sx="100000" sy="100000" kx="0" ky="0" algn="bl" rotWithShape="0" blurRad="88900" dist="38100" dir="5400000">
              <a:srgbClr val="1F2733">
                <a:alpha val="1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960120" y="2240280"/>
            <a:ext cx="658368" cy="658368"/>
          </a:xfrm>
          <a:prstGeom prst="ellipse">
            <a:avLst/>
          </a:prstGeom>
          <a:solidFill>
            <a:srgbClr val="D31242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712" y="2404872"/>
            <a:ext cx="329184" cy="32918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932688" y="2971800"/>
            <a:ext cx="2971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Ask better</a:t>
            </a:r>
            <a:endParaRPr lang="en-US" sz="1450" dirty="0"/>
          </a:p>
        </p:txBody>
      </p:sp>
      <p:sp>
        <p:nvSpPr>
          <p:cNvPr id="10" name="Text 6"/>
          <p:cNvSpPr/>
          <p:nvPr/>
        </p:nvSpPr>
        <p:spPr>
          <a:xfrm>
            <a:off x="932688" y="3337560"/>
            <a:ext cx="2971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5E6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complete, right-sized ask. Edit misses instead of correcting them.</a:t>
            </a:r>
            <a:endParaRPr lang="en-US" sz="1050" dirty="0"/>
          </a:p>
        </p:txBody>
      </p:sp>
      <p:sp>
        <p:nvSpPr>
          <p:cNvPr id="11" name="Shape 7"/>
          <p:cNvSpPr/>
          <p:nvPr/>
        </p:nvSpPr>
        <p:spPr>
          <a:xfrm>
            <a:off x="4343400" y="1965960"/>
            <a:ext cx="3520440" cy="1965960"/>
          </a:xfrm>
          <a:prstGeom prst="roundRect">
            <a:avLst>
              <a:gd name="adj" fmla="val 4186"/>
            </a:avLst>
          </a:prstGeom>
          <a:solidFill>
            <a:srgbClr val="F5F6F8"/>
          </a:solidFill>
          <a:ln w="12700">
            <a:solidFill>
              <a:srgbClr val="E7E9EE"/>
            </a:solidFill>
            <a:prstDash val="solid"/>
          </a:ln>
          <a:effectLst>
            <a:outerShdw sx="100000" sy="100000" kx="0" ky="0" algn="bl" rotWithShape="0" blurRad="88900" dist="38100" dir="5400000">
              <a:srgbClr val="1F2733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663440" y="2240280"/>
            <a:ext cx="658368" cy="658368"/>
          </a:xfrm>
          <a:prstGeom prst="ellipse">
            <a:avLst/>
          </a:prstGeom>
          <a:solidFill>
            <a:srgbClr val="D31242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8032" y="2404872"/>
            <a:ext cx="329184" cy="32918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36008" y="2971800"/>
            <a:ext cx="2971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Keep chats lean</a:t>
            </a:r>
            <a:endParaRPr lang="en-US" sz="1450" dirty="0"/>
          </a:p>
        </p:txBody>
      </p:sp>
      <p:sp>
        <p:nvSpPr>
          <p:cNvPr id="15" name="Text 10"/>
          <p:cNvSpPr/>
          <p:nvPr/>
        </p:nvSpPr>
        <p:spPr>
          <a:xfrm>
            <a:off x="4636008" y="3337560"/>
            <a:ext cx="2971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5E6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chat per task. Refer back, don't re-paste. Summarize and restart.</a:t>
            </a:r>
            <a:endParaRPr lang="en-US" sz="1050" dirty="0"/>
          </a:p>
        </p:txBody>
      </p:sp>
      <p:sp>
        <p:nvSpPr>
          <p:cNvPr id="16" name="Shape 11"/>
          <p:cNvSpPr/>
          <p:nvPr/>
        </p:nvSpPr>
        <p:spPr>
          <a:xfrm>
            <a:off x="8046720" y="1965960"/>
            <a:ext cx="3520440" cy="1965960"/>
          </a:xfrm>
          <a:prstGeom prst="roundRect">
            <a:avLst>
              <a:gd name="adj" fmla="val 4186"/>
            </a:avLst>
          </a:prstGeom>
          <a:solidFill>
            <a:srgbClr val="F5F6F8"/>
          </a:solidFill>
          <a:ln w="12700">
            <a:solidFill>
              <a:srgbClr val="E7E9EE"/>
            </a:solidFill>
            <a:prstDash val="solid"/>
          </a:ln>
          <a:effectLst>
            <a:outerShdw sx="100000" sy="100000" kx="0" ky="0" algn="bl" rotWithShape="0" blurRad="88900" dist="38100" dir="5400000">
              <a:srgbClr val="1F2733">
                <a:alpha val="10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8366760" y="2240280"/>
            <a:ext cx="658368" cy="658368"/>
          </a:xfrm>
          <a:prstGeom prst="ellipse">
            <a:avLst/>
          </a:prstGeom>
          <a:solidFill>
            <a:srgbClr val="D31242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31352" y="2404872"/>
            <a:ext cx="329184" cy="329184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8339328" y="2971800"/>
            <a:ext cx="2971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Attach less, smarter</a:t>
            </a:r>
            <a:endParaRPr lang="en-US" sz="1450" dirty="0"/>
          </a:p>
        </p:txBody>
      </p:sp>
      <p:sp>
        <p:nvSpPr>
          <p:cNvPr id="20" name="Text 14"/>
          <p:cNvSpPr/>
          <p:nvPr/>
        </p:nvSpPr>
        <p:spPr>
          <a:xfrm>
            <a:off x="8339328" y="3337560"/>
            <a:ext cx="2971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5E6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the pages you need. Paste text, don't screenshot it.</a:t>
            </a:r>
            <a:endParaRPr lang="en-US" sz="1050" dirty="0"/>
          </a:p>
        </p:txBody>
      </p:sp>
      <p:sp>
        <p:nvSpPr>
          <p:cNvPr id="21" name="Shape 15"/>
          <p:cNvSpPr/>
          <p:nvPr/>
        </p:nvSpPr>
        <p:spPr>
          <a:xfrm>
            <a:off x="640080" y="4114800"/>
            <a:ext cx="3520440" cy="1965960"/>
          </a:xfrm>
          <a:prstGeom prst="roundRect">
            <a:avLst>
              <a:gd name="adj" fmla="val 4186"/>
            </a:avLst>
          </a:prstGeom>
          <a:solidFill>
            <a:srgbClr val="F5F6F8"/>
          </a:solidFill>
          <a:ln w="12700">
            <a:solidFill>
              <a:srgbClr val="E7E9EE"/>
            </a:solidFill>
            <a:prstDash val="solid"/>
          </a:ln>
          <a:effectLst>
            <a:outerShdw sx="100000" sy="100000" kx="0" ky="0" algn="bl" rotWithShape="0" blurRad="88900" dist="38100" dir="5400000">
              <a:srgbClr val="1F2733">
                <a:alpha val="10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960120" y="4389120"/>
            <a:ext cx="658368" cy="658368"/>
          </a:xfrm>
          <a:prstGeom prst="ellipse">
            <a:avLst/>
          </a:prstGeom>
          <a:solidFill>
            <a:srgbClr val="D31242"/>
          </a:solidFill>
          <a:ln/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4712" y="4553712"/>
            <a:ext cx="329184" cy="329184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932688" y="5120640"/>
            <a:ext cx="2971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Set it once</a:t>
            </a:r>
            <a:endParaRPr lang="en-US" sz="1450" dirty="0"/>
          </a:p>
        </p:txBody>
      </p:sp>
      <p:sp>
        <p:nvSpPr>
          <p:cNvPr id="25" name="Text 18"/>
          <p:cNvSpPr/>
          <p:nvPr/>
        </p:nvSpPr>
        <p:spPr>
          <a:xfrm>
            <a:off x="932688" y="5486400"/>
            <a:ext cx="2971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5E6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Projects hold repeat files. Custom instructions carry your preferences.</a:t>
            </a:r>
            <a:endParaRPr lang="en-US" sz="1050" dirty="0"/>
          </a:p>
        </p:txBody>
      </p:sp>
      <p:sp>
        <p:nvSpPr>
          <p:cNvPr id="26" name="Shape 19"/>
          <p:cNvSpPr/>
          <p:nvPr/>
        </p:nvSpPr>
        <p:spPr>
          <a:xfrm>
            <a:off x="4343400" y="4114800"/>
            <a:ext cx="3520440" cy="1965960"/>
          </a:xfrm>
          <a:prstGeom prst="roundRect">
            <a:avLst>
              <a:gd name="adj" fmla="val 4186"/>
            </a:avLst>
          </a:prstGeom>
          <a:solidFill>
            <a:srgbClr val="F5F6F8"/>
          </a:solidFill>
          <a:ln w="12700">
            <a:solidFill>
              <a:srgbClr val="E7E9EE"/>
            </a:solidFill>
            <a:prstDash val="solid"/>
          </a:ln>
          <a:effectLst>
            <a:outerShdw sx="100000" sy="100000" kx="0" ky="0" algn="bl" rotWithShape="0" blurRad="88900" dist="38100" dir="5400000">
              <a:srgbClr val="1F2733">
                <a:alpha val="10000"/>
              </a:srgbClr>
            </a:outerShdw>
          </a:effectLst>
        </p:spPr>
      </p:sp>
      <p:sp>
        <p:nvSpPr>
          <p:cNvPr id="27" name="Shape 20"/>
          <p:cNvSpPr/>
          <p:nvPr/>
        </p:nvSpPr>
        <p:spPr>
          <a:xfrm>
            <a:off x="4663440" y="4389120"/>
            <a:ext cx="658368" cy="658368"/>
          </a:xfrm>
          <a:prstGeom prst="ellipse">
            <a:avLst/>
          </a:prstGeom>
          <a:solidFill>
            <a:srgbClr val="D31242"/>
          </a:solidFill>
          <a:ln/>
        </p:spPr>
      </p:sp>
      <p:pic>
        <p:nvPicPr>
          <p:cNvPr id="2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28032" y="4553712"/>
            <a:ext cx="329184" cy="329184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4636008" y="5120640"/>
            <a:ext cx="2971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Match the effort</a:t>
            </a:r>
            <a:endParaRPr lang="en-US" sz="1450" dirty="0"/>
          </a:p>
        </p:txBody>
      </p:sp>
      <p:sp>
        <p:nvSpPr>
          <p:cNvPr id="30" name="Text 22"/>
          <p:cNvSpPr/>
          <p:nvPr/>
        </p:nvSpPr>
        <p:spPr>
          <a:xfrm>
            <a:off x="4636008" y="5486400"/>
            <a:ext cx="2971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5E6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 mode for quick work, thinking for hard problems — deliberately.</a:t>
            </a:r>
            <a:endParaRPr lang="en-US" sz="1050" dirty="0"/>
          </a:p>
        </p:txBody>
      </p:sp>
      <p:sp>
        <p:nvSpPr>
          <p:cNvPr id="31" name="Shape 23"/>
          <p:cNvSpPr/>
          <p:nvPr/>
        </p:nvSpPr>
        <p:spPr>
          <a:xfrm>
            <a:off x="8046720" y="4114800"/>
            <a:ext cx="3520440" cy="1965960"/>
          </a:xfrm>
          <a:prstGeom prst="roundRect">
            <a:avLst>
              <a:gd name="adj" fmla="val 4186"/>
            </a:avLst>
          </a:prstGeom>
          <a:solidFill>
            <a:srgbClr val="F5F6F8"/>
          </a:solidFill>
          <a:ln w="12700">
            <a:solidFill>
              <a:srgbClr val="E7E9EE"/>
            </a:solidFill>
            <a:prstDash val="solid"/>
          </a:ln>
          <a:effectLst>
            <a:outerShdw sx="100000" sy="100000" kx="0" ky="0" algn="bl" rotWithShape="0" blurRad="88900" dist="38100" dir="5400000">
              <a:srgbClr val="1F2733">
                <a:alpha val="10000"/>
              </a:srgbClr>
            </a:outerShdw>
          </a:effectLst>
        </p:spPr>
      </p:sp>
      <p:sp>
        <p:nvSpPr>
          <p:cNvPr id="32" name="Shape 24"/>
          <p:cNvSpPr/>
          <p:nvPr/>
        </p:nvSpPr>
        <p:spPr>
          <a:xfrm>
            <a:off x="8366760" y="4389120"/>
            <a:ext cx="658368" cy="658368"/>
          </a:xfrm>
          <a:prstGeom prst="ellipse">
            <a:avLst/>
          </a:prstGeom>
          <a:solidFill>
            <a:srgbClr val="D31242"/>
          </a:solidFill>
          <a:ln/>
        </p:spPr>
      </p:sp>
      <p:pic>
        <p:nvPicPr>
          <p:cNvPr id="3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31352" y="4553712"/>
            <a:ext cx="329184" cy="329184"/>
          </a:xfrm>
          <a:prstGeom prst="rect">
            <a:avLst/>
          </a:prstGeom>
        </p:spPr>
      </p:pic>
      <p:sp>
        <p:nvSpPr>
          <p:cNvPr id="34" name="Text 25"/>
          <p:cNvSpPr/>
          <p:nvPr/>
        </p:nvSpPr>
        <p:spPr>
          <a:xfrm>
            <a:off x="8339328" y="5120640"/>
            <a:ext cx="2971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Spend heavy features on purpose</a:t>
            </a:r>
            <a:endParaRPr lang="en-US" sz="1450" dirty="0"/>
          </a:p>
        </p:txBody>
      </p:sp>
      <p:sp>
        <p:nvSpPr>
          <p:cNvPr id="35" name="Text 26"/>
          <p:cNvSpPr/>
          <p:nvPr/>
        </p:nvSpPr>
        <p:spPr>
          <a:xfrm>
            <a:off x="8339328" y="5486400"/>
            <a:ext cx="2971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5E6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 Research, file creation, image generation — aimed, never casual.</a:t>
            </a:r>
            <a:endParaRPr lang="en-US" sz="1050" dirty="0"/>
          </a:p>
        </p:txBody>
      </p:sp>
      <p:sp>
        <p:nvSpPr>
          <p:cNvPr id="36" name="Text 27"/>
          <p:cNvSpPr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8A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REDUCE USAGE, NOT QUALITY</a:t>
            </a:r>
            <a:endParaRPr lang="en-US" sz="850" dirty="0"/>
          </a:p>
        </p:txBody>
      </p:sp>
      <p:sp>
        <p:nvSpPr>
          <p:cNvPr id="37" name="Text 28"/>
          <p:cNvSpPr/>
          <p:nvPr/>
        </p:nvSpPr>
        <p:spPr>
          <a:xfrm>
            <a:off x="6519672" y="641908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i="1" dirty="0">
                <a:solidFill>
                  <a:srgbClr val="8A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Illustrative training material — not an official BJ's publication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841248" cy="841248"/>
          </a:xfrm>
          <a:prstGeom prst="ellipse">
            <a:avLst/>
          </a:prstGeom>
          <a:solidFill>
            <a:srgbClr val="D31242"/>
          </a:solidFill>
          <a:ln/>
          <a:effectLst>
            <a:outerShdw sx="100000" sy="100000" kx="0" ky="0" algn="bl" rotWithShape="0" blurRad="88900" dist="38100" dir="5400000">
              <a:srgbClr val="1F2733">
                <a:alpha val="10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9536" y="786384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64208" y="548640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31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LEVER GUIDE · CLAUDE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664208" y="841248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spc="-30" kern="0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Claude, every request meters real cost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640080" y="2103120"/>
            <a:ext cx="63093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650" dirty="0">
                <a:solidFill>
                  <a:srgbClr val="3A4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Claude Enterprise plan bills on usage from the very first request. And every time you press send, Claude re-reads the whole conversation — every earlier message and every attachment. Long chats and heavy files quietly raise the cost of each new turn.</a:t>
            </a:r>
            <a:endParaRPr lang="en-US" sz="1650" dirty="0"/>
          </a:p>
          <a:p>
            <a:pPr indent="0" marL="0">
              <a:lnSpc>
                <a:spcPct val="120000"/>
              </a:lnSpc>
              <a:buNone/>
            </a:pPr>
            <a:endParaRPr lang="en-US" sz="16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650" dirty="0">
                <a:solidFill>
                  <a:srgbClr val="3A4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Thinking effort is billed the same way: set it higher and Claude reasons longer, and all of that extra reasoning is metered. Save extended thinking for problems that genuinely need it — the answer to an easy question does not get better, only more expensive.</a:t>
            </a:r>
            <a:endParaRPr lang="en-US" sz="1650" dirty="0"/>
          </a:p>
        </p:txBody>
      </p:sp>
      <p:sp>
        <p:nvSpPr>
          <p:cNvPr id="7" name="Shape 4"/>
          <p:cNvSpPr/>
          <p:nvPr/>
        </p:nvSpPr>
        <p:spPr>
          <a:xfrm>
            <a:off x="7269480" y="2103120"/>
            <a:ext cx="4251960" cy="3200400"/>
          </a:xfrm>
          <a:prstGeom prst="roundRect">
            <a:avLst>
              <a:gd name="adj" fmla="val 2571"/>
            </a:avLst>
          </a:prstGeom>
          <a:solidFill>
            <a:srgbClr val="F5F6F8"/>
          </a:solidFill>
          <a:ln w="12700">
            <a:solidFill>
              <a:srgbClr val="E7E9EE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589520" y="23774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D31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MOVES IN CLAUDE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7589520" y="2834640"/>
            <a:ext cx="365760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chat per task; summarize and restart when a thread runs long.</a:t>
            </a:r>
            <a:endParaRPr lang="en-US" sz="145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Attach only the pages you need — paste text, don't screenshot it.</a:t>
            </a:r>
            <a:endParaRPr lang="en-US" sz="145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 repeat files in a Project instead of re-attaching them.</a:t>
            </a:r>
            <a:endParaRPr lang="en-US" sz="145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Choose thinking effort deliberately — standard covers most work.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8A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REDUCE USAGE, NOT QUALITY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6519672" y="641908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i="1" dirty="0">
                <a:solidFill>
                  <a:srgbClr val="8A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Illustrative training material — not an official BJ's publication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841248" cy="841248"/>
          </a:xfrm>
          <a:prstGeom prst="ellipse">
            <a:avLst/>
          </a:prstGeom>
          <a:solidFill>
            <a:srgbClr val="D31242"/>
          </a:solidFill>
          <a:ln/>
          <a:effectLst>
            <a:outerShdw sx="100000" sy="100000" kx="0" ky="0" algn="bl" rotWithShape="0" blurRad="88900" dist="38100" dir="5400000">
              <a:srgbClr val="1F2733">
                <a:alpha val="10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9536" y="786384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64208" y="548640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31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LEVER GUIDE · CHATGPT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664208" y="841248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spc="-30" kern="0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ChatGPT, the shared credit pool is what you protect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640080" y="2103120"/>
            <a:ext cx="63093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650" dirty="0">
                <a:solidFill>
                  <a:srgbClr val="3A4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ChatGPT Enterprise works on different math: it is billed by the seat, with a separate shared pool of credits that pays for the advanced features. Turning thinking effort up or down does not change what a message costs — so match the effort to the task without watching a meter.</a:t>
            </a:r>
            <a:endParaRPr lang="en-US" sz="1650" dirty="0"/>
          </a:p>
          <a:p>
            <a:pPr indent="0" marL="0">
              <a:lnSpc>
                <a:spcPct val="120000"/>
              </a:lnSpc>
              <a:buNone/>
            </a:pPr>
            <a:endParaRPr lang="en-US" sz="16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650" dirty="0">
                <a:solidFill>
                  <a:srgbClr val="3A4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does draw down the shared pool: Deep Research, image generation, and the other heavy features. Every casual run spends credits a teammate may need for real work — so those buttons are where the discipline lives.</a:t>
            </a:r>
            <a:endParaRPr lang="en-US" sz="1650" dirty="0"/>
          </a:p>
        </p:txBody>
      </p:sp>
      <p:sp>
        <p:nvSpPr>
          <p:cNvPr id="7" name="Shape 4"/>
          <p:cNvSpPr/>
          <p:nvPr/>
        </p:nvSpPr>
        <p:spPr>
          <a:xfrm>
            <a:off x="7269480" y="2103120"/>
            <a:ext cx="4251960" cy="3200400"/>
          </a:xfrm>
          <a:prstGeom prst="roundRect">
            <a:avLst>
              <a:gd name="adj" fmla="val 2571"/>
            </a:avLst>
          </a:prstGeom>
          <a:solidFill>
            <a:srgbClr val="F5F6F8"/>
          </a:solidFill>
          <a:ln w="12700">
            <a:solidFill>
              <a:srgbClr val="E7E9EE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589520" y="23774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D31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MOVES IN CHATGPT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7589520" y="2834640"/>
            <a:ext cx="365760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chats lean anyway — long threads still slow answers and hit message limits.</a:t>
            </a:r>
            <a:endParaRPr lang="en-US" sz="145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Aim Deep Research: one well-scoped run beats three casual ones.</a:t>
            </a:r>
            <a:endParaRPr lang="en-US" sz="145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Skip image generation when a table or plain text will do.</a:t>
            </a:r>
            <a:endParaRPr lang="en-US" sz="145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Reuse set-once context — Projects and custom instructions — instead of re-pasting.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8A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REDUCE USAGE, NOT QUALITY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6519672" y="641908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i="1" dirty="0">
                <a:solidFill>
                  <a:srgbClr val="8A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Illustrative training material — not an official BJ's publication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Reduce Usage, Not Quality — Champion Slides</dc:title>
  <dc:subject>PptxGenJS Presentation</dc:subject>
  <dc:creator>BJ's AI Enablement</dc:creator>
  <cp:lastModifiedBy>BJ's AI Enablement</cp:lastModifiedBy>
  <cp:revision>1</cp:revision>
  <dcterms:created xsi:type="dcterms:W3CDTF">2026-07-16T12:50:45Z</dcterms:created>
  <dcterms:modified xsi:type="dcterms:W3CDTF">2026-07-16T12:50:45Z</dcterms:modified>
</cp:coreProperties>
</file>