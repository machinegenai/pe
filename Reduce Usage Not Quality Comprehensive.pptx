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notesMasterIdLst>
    <p:notesMasterId r:id="rId3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notesMaster" Target="notesMasters/notesMaster1.xml"/><Relationship Id="rId31" Type="http://schemas.openxmlformats.org/officeDocument/2006/relationships/presProps" Target="presProps.xml"/><Relationship Id="rId32" Type="http://schemas.openxmlformats.org/officeDocument/2006/relationships/viewProps" Target="viewProps.xml"/><Relationship Id="rId33" Type="http://schemas.openxmlformats.org/officeDocument/2006/relationships/theme" Target="theme/theme1.xml"/><Relationship Id="rId3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Full playbook behind the 30-minute course. Self-read on SharePoint, Champion reference, or ~60 minutes live. One running example (Priya) throughout.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objectives, mapped one-to-one to the takeaways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Agenda-as-diagram: the six levers, in deck order. Every slide that follows belongs to exactly one lever.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Facilitation: ask who has watched a long chat get dumber. The 40-page figure sets up the files section.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Full ChatGPT rate card appears on the ChatGPT slide. Verify contract terms and flexible-pricing status in Workspace settings &gt; Billing.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Anthropic's own best-practice page: plan before you start, combine related questions, review for completeness before sending.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standing 'short, direct answers' preference belongs in custom instructions — lever 4.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 this live if possible — the edit icon is invisible until you know it exists.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counterweight for the whole deck: fewer attempts, not shorter prompts. Say it out loud.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Ties directly to the re-read mechanic from the mental-model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'Refer back instead of repeating' is verbatim Anthropic guidance. This slide answers the standard objection to new-chat-per-task.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text-plus-page-images mechanic is Anthropic-documented; same principle degrades ChatGPT's working memory.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most-missed tip in the wild: screenshotting text feels convenient and quietly costs a multiple.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Optional for most people, standard practice for document-heavy roles.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Caching claim is from Anthropic's usage-limit best practices verbatim. Verify Project availability and knowledge limits in both tenants.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Instructions = global preferences; Projects = per-workstream files; memory = automatic recurring context. Menu labels move — verify in both tenants.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single biggest lever. Both failure directions matter equally.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Sticky selection is flagged by multiple university IT guides as the top enterprise waste pattern. Rates change — re-check quarterly.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Claude/ChatGPT asymmetry (scaled vs. flat pricing for thinking) is the deck's subtlest point — worth a beat live.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Vendor guidance, not folklore — quote is from Anthropic's help center.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Admins can gate Deep Research by RBAC — appendix.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Generalizes: iterate on the plan in cheap messages, spend the expensive generation once.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answer to 'extend my limit': point at the drain, not the ceiling. Copilot has its own course.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Exportable as the one-page job aid for SharePoint and print.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Adoption hook: one real task this week with levers 1 and 2, count attempts; Champions collect before/after stories. Cross-reference: these are efficiency habits, not data rules — sharing rules live in responsible-use training.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Verify admin roles and current menu paths in both tenants.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Deliberately conservative, order-of-magnitude arithmetic. Walk it slowly — this slide converts skeptics.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image" Target="../media/image-17-4.png"/><Relationship Id="rId5" Type="http://schemas.openxmlformats.org/officeDocument/2006/relationships/image" Target="../media/image-1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png"/><Relationship Id="rId3" Type="http://schemas.openxmlformats.org/officeDocument/2006/relationships/image" Target="../media/image-23-3.png"/><Relationship Id="rId4" Type="http://schemas.openxmlformats.org/officeDocument/2006/relationships/image" Target="../media/image-23-4.png"/><Relationship Id="rId5" Type="http://schemas.openxmlformats.org/officeDocument/2006/relationships/image" Target="../media/image-2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image" Target="../media/image-24-2.png"/><Relationship Id="rId3" Type="http://schemas.openxmlformats.org/officeDocument/2006/relationships/image" Target="../media/image-24-3.png"/><Relationship Id="rId4" Type="http://schemas.openxmlformats.org/officeDocument/2006/relationships/image" Target="../media/image-24-4.png"/><Relationship Id="rId5" Type="http://schemas.openxmlformats.org/officeDocument/2006/relationships/image" Target="../media/image-24-5.png"/><Relationship Id="rId6" Type="http://schemas.openxmlformats.org/officeDocument/2006/relationships/image" Target="../media/image-24-6.png"/><Relationship Id="rId7" Type="http://schemas.openxmlformats.org/officeDocument/2006/relationships/image" Target="../media/image-24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image" Target="../media/image-25-2.png"/><Relationship Id="rId3" Type="http://schemas.openxmlformats.org/officeDocument/2006/relationships/image" Target="../media/image-25-3.png"/><Relationship Id="rId4" Type="http://schemas.openxmlformats.org/officeDocument/2006/relationships/image" Target="../media/image-25-4.png"/><Relationship Id="rId5" Type="http://schemas.openxmlformats.org/officeDocument/2006/relationships/image" Target="../media/image-2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D312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394960"/>
            <a:ext cx="12188952" cy="1463040"/>
          </a:xfrm>
          <a:prstGeom prst="rect">
            <a:avLst/>
          </a:prstGeom>
          <a:solidFill>
            <a:srgbClr val="7E0A27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0" y="548640"/>
            <a:ext cx="137160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88900" dist="38100" dir="5400000">
              <a:srgbClr val="1F2733">
                <a:alpha val="1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40080" y="548640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2000" b="1" spc="-100" kern="0" dirty="0">
                <a:solidFill>
                  <a:srgbClr val="D31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BJ's</a:t>
            </a:r>
            <a:endParaRPr lang="en-US" sz="2000" dirty="0"/>
          </a:p>
          <a:p>
            <a:pPr algn="ctr" indent="0" marL="0">
              <a:lnSpc>
                <a:spcPct val="90000"/>
              </a:lnSpc>
              <a:buNone/>
            </a:pPr>
            <a:r>
              <a:rPr lang="en-US" sz="600" b="1" spc="200" kern="0" dirty="0">
                <a:solidFill>
                  <a:srgbClr val="D31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WHOLESALE CLUB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58368" y="21488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FCE4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BJ'S AI ENABLEMENT · COMPREHENSIVE EDITION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21792" y="2606040"/>
            <a:ext cx="10881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spc="-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Reduce Usage, Not Quality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658368" y="4069080"/>
            <a:ext cx="9692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FCE4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proven way to get better answers from Claude and ChatGPT while spending less — sourced from Anthropic, OpenAI, and enterprise usage guides.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841248" cy="841248"/>
          </a:xfrm>
          <a:prstGeom prst="ellipse">
            <a:avLst/>
          </a:prstGeom>
          <a:solidFill>
            <a:srgbClr val="D31242"/>
          </a:solidFill>
          <a:ln/>
          <a:effectLst>
            <a:outerShdw sx="100000" sy="100000" kx="0" ky="0" algn="bl" rotWithShape="0" blurRad="88900" dist="38100" dir="5400000">
              <a:srgbClr val="1F2733">
                <a:alpha val="10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9536" y="786384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664208" y="548640"/>
            <a:ext cx="9875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31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LEARNING OBJECTIVES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664208" y="841248"/>
            <a:ext cx="10058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spc="-30" kern="0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 the end, you will be able to: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2011680"/>
            <a:ext cx="10881360" cy="896112"/>
          </a:xfrm>
          <a:prstGeom prst="roundRect">
            <a:avLst>
              <a:gd name="adj" fmla="val 9184"/>
            </a:avLst>
          </a:prstGeom>
          <a:solidFill>
            <a:srgbClr val="F5F6F8"/>
          </a:solidFill>
          <a:ln w="12700">
            <a:solidFill>
              <a:srgbClr val="E7E9EE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68680" y="2212848"/>
            <a:ext cx="493776" cy="493776"/>
          </a:xfrm>
          <a:prstGeom prst="ellipse">
            <a:avLst/>
          </a:prstGeom>
          <a:solidFill>
            <a:srgbClr val="D31242"/>
          </a:solidFill>
          <a:ln/>
        </p:spPr>
      </p:sp>
      <p:sp>
        <p:nvSpPr>
          <p:cNvPr id="8" name="Text 5"/>
          <p:cNvSpPr/>
          <p:nvPr/>
        </p:nvSpPr>
        <p:spPr>
          <a:xfrm>
            <a:off x="868680" y="2212848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1600200" y="2121408"/>
            <a:ext cx="96926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Explain what every answer costs</a:t>
            </a:r>
            <a:endParaRPr lang="en-US" sz="1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E6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Tokens, working memory, and how each of our two tools actually bills.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640080" y="3035808"/>
            <a:ext cx="10881360" cy="896112"/>
          </a:xfrm>
          <a:prstGeom prst="roundRect">
            <a:avLst>
              <a:gd name="adj" fmla="val 9184"/>
            </a:avLst>
          </a:prstGeom>
          <a:solidFill>
            <a:srgbClr val="F5F6F8"/>
          </a:solidFill>
          <a:ln w="12700">
            <a:solidFill>
              <a:srgbClr val="E7E9EE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68680" y="3236976"/>
            <a:ext cx="493776" cy="493776"/>
          </a:xfrm>
          <a:prstGeom prst="ellipse">
            <a:avLst/>
          </a:prstGeom>
          <a:solidFill>
            <a:srgbClr val="D31242"/>
          </a:solidFill>
          <a:ln/>
        </p:spPr>
      </p:sp>
      <p:sp>
        <p:nvSpPr>
          <p:cNvPr id="12" name="Text 9"/>
          <p:cNvSpPr/>
          <p:nvPr/>
        </p:nvSpPr>
        <p:spPr>
          <a:xfrm>
            <a:off x="868680" y="3236976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Text 10"/>
          <p:cNvSpPr/>
          <p:nvPr/>
        </p:nvSpPr>
        <p:spPr>
          <a:xfrm>
            <a:off x="1600200" y="3145536"/>
            <a:ext cx="96926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 asks that land on the first attempt</a:t>
            </a:r>
            <a:endParaRPr lang="en-US" sz="1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E6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Front-loaded, complete, right-sized — and repaired by editing, not correcting.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640080" y="4059936"/>
            <a:ext cx="10881360" cy="896112"/>
          </a:xfrm>
          <a:prstGeom prst="roundRect">
            <a:avLst>
              <a:gd name="adj" fmla="val 9184"/>
            </a:avLst>
          </a:prstGeom>
          <a:solidFill>
            <a:srgbClr val="F5F6F8"/>
          </a:solidFill>
          <a:ln w="12700">
            <a:solidFill>
              <a:srgbClr val="E7E9EE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868680" y="4261104"/>
            <a:ext cx="493776" cy="493776"/>
          </a:xfrm>
          <a:prstGeom prst="ellipse">
            <a:avLst/>
          </a:prstGeom>
          <a:solidFill>
            <a:srgbClr val="D31242"/>
          </a:solidFill>
          <a:ln/>
        </p:spPr>
      </p:sp>
      <p:sp>
        <p:nvSpPr>
          <p:cNvPr id="16" name="Text 13"/>
          <p:cNvSpPr/>
          <p:nvPr/>
        </p:nvSpPr>
        <p:spPr>
          <a:xfrm>
            <a:off x="868680" y="4261104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4"/>
          <p:cNvSpPr/>
          <p:nvPr/>
        </p:nvSpPr>
        <p:spPr>
          <a:xfrm>
            <a:off x="1600200" y="4169664"/>
            <a:ext cx="96926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 chats, files, and set-once context</a:t>
            </a:r>
            <a:endParaRPr lang="en-US" sz="1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E6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Fresh chats, lean attachments, Projects, and custom instructions.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640080" y="5084064"/>
            <a:ext cx="10881360" cy="896112"/>
          </a:xfrm>
          <a:prstGeom prst="roundRect">
            <a:avLst>
              <a:gd name="adj" fmla="val 9184"/>
            </a:avLst>
          </a:prstGeom>
          <a:solidFill>
            <a:srgbClr val="F5F6F8"/>
          </a:solidFill>
          <a:ln w="12700">
            <a:solidFill>
              <a:srgbClr val="E7E9EE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868680" y="5285232"/>
            <a:ext cx="493776" cy="493776"/>
          </a:xfrm>
          <a:prstGeom prst="ellipse">
            <a:avLst/>
          </a:prstGeom>
          <a:solidFill>
            <a:srgbClr val="D31242"/>
          </a:solidFill>
          <a:ln/>
        </p:spPr>
      </p:sp>
      <p:sp>
        <p:nvSpPr>
          <p:cNvPr id="20" name="Text 17"/>
          <p:cNvSpPr/>
          <p:nvPr/>
        </p:nvSpPr>
        <p:spPr>
          <a:xfrm>
            <a:off x="868680" y="5285232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000" dirty="0"/>
          </a:p>
        </p:txBody>
      </p:sp>
      <p:sp>
        <p:nvSpPr>
          <p:cNvPr id="21" name="Text 18"/>
          <p:cNvSpPr/>
          <p:nvPr/>
        </p:nvSpPr>
        <p:spPr>
          <a:xfrm>
            <a:off x="1600200" y="5193792"/>
            <a:ext cx="96926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Match effort and heavy features to the task</a:t>
            </a:r>
            <a:endParaRPr lang="en-US" sz="1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E6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 vs. thinking, model choice, toggles, and the expensive buttons.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64008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8A9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REDUCE USAGE, NOT QUALITY · COMPREHENSIVE</a:t>
            </a:r>
            <a:endParaRPr lang="en-US" sz="850" dirty="0"/>
          </a:p>
        </p:txBody>
      </p:sp>
      <p:sp>
        <p:nvSpPr>
          <p:cNvPr id="23" name="Text 20"/>
          <p:cNvSpPr/>
          <p:nvPr/>
        </p:nvSpPr>
        <p:spPr>
          <a:xfrm>
            <a:off x="6519672" y="641908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i="1" dirty="0">
                <a:solidFill>
                  <a:srgbClr val="8A9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Illustrative training material — not an official BJ's publication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841248" cy="841248"/>
          </a:xfrm>
          <a:prstGeom prst="ellipse">
            <a:avLst/>
          </a:prstGeom>
          <a:solidFill>
            <a:srgbClr val="D31242"/>
          </a:solidFill>
          <a:ln/>
          <a:effectLst>
            <a:outerShdw sx="100000" sy="100000" kx="0" ky="0" algn="bl" rotWithShape="0" blurRad="88900" dist="38100" dir="5400000">
              <a:srgbClr val="1F2733">
                <a:alpha val="10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9536" y="786384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664208" y="548640"/>
            <a:ext cx="9875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31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MAP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664208" y="841248"/>
            <a:ext cx="10058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spc="-30" kern="0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Six levers to cut usage — none of them cut quality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1965960"/>
            <a:ext cx="3520440" cy="1965960"/>
          </a:xfrm>
          <a:prstGeom prst="roundRect">
            <a:avLst>
              <a:gd name="adj" fmla="val 4186"/>
            </a:avLst>
          </a:prstGeom>
          <a:solidFill>
            <a:srgbClr val="F5F6F8"/>
          </a:solidFill>
          <a:ln w="12700">
            <a:solidFill>
              <a:srgbClr val="E7E9EE"/>
            </a:solidFill>
            <a:prstDash val="solid"/>
          </a:ln>
          <a:effectLst>
            <a:outerShdw sx="100000" sy="100000" kx="0" ky="0" algn="bl" rotWithShape="0" blurRad="88900" dist="38100" dir="5400000">
              <a:srgbClr val="1F2733">
                <a:alpha val="1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960120" y="2221992"/>
            <a:ext cx="621792" cy="621792"/>
          </a:xfrm>
          <a:prstGeom prst="ellipse">
            <a:avLst/>
          </a:prstGeom>
          <a:solidFill>
            <a:srgbClr val="D31242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568" y="2377440"/>
            <a:ext cx="310896" cy="31089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932688" y="2916936"/>
            <a:ext cx="2971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Ask better</a:t>
            </a:r>
            <a:endParaRPr lang="en-US" sz="1400" dirty="0"/>
          </a:p>
        </p:txBody>
      </p:sp>
      <p:sp>
        <p:nvSpPr>
          <p:cNvPr id="10" name="Text 6"/>
          <p:cNvSpPr/>
          <p:nvPr/>
        </p:nvSpPr>
        <p:spPr>
          <a:xfrm>
            <a:off x="932688" y="342900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5E6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complete, right-sized ask. Edit misses instead of correcting them.</a:t>
            </a:r>
            <a:endParaRPr lang="en-US" sz="1050" dirty="0"/>
          </a:p>
        </p:txBody>
      </p:sp>
      <p:sp>
        <p:nvSpPr>
          <p:cNvPr id="11" name="Shape 7"/>
          <p:cNvSpPr/>
          <p:nvPr/>
        </p:nvSpPr>
        <p:spPr>
          <a:xfrm>
            <a:off x="4343400" y="1965960"/>
            <a:ext cx="3520440" cy="1965960"/>
          </a:xfrm>
          <a:prstGeom prst="roundRect">
            <a:avLst>
              <a:gd name="adj" fmla="val 4186"/>
            </a:avLst>
          </a:prstGeom>
          <a:solidFill>
            <a:srgbClr val="F5F6F8"/>
          </a:solidFill>
          <a:ln w="12700">
            <a:solidFill>
              <a:srgbClr val="E7E9EE"/>
            </a:solidFill>
            <a:prstDash val="solid"/>
          </a:ln>
          <a:effectLst>
            <a:outerShdw sx="100000" sy="100000" kx="0" ky="0" algn="bl" rotWithShape="0" blurRad="88900" dist="38100" dir="5400000">
              <a:srgbClr val="1F2733">
                <a:alpha val="1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663440" y="2221992"/>
            <a:ext cx="621792" cy="621792"/>
          </a:xfrm>
          <a:prstGeom prst="ellipse">
            <a:avLst/>
          </a:prstGeom>
          <a:solidFill>
            <a:srgbClr val="D31242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18888" y="2377440"/>
            <a:ext cx="310896" cy="310896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636008" y="2916936"/>
            <a:ext cx="2971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Keep chats lean</a:t>
            </a:r>
            <a:endParaRPr lang="en-US" sz="1400" dirty="0"/>
          </a:p>
        </p:txBody>
      </p:sp>
      <p:sp>
        <p:nvSpPr>
          <p:cNvPr id="15" name="Text 10"/>
          <p:cNvSpPr/>
          <p:nvPr/>
        </p:nvSpPr>
        <p:spPr>
          <a:xfrm>
            <a:off x="4636008" y="342900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5E6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chat per task. Refer back, don't re-paste. Summarize and restart.</a:t>
            </a:r>
            <a:endParaRPr lang="en-US" sz="1050" dirty="0"/>
          </a:p>
        </p:txBody>
      </p:sp>
      <p:sp>
        <p:nvSpPr>
          <p:cNvPr id="16" name="Shape 11"/>
          <p:cNvSpPr/>
          <p:nvPr/>
        </p:nvSpPr>
        <p:spPr>
          <a:xfrm>
            <a:off x="8046720" y="1965960"/>
            <a:ext cx="3520440" cy="1965960"/>
          </a:xfrm>
          <a:prstGeom prst="roundRect">
            <a:avLst>
              <a:gd name="adj" fmla="val 4186"/>
            </a:avLst>
          </a:prstGeom>
          <a:solidFill>
            <a:srgbClr val="F5F6F8"/>
          </a:solidFill>
          <a:ln w="12700">
            <a:solidFill>
              <a:srgbClr val="E7E9EE"/>
            </a:solidFill>
            <a:prstDash val="solid"/>
          </a:ln>
          <a:effectLst>
            <a:outerShdw sx="100000" sy="100000" kx="0" ky="0" algn="bl" rotWithShape="0" blurRad="88900" dist="38100" dir="5400000">
              <a:srgbClr val="1F2733">
                <a:alpha val="10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8366760" y="2221992"/>
            <a:ext cx="621792" cy="621792"/>
          </a:xfrm>
          <a:prstGeom prst="ellipse">
            <a:avLst/>
          </a:prstGeom>
          <a:solidFill>
            <a:srgbClr val="D31242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22208" y="2377440"/>
            <a:ext cx="310896" cy="310896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8339328" y="2916936"/>
            <a:ext cx="2971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Attach less, smarter</a:t>
            </a:r>
            <a:endParaRPr lang="en-US" sz="1400" dirty="0"/>
          </a:p>
        </p:txBody>
      </p:sp>
      <p:sp>
        <p:nvSpPr>
          <p:cNvPr id="20" name="Text 14"/>
          <p:cNvSpPr/>
          <p:nvPr/>
        </p:nvSpPr>
        <p:spPr>
          <a:xfrm>
            <a:off x="8339328" y="342900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5E6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 the pages you need. Paste text, don't screenshot it.</a:t>
            </a:r>
            <a:endParaRPr lang="en-US" sz="1050" dirty="0"/>
          </a:p>
        </p:txBody>
      </p:sp>
      <p:sp>
        <p:nvSpPr>
          <p:cNvPr id="21" name="Shape 15"/>
          <p:cNvSpPr/>
          <p:nvPr/>
        </p:nvSpPr>
        <p:spPr>
          <a:xfrm>
            <a:off x="640080" y="4114800"/>
            <a:ext cx="3520440" cy="1965960"/>
          </a:xfrm>
          <a:prstGeom prst="roundRect">
            <a:avLst>
              <a:gd name="adj" fmla="val 4186"/>
            </a:avLst>
          </a:prstGeom>
          <a:solidFill>
            <a:srgbClr val="F5F6F8"/>
          </a:solidFill>
          <a:ln w="12700">
            <a:solidFill>
              <a:srgbClr val="E7E9EE"/>
            </a:solidFill>
            <a:prstDash val="solid"/>
          </a:ln>
          <a:effectLst>
            <a:outerShdw sx="100000" sy="100000" kx="0" ky="0" algn="bl" rotWithShape="0" blurRad="88900" dist="38100" dir="5400000">
              <a:srgbClr val="1F2733">
                <a:alpha val="10000"/>
              </a:srgbClr>
            </a:outerShdw>
          </a:effectLst>
        </p:spPr>
      </p:sp>
      <p:sp>
        <p:nvSpPr>
          <p:cNvPr id="22" name="Shape 16"/>
          <p:cNvSpPr/>
          <p:nvPr/>
        </p:nvSpPr>
        <p:spPr>
          <a:xfrm>
            <a:off x="960120" y="4370832"/>
            <a:ext cx="621792" cy="621792"/>
          </a:xfrm>
          <a:prstGeom prst="ellipse">
            <a:avLst/>
          </a:prstGeom>
          <a:solidFill>
            <a:srgbClr val="D31242"/>
          </a:solidFill>
          <a:ln/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5568" y="4526280"/>
            <a:ext cx="310896" cy="310896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932688" y="5065776"/>
            <a:ext cx="2971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Set it once</a:t>
            </a:r>
            <a:endParaRPr lang="en-US" sz="1400" dirty="0"/>
          </a:p>
        </p:txBody>
      </p:sp>
      <p:sp>
        <p:nvSpPr>
          <p:cNvPr id="25" name="Text 18"/>
          <p:cNvSpPr/>
          <p:nvPr/>
        </p:nvSpPr>
        <p:spPr>
          <a:xfrm>
            <a:off x="932688" y="557784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5E6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Projects cache repeat files. Custom instructions carry your preferences.</a:t>
            </a:r>
            <a:endParaRPr lang="en-US" sz="1050" dirty="0"/>
          </a:p>
        </p:txBody>
      </p:sp>
      <p:sp>
        <p:nvSpPr>
          <p:cNvPr id="26" name="Shape 19"/>
          <p:cNvSpPr/>
          <p:nvPr/>
        </p:nvSpPr>
        <p:spPr>
          <a:xfrm>
            <a:off x="4343400" y="4114800"/>
            <a:ext cx="3520440" cy="1965960"/>
          </a:xfrm>
          <a:prstGeom prst="roundRect">
            <a:avLst>
              <a:gd name="adj" fmla="val 4186"/>
            </a:avLst>
          </a:prstGeom>
          <a:solidFill>
            <a:srgbClr val="F5F6F8"/>
          </a:solidFill>
          <a:ln w="12700">
            <a:solidFill>
              <a:srgbClr val="E7E9EE"/>
            </a:solidFill>
            <a:prstDash val="solid"/>
          </a:ln>
          <a:effectLst>
            <a:outerShdw sx="100000" sy="100000" kx="0" ky="0" algn="bl" rotWithShape="0" blurRad="88900" dist="38100" dir="5400000">
              <a:srgbClr val="1F2733">
                <a:alpha val="10000"/>
              </a:srgbClr>
            </a:outerShdw>
          </a:effectLst>
        </p:spPr>
      </p:sp>
      <p:sp>
        <p:nvSpPr>
          <p:cNvPr id="27" name="Shape 20"/>
          <p:cNvSpPr/>
          <p:nvPr/>
        </p:nvSpPr>
        <p:spPr>
          <a:xfrm>
            <a:off x="4663440" y="4370832"/>
            <a:ext cx="621792" cy="621792"/>
          </a:xfrm>
          <a:prstGeom prst="ellipse">
            <a:avLst/>
          </a:prstGeom>
          <a:solidFill>
            <a:srgbClr val="D31242"/>
          </a:solidFill>
          <a:ln/>
        </p:spPr>
      </p:sp>
      <p:pic>
        <p:nvPicPr>
          <p:cNvPr id="2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18888" y="4526280"/>
            <a:ext cx="310896" cy="310896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4636008" y="5065776"/>
            <a:ext cx="2971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Match the effort</a:t>
            </a:r>
            <a:endParaRPr lang="en-US" sz="1400" dirty="0"/>
          </a:p>
        </p:txBody>
      </p:sp>
      <p:sp>
        <p:nvSpPr>
          <p:cNvPr id="30" name="Text 22"/>
          <p:cNvSpPr/>
          <p:nvPr/>
        </p:nvSpPr>
        <p:spPr>
          <a:xfrm>
            <a:off x="4636008" y="557784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5E6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 mode for quick work, thinking for hard problems — deliberately.</a:t>
            </a:r>
            <a:endParaRPr lang="en-US" sz="1050" dirty="0"/>
          </a:p>
        </p:txBody>
      </p:sp>
      <p:sp>
        <p:nvSpPr>
          <p:cNvPr id="31" name="Shape 23"/>
          <p:cNvSpPr/>
          <p:nvPr/>
        </p:nvSpPr>
        <p:spPr>
          <a:xfrm>
            <a:off x="8046720" y="4114800"/>
            <a:ext cx="3520440" cy="1965960"/>
          </a:xfrm>
          <a:prstGeom prst="roundRect">
            <a:avLst>
              <a:gd name="adj" fmla="val 4186"/>
            </a:avLst>
          </a:prstGeom>
          <a:solidFill>
            <a:srgbClr val="F5F6F8"/>
          </a:solidFill>
          <a:ln w="12700">
            <a:solidFill>
              <a:srgbClr val="E7E9EE"/>
            </a:solidFill>
            <a:prstDash val="solid"/>
          </a:ln>
          <a:effectLst>
            <a:outerShdw sx="100000" sy="100000" kx="0" ky="0" algn="bl" rotWithShape="0" blurRad="88900" dist="38100" dir="5400000">
              <a:srgbClr val="1F2733">
                <a:alpha val="10000"/>
              </a:srgbClr>
            </a:outerShdw>
          </a:effectLst>
        </p:spPr>
      </p:sp>
      <p:sp>
        <p:nvSpPr>
          <p:cNvPr id="32" name="Shape 24"/>
          <p:cNvSpPr/>
          <p:nvPr/>
        </p:nvSpPr>
        <p:spPr>
          <a:xfrm>
            <a:off x="8366760" y="4370832"/>
            <a:ext cx="621792" cy="621792"/>
          </a:xfrm>
          <a:prstGeom prst="ellipse">
            <a:avLst/>
          </a:prstGeom>
          <a:solidFill>
            <a:srgbClr val="D31242"/>
          </a:solidFill>
          <a:ln/>
        </p:spPr>
      </p:sp>
      <p:pic>
        <p:nvPicPr>
          <p:cNvPr id="33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22208" y="4526280"/>
            <a:ext cx="310896" cy="310896"/>
          </a:xfrm>
          <a:prstGeom prst="rect">
            <a:avLst/>
          </a:prstGeom>
        </p:spPr>
      </p:pic>
      <p:sp>
        <p:nvSpPr>
          <p:cNvPr id="34" name="Text 25"/>
          <p:cNvSpPr/>
          <p:nvPr/>
        </p:nvSpPr>
        <p:spPr>
          <a:xfrm>
            <a:off x="8339328" y="5065776"/>
            <a:ext cx="2971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Heavy features on purpose</a:t>
            </a:r>
            <a:endParaRPr lang="en-US" sz="1400" dirty="0"/>
          </a:p>
        </p:txBody>
      </p:sp>
      <p:sp>
        <p:nvSpPr>
          <p:cNvPr id="35" name="Text 26"/>
          <p:cNvSpPr/>
          <p:nvPr/>
        </p:nvSpPr>
        <p:spPr>
          <a:xfrm>
            <a:off x="8339328" y="557784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5E6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 Research, file creation, image generation — aimed, never casual.</a:t>
            </a:r>
            <a:endParaRPr lang="en-US" sz="1050" dirty="0"/>
          </a:p>
        </p:txBody>
      </p:sp>
      <p:sp>
        <p:nvSpPr>
          <p:cNvPr id="36" name="Text 27"/>
          <p:cNvSpPr/>
          <p:nvPr/>
        </p:nvSpPr>
        <p:spPr>
          <a:xfrm>
            <a:off x="64008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8A9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REDUCE USAGE, NOT QUALITY · COMPREHENSIVE</a:t>
            </a:r>
            <a:endParaRPr lang="en-US" sz="850" dirty="0"/>
          </a:p>
        </p:txBody>
      </p:sp>
      <p:sp>
        <p:nvSpPr>
          <p:cNvPr id="37" name="Text 28"/>
          <p:cNvSpPr/>
          <p:nvPr/>
        </p:nvSpPr>
        <p:spPr>
          <a:xfrm>
            <a:off x="6519672" y="641908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i="1" dirty="0">
                <a:solidFill>
                  <a:srgbClr val="8A9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Illustrative training material — not an official BJ's publication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841248" cy="841248"/>
          </a:xfrm>
          <a:prstGeom prst="ellipse">
            <a:avLst/>
          </a:prstGeom>
          <a:solidFill>
            <a:srgbClr val="D31242"/>
          </a:solidFill>
          <a:ln/>
          <a:effectLst>
            <a:outerShdw sx="100000" sy="100000" kx="0" ky="0" algn="bl" rotWithShape="0" blurRad="88900" dist="38100" dir="5400000">
              <a:srgbClr val="1F2733">
                <a:alpha val="10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9536" y="786384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664208" y="548640"/>
            <a:ext cx="9875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31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MENTAL MODEL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664208" y="841248"/>
            <a:ext cx="10058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spc="-30" kern="0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every answer costs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640080" y="2103120"/>
            <a:ext cx="63093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650" dirty="0">
                <a:solidFill>
                  <a:srgbClr val="3A4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These tools measure work in tokens — small pieces of text, roughly 1,000 tokens per 750 words. Your question, your files, and the answer itself all count.</a:t>
            </a:r>
            <a:endParaRPr lang="en-US" sz="1650" dirty="0"/>
          </a:p>
          <a:p>
            <a:pPr indent="0" marL="0">
              <a:lnSpc>
                <a:spcPct val="120000"/>
              </a:lnSpc>
              <a:buNone/>
            </a:pPr>
            <a:endParaRPr lang="en-US" sz="16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650" dirty="0">
                <a:solidFill>
                  <a:srgbClr val="3A4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chat has a working memory (the “context window”). Every message you send makes the tool re-read the entire chat so far — so long chats get heavier with every message, and when the memory fills, answers drift, repeat, or forget.</a:t>
            </a:r>
            <a:endParaRPr lang="en-US" sz="1650" dirty="0"/>
          </a:p>
          <a:p>
            <a:pPr indent="0" marL="0">
              <a:lnSpc>
                <a:spcPct val="120000"/>
              </a:lnSpc>
              <a:buNone/>
            </a:pPr>
            <a:endParaRPr lang="en-US" sz="16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650" dirty="0">
                <a:solidFill>
                  <a:srgbClr val="3A4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That weight is paid in two currencies: quality, in both tools — and money, where usage is metered.</a:t>
            </a:r>
            <a:endParaRPr lang="en-US" sz="1650" dirty="0"/>
          </a:p>
        </p:txBody>
      </p:sp>
      <p:sp>
        <p:nvSpPr>
          <p:cNvPr id="7" name="Shape 4"/>
          <p:cNvSpPr/>
          <p:nvPr/>
        </p:nvSpPr>
        <p:spPr>
          <a:xfrm>
            <a:off x="7269480" y="2103120"/>
            <a:ext cx="4251960" cy="3200400"/>
          </a:xfrm>
          <a:prstGeom prst="roundRect">
            <a:avLst>
              <a:gd name="adj" fmla="val 2571"/>
            </a:avLst>
          </a:prstGeom>
          <a:solidFill>
            <a:srgbClr val="FCE4EA"/>
          </a:solidFill>
          <a:ln/>
        </p:spPr>
      </p:sp>
      <p:sp>
        <p:nvSpPr>
          <p:cNvPr id="8" name="Text 5"/>
          <p:cNvSpPr/>
          <p:nvPr/>
        </p:nvSpPr>
        <p:spPr>
          <a:xfrm>
            <a:off x="7589520" y="23774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D31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RUNNING EXAMPLE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7589520" y="2834640"/>
            <a:ext cx="365760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Priya, a category analyst at BJ's HQ, has a 40-page vendor report.
</a:t>
            </a:r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That one file is roughly 60,000–120,000 tokens attached. She needs a half-page summary and a margin analysis by Thursday.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64008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8A9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REDUCE USAGE, NOT QUALITY · COMPREHENSIVE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6519672" y="641908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i="1" dirty="0">
                <a:solidFill>
                  <a:srgbClr val="8A9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Illustrative training material — not an official BJ's publication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841248" cy="841248"/>
          </a:xfrm>
          <a:prstGeom prst="ellipse">
            <a:avLst/>
          </a:prstGeom>
          <a:solidFill>
            <a:srgbClr val="D31242"/>
          </a:solidFill>
          <a:ln/>
          <a:effectLst>
            <a:outerShdw sx="100000" sy="100000" kx="0" ky="0" algn="bl" rotWithShape="0" blurRad="88900" dist="38100" dir="5400000">
              <a:srgbClr val="1F2733">
                <a:alpha val="10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9536" y="786384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664208" y="548640"/>
            <a:ext cx="9875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31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OUR TOOLS BILL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664208" y="841248"/>
            <a:ext cx="10058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spc="-30" kern="0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meters, two different games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1965960"/>
            <a:ext cx="5349240" cy="1225296"/>
          </a:xfrm>
          <a:prstGeom prst="roundRect">
            <a:avLst>
              <a:gd name="adj" fmla="val 6716"/>
            </a:avLst>
          </a:prstGeom>
          <a:solidFill>
            <a:srgbClr val="F5F6F8"/>
          </a:solidFill>
          <a:ln w="12700">
            <a:solidFill>
              <a:srgbClr val="E7E9EE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914400" y="2350008"/>
            <a:ext cx="457200" cy="457200"/>
          </a:xfrm>
          <a:prstGeom prst="ellipse">
            <a:avLst/>
          </a:prstGeom>
          <a:solidFill>
            <a:srgbClr val="D31242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128" y="2459736"/>
            <a:ext cx="237744" cy="23774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554480" y="2148840"/>
            <a:ext cx="4206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50" b="1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Claude: every message is metered.</a:t>
            </a:r>
            <a:endParaRPr lang="en-US" sz="15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E6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Usage-based billing — chat length, uploads, and thinking all turn into dollars.</a:t>
            </a:r>
            <a:endParaRPr lang="en-US" sz="1550" dirty="0"/>
          </a:p>
        </p:txBody>
      </p:sp>
      <p:sp>
        <p:nvSpPr>
          <p:cNvPr id="10" name="Shape 6"/>
          <p:cNvSpPr/>
          <p:nvPr/>
        </p:nvSpPr>
        <p:spPr>
          <a:xfrm>
            <a:off x="6172200" y="1965960"/>
            <a:ext cx="5349240" cy="1225296"/>
          </a:xfrm>
          <a:prstGeom prst="roundRect">
            <a:avLst>
              <a:gd name="adj" fmla="val 6716"/>
            </a:avLst>
          </a:prstGeom>
          <a:solidFill>
            <a:srgbClr val="F5F6F8"/>
          </a:solidFill>
          <a:ln w="12700">
            <a:solidFill>
              <a:srgbClr val="E7E9EE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6446520" y="2350008"/>
            <a:ext cx="457200" cy="457200"/>
          </a:xfrm>
          <a:prstGeom prst="ellipse">
            <a:avLst/>
          </a:prstGeom>
          <a:solidFill>
            <a:srgbClr val="D31242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6248" y="2459736"/>
            <a:ext cx="237744" cy="237744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7086600" y="2148840"/>
            <a:ext cx="4206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50" b="1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ChatGPT: regular messages cost nothing.</a:t>
            </a:r>
            <a:endParaRPr lang="en-US" sz="15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E6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Seat-based. An ordinary message is free however long — the cost there is quality.</a:t>
            </a:r>
            <a:endParaRPr lang="en-US" sz="1550" dirty="0"/>
          </a:p>
        </p:txBody>
      </p:sp>
      <p:sp>
        <p:nvSpPr>
          <p:cNvPr id="14" name="Shape 9"/>
          <p:cNvSpPr/>
          <p:nvPr/>
        </p:nvSpPr>
        <p:spPr>
          <a:xfrm>
            <a:off x="640080" y="3355848"/>
            <a:ext cx="5349240" cy="1225296"/>
          </a:xfrm>
          <a:prstGeom prst="roundRect">
            <a:avLst>
              <a:gd name="adj" fmla="val 6716"/>
            </a:avLst>
          </a:prstGeom>
          <a:solidFill>
            <a:srgbClr val="F5F6F8"/>
          </a:solidFill>
          <a:ln w="12700">
            <a:solidFill>
              <a:srgbClr val="E7E9EE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914400" y="3739896"/>
            <a:ext cx="457200" cy="457200"/>
          </a:xfrm>
          <a:prstGeom prst="ellipse">
            <a:avLst/>
          </a:prstGeom>
          <a:solidFill>
            <a:srgbClr val="D31242"/>
          </a:solidFill>
          <a:ln/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4128" y="3849624"/>
            <a:ext cx="237744" cy="237744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554480" y="3538728"/>
            <a:ext cx="4206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50" b="1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ChatGPT: advanced features spend credits.</a:t>
            </a:r>
            <a:endParaRPr lang="en-US" sz="15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E6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Thinking, Deep Research, images, voice, agents draw a paid pool. Credits are dollars.</a:t>
            </a:r>
            <a:endParaRPr lang="en-US" sz="1550" dirty="0"/>
          </a:p>
        </p:txBody>
      </p:sp>
      <p:sp>
        <p:nvSpPr>
          <p:cNvPr id="18" name="Shape 12"/>
          <p:cNvSpPr/>
          <p:nvPr/>
        </p:nvSpPr>
        <p:spPr>
          <a:xfrm>
            <a:off x="6172200" y="3355848"/>
            <a:ext cx="5349240" cy="1225296"/>
          </a:xfrm>
          <a:prstGeom prst="roundRect">
            <a:avLst>
              <a:gd name="adj" fmla="val 6716"/>
            </a:avLst>
          </a:prstGeom>
          <a:solidFill>
            <a:srgbClr val="F5F6F8"/>
          </a:solidFill>
          <a:ln w="12700">
            <a:solidFill>
              <a:srgbClr val="E7E9EE"/>
            </a:solidFill>
            <a:prstDash val="solid"/>
          </a:ln>
        </p:spPr>
      </p:sp>
      <p:sp>
        <p:nvSpPr>
          <p:cNvPr id="19" name="Shape 13"/>
          <p:cNvSpPr/>
          <p:nvPr/>
        </p:nvSpPr>
        <p:spPr>
          <a:xfrm>
            <a:off x="6446520" y="3739896"/>
            <a:ext cx="457200" cy="457200"/>
          </a:xfrm>
          <a:prstGeom prst="ellipse">
            <a:avLst/>
          </a:prstGeom>
          <a:solidFill>
            <a:srgbClr val="D31242"/>
          </a:solidFill>
          <a:ln/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56248" y="3849624"/>
            <a:ext cx="237744" cy="237744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7086600" y="3538728"/>
            <a:ext cx="4206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50" b="1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Hitting a limit means the same thing in both.</a:t>
            </a:r>
            <a:endParaRPr lang="en-US" sz="15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E6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Someone paid for waste. The six levers are the fix.</a:t>
            </a:r>
            <a:endParaRPr lang="en-US" sz="1550" dirty="0"/>
          </a:p>
        </p:txBody>
      </p:sp>
      <p:sp>
        <p:nvSpPr>
          <p:cNvPr id="22" name="Text 15"/>
          <p:cNvSpPr/>
          <p:nvPr/>
        </p:nvSpPr>
        <p:spPr>
          <a:xfrm>
            <a:off x="64008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8A9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REDUCE USAGE, NOT QUALITY · COMPREHENSIVE</a:t>
            </a:r>
            <a:endParaRPr lang="en-US" sz="850" dirty="0"/>
          </a:p>
        </p:txBody>
      </p:sp>
      <p:sp>
        <p:nvSpPr>
          <p:cNvPr id="23" name="Text 16"/>
          <p:cNvSpPr/>
          <p:nvPr/>
        </p:nvSpPr>
        <p:spPr>
          <a:xfrm>
            <a:off x="6519672" y="641908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i="1" dirty="0">
                <a:solidFill>
                  <a:srgbClr val="8A9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Illustrative training material — not an official BJ's publication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841248" cy="841248"/>
          </a:xfrm>
          <a:prstGeom prst="ellipse">
            <a:avLst/>
          </a:prstGeom>
          <a:solidFill>
            <a:srgbClr val="D31242"/>
          </a:solidFill>
          <a:ln/>
          <a:effectLst>
            <a:outerShdw sx="100000" sy="100000" kx="0" ky="0" algn="bl" rotWithShape="0" blurRad="88900" dist="38100" dir="5400000">
              <a:srgbClr val="1F2733">
                <a:alpha val="10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9536" y="786384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664208" y="548640"/>
            <a:ext cx="9875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31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LEVER 1 · ASK BETTER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664208" y="841248"/>
            <a:ext cx="10058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spc="-30" kern="0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Front-load one complete ask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2103120"/>
            <a:ext cx="5303520" cy="3611880"/>
          </a:xfrm>
          <a:prstGeom prst="roundRect">
            <a:avLst>
              <a:gd name="adj" fmla="val 2278"/>
            </a:avLst>
          </a:prstGeom>
          <a:solidFill>
            <a:srgbClr val="F5F6F8"/>
          </a:solidFill>
          <a:ln w="12700">
            <a:solidFill>
              <a:srgbClr val="E7E9EE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914400" y="228600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5E6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DRIP-FEED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914400" y="2578608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i="1" dirty="0">
                <a:solidFill>
                  <a:srgbClr val="5E6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“Summarize this report.”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914400" y="329184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B9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YOU GET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914400" y="3611880"/>
            <a:ext cx="4754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400" b="1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generic summary — then four follow-ups to fix length, focus, and format. Five answers paid for, one used.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914400" y="502920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E6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correction re-reads the whole chat.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6217920" y="2103120"/>
            <a:ext cx="5303520" cy="3611880"/>
          </a:xfrm>
          <a:prstGeom prst="roundRect">
            <a:avLst>
              <a:gd name="adj" fmla="val 2278"/>
            </a:avLst>
          </a:prstGeom>
          <a:solidFill>
            <a:srgbClr val="DCFCE7"/>
          </a:solidFill>
          <a:ln/>
        </p:spPr>
      </p:sp>
      <p:sp>
        <p:nvSpPr>
          <p:cNvPr id="13" name="Text 10"/>
          <p:cNvSpPr/>
          <p:nvPr/>
        </p:nvSpPr>
        <p:spPr>
          <a:xfrm>
            <a:off x="6492240" y="228600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1580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COMPLETE ASK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6492240" y="2578608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i="1" dirty="0">
                <a:solidFill>
                  <a:srgbClr val="1580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“Summarize for a line review: top 3 drivers, the margin risk, one recommendation. Half a page, bullets.”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6492240" y="329184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580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YOU GET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6492240" y="3611880"/>
            <a:ext cx="4754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400" b="1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usable answer on the first attempt. Batch related questions the same way — one message, not three.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6492240" y="502920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1580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Task, audience, content, length, format — up front.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64008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8A9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REDUCE USAGE, NOT QUALITY · COMPREHENSIVE</a:t>
            </a:r>
            <a:endParaRPr lang="en-US" sz="850" dirty="0"/>
          </a:p>
        </p:txBody>
      </p:sp>
      <p:sp>
        <p:nvSpPr>
          <p:cNvPr id="19" name="Text 16"/>
          <p:cNvSpPr/>
          <p:nvPr/>
        </p:nvSpPr>
        <p:spPr>
          <a:xfrm>
            <a:off x="6519672" y="641908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i="1" dirty="0">
                <a:solidFill>
                  <a:srgbClr val="8A9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Illustrative training material — not an official BJ's publication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841248" cy="841248"/>
          </a:xfrm>
          <a:prstGeom prst="ellipse">
            <a:avLst/>
          </a:prstGeom>
          <a:solidFill>
            <a:srgbClr val="D31242"/>
          </a:solidFill>
          <a:ln/>
          <a:effectLst>
            <a:outerShdw sx="100000" sy="100000" kx="0" ky="0" algn="bl" rotWithShape="0" blurRad="88900" dist="38100" dir="5400000">
              <a:srgbClr val="1F2733">
                <a:alpha val="10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9536" y="786384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664208" y="548640"/>
            <a:ext cx="9875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31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LEVER 1 · ASK BETTER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664208" y="841248"/>
            <a:ext cx="10058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spc="-30" kern="0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 for the size and shape you want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2103120"/>
            <a:ext cx="5303520" cy="3611880"/>
          </a:xfrm>
          <a:prstGeom prst="roundRect">
            <a:avLst>
              <a:gd name="adj" fmla="val 2278"/>
            </a:avLst>
          </a:prstGeom>
          <a:solidFill>
            <a:srgbClr val="F5F6F8"/>
          </a:solidFill>
          <a:ln w="12700">
            <a:solidFill>
              <a:srgbClr val="E7E9EE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914400" y="228600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5E6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UNSPECIFIED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914400" y="2578608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i="1" dirty="0">
                <a:solidFill>
                  <a:srgbClr val="5E6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“What should I flag about this vendor?”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914400" y="329184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B9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YOU GET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914400" y="3611880"/>
            <a:ext cx="4754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400" b="1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screens of prose with a recap and a pep talk. Answers cost output tokens on Claude — and bury the point.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914400" y="502920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E6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tool pads when you don't set the shape.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6217920" y="2103120"/>
            <a:ext cx="5303520" cy="3611880"/>
          </a:xfrm>
          <a:prstGeom prst="roundRect">
            <a:avLst>
              <a:gd name="adj" fmla="val 2278"/>
            </a:avLst>
          </a:prstGeom>
          <a:solidFill>
            <a:srgbClr val="DCFCE7"/>
          </a:solidFill>
          <a:ln/>
        </p:spPr>
      </p:sp>
      <p:sp>
        <p:nvSpPr>
          <p:cNvPr id="13" name="Text 10"/>
          <p:cNvSpPr/>
          <p:nvPr/>
        </p:nvSpPr>
        <p:spPr>
          <a:xfrm>
            <a:off x="6492240" y="228600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1580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RIGHT-SIZED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6492240" y="2578608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i="1" dirty="0">
                <a:solidFill>
                  <a:srgbClr val="1580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“Top 5 flags, one line each, no intro or summary.”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6492240" y="329184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580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YOU GET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6492240" y="3611880"/>
            <a:ext cx="4754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400" b="1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Five lines Priya can paste straight into her notes.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6492240" y="502920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1580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 is metered on Claude just like input.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64008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8A9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REDUCE USAGE, NOT QUALITY · COMPREHENSIVE</a:t>
            </a:r>
            <a:endParaRPr lang="en-US" sz="850" dirty="0"/>
          </a:p>
        </p:txBody>
      </p:sp>
      <p:sp>
        <p:nvSpPr>
          <p:cNvPr id="19" name="Text 16"/>
          <p:cNvSpPr/>
          <p:nvPr/>
        </p:nvSpPr>
        <p:spPr>
          <a:xfrm>
            <a:off x="6519672" y="641908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i="1" dirty="0">
                <a:solidFill>
                  <a:srgbClr val="8A9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Illustrative training material — not an official BJ's publication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841248" cy="841248"/>
          </a:xfrm>
          <a:prstGeom prst="ellipse">
            <a:avLst/>
          </a:prstGeom>
          <a:solidFill>
            <a:srgbClr val="D31242"/>
          </a:solidFill>
          <a:ln/>
          <a:effectLst>
            <a:outerShdw sx="100000" sy="100000" kx="0" ky="0" algn="bl" rotWithShape="0" blurRad="88900" dist="38100" dir="5400000">
              <a:srgbClr val="1F2733">
                <a:alpha val="10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9536" y="786384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664208" y="548640"/>
            <a:ext cx="9875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31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LEVER 1 · ASK BETTER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664208" y="841248"/>
            <a:ext cx="10058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spc="-30" kern="0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Edit your ask — don't stack corrections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2103120"/>
            <a:ext cx="5303520" cy="3611880"/>
          </a:xfrm>
          <a:prstGeom prst="roundRect">
            <a:avLst>
              <a:gd name="adj" fmla="val 2278"/>
            </a:avLst>
          </a:prstGeom>
          <a:solidFill>
            <a:srgbClr val="F5F6F8"/>
          </a:solidFill>
          <a:ln w="12700">
            <a:solidFill>
              <a:srgbClr val="E7E9EE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914400" y="228600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5E6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STACKING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914400" y="2578608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i="1" dirty="0">
                <a:solidFill>
                  <a:srgbClr val="5E6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“No, shorter.” … “Make it casual.” … “Drop the intro.”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914400" y="329184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B9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YOU GET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914400" y="3611880"/>
            <a:ext cx="4754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400" b="1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bad answer and every correction stay in history — re-read and re-billed on every message after.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914400" y="502920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E6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keep paying for the miss, forever.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6217920" y="2103120"/>
            <a:ext cx="5303520" cy="3611880"/>
          </a:xfrm>
          <a:prstGeom prst="roundRect">
            <a:avLst>
              <a:gd name="adj" fmla="val 2278"/>
            </a:avLst>
          </a:prstGeom>
          <a:solidFill>
            <a:srgbClr val="DCFCE7"/>
          </a:solidFill>
          <a:ln/>
        </p:spPr>
      </p:sp>
      <p:sp>
        <p:nvSpPr>
          <p:cNvPr id="13" name="Text 10"/>
          <p:cNvSpPr/>
          <p:nvPr/>
        </p:nvSpPr>
        <p:spPr>
          <a:xfrm>
            <a:off x="6492240" y="228600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1580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EDIT &amp; REGENERATE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6492240" y="2578608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i="1" dirty="0">
                <a:solidFill>
                  <a:srgbClr val="1580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Hover over your message, click the edit (pencil) icon, fix the wording, regenerate.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6492240" y="329184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580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YOU GET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6492240" y="3611880"/>
            <a:ext cx="4754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400" b="1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failed exchange is replaced, not carried. Works in both tools.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6492240" y="502920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1580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Usage guides rank this the single highest-return habit.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64008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8A9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REDUCE USAGE, NOT QUALITY · COMPREHENSIVE</a:t>
            </a:r>
            <a:endParaRPr lang="en-US" sz="850" dirty="0"/>
          </a:p>
        </p:txBody>
      </p:sp>
      <p:sp>
        <p:nvSpPr>
          <p:cNvPr id="19" name="Text 16"/>
          <p:cNvSpPr/>
          <p:nvPr/>
        </p:nvSpPr>
        <p:spPr>
          <a:xfrm>
            <a:off x="6519672" y="641908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i="1" dirty="0">
                <a:solidFill>
                  <a:srgbClr val="8A9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Illustrative training material — not an official BJ's publication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841248" cy="841248"/>
          </a:xfrm>
          <a:prstGeom prst="ellipse">
            <a:avLst/>
          </a:prstGeom>
          <a:solidFill>
            <a:srgbClr val="D31242"/>
          </a:solidFill>
          <a:ln/>
          <a:effectLst>
            <a:outerShdw sx="100000" sy="100000" kx="0" ky="0" algn="bl" rotWithShape="0" blurRad="88900" dist="38100" dir="5400000">
              <a:srgbClr val="1F2733">
                <a:alpha val="10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9536" y="786384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664208" y="548640"/>
            <a:ext cx="9875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31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LEVER 1 · ASK BETTER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664208" y="841248"/>
            <a:ext cx="10058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spc="-30" kern="0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Efficient doesn't mean starving the tool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2103120"/>
            <a:ext cx="5303520" cy="3611880"/>
          </a:xfrm>
          <a:prstGeom prst="roundRect">
            <a:avLst>
              <a:gd name="adj" fmla="val 2278"/>
            </a:avLst>
          </a:prstGeom>
          <a:solidFill>
            <a:srgbClr val="F5F6F8"/>
          </a:solidFill>
          <a:ln w="12700">
            <a:solidFill>
              <a:srgbClr val="E7E9EE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914400" y="228600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5E6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STARVED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914400" y="2578608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i="1" dirty="0">
                <a:solidFill>
                  <a:srgbClr val="5E6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“Fix the numbers.”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914400" y="329184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B9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YOU GET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914400" y="3611880"/>
            <a:ext cx="4754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400" b="1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tool guesses which numbers and how. Three re-dos later, this “short” prompt is the most expensive one all week.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914400" y="502920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E6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Missing context is paid back with interest.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6217920" y="2103120"/>
            <a:ext cx="5303520" cy="3611880"/>
          </a:xfrm>
          <a:prstGeom prst="roundRect">
            <a:avLst>
              <a:gd name="adj" fmla="val 2278"/>
            </a:avLst>
          </a:prstGeom>
          <a:solidFill>
            <a:srgbClr val="DCFCE7"/>
          </a:solidFill>
          <a:ln/>
        </p:spPr>
      </p:sp>
      <p:sp>
        <p:nvSpPr>
          <p:cNvPr id="13" name="Text 10"/>
          <p:cNvSpPr/>
          <p:nvPr/>
        </p:nvSpPr>
        <p:spPr>
          <a:xfrm>
            <a:off x="6492240" y="228600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1580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 BUT LEAN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6492240" y="2578608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i="1" dirty="0">
                <a:solidFill>
                  <a:srgbClr val="1580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“In the margin table below, recalculate column D as a % of column B and flag anything under 12%.”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6492240" y="329184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580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YOU GET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6492240" y="3611880"/>
            <a:ext cx="4754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400" b="1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Right the first time. Complete beats short.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6492240" y="502920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1580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cheapest answer is the one you don't redo.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64008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8A9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REDUCE USAGE, NOT QUALITY · COMPREHENSIVE</a:t>
            </a:r>
            <a:endParaRPr lang="en-US" sz="850" dirty="0"/>
          </a:p>
        </p:txBody>
      </p:sp>
      <p:sp>
        <p:nvSpPr>
          <p:cNvPr id="19" name="Text 16"/>
          <p:cNvSpPr/>
          <p:nvPr/>
        </p:nvSpPr>
        <p:spPr>
          <a:xfrm>
            <a:off x="6519672" y="641908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i="1" dirty="0">
                <a:solidFill>
                  <a:srgbClr val="8A9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Illustrative training material — not an official BJ's publication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841248" cy="841248"/>
          </a:xfrm>
          <a:prstGeom prst="ellipse">
            <a:avLst/>
          </a:prstGeom>
          <a:solidFill>
            <a:srgbClr val="D31242"/>
          </a:solidFill>
          <a:ln/>
          <a:effectLst>
            <a:outerShdw sx="100000" sy="100000" kx="0" ky="0" algn="bl" rotWithShape="0" blurRad="88900" dist="38100" dir="5400000">
              <a:srgbClr val="1F2733">
                <a:alpha val="10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9536" y="786384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664208" y="548640"/>
            <a:ext cx="9875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31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LEVER 2 · KEEP CHATS LEAN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664208" y="841248"/>
            <a:ext cx="10058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spc="-30" kern="0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chat, new task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2103120"/>
            <a:ext cx="5303520" cy="3611880"/>
          </a:xfrm>
          <a:prstGeom prst="roundRect">
            <a:avLst>
              <a:gd name="adj" fmla="val 2278"/>
            </a:avLst>
          </a:prstGeom>
          <a:solidFill>
            <a:srgbClr val="F5F6F8"/>
          </a:solidFill>
          <a:ln w="12700">
            <a:solidFill>
              <a:srgbClr val="E7E9EE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914400" y="228600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5E6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GIANT THREAD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914400" y="2578608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i="1" dirty="0">
                <a:solidFill>
                  <a:srgbClr val="5E6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Priya reuses last week's long thread for this week's vendor.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914400" y="329184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B9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YOU GET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914400" y="3611880"/>
            <a:ext cx="4754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400" b="1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message re-reads weeks of history — most usage in long sessions is re-reading, not new work. Answers drift and mix up vendors.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914400" y="502920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E6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Yesterday's topic is a tax on today's.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6217920" y="2103120"/>
            <a:ext cx="5303520" cy="3611880"/>
          </a:xfrm>
          <a:prstGeom prst="roundRect">
            <a:avLst>
              <a:gd name="adj" fmla="val 2278"/>
            </a:avLst>
          </a:prstGeom>
          <a:solidFill>
            <a:srgbClr val="DCFCE7"/>
          </a:solidFill>
          <a:ln/>
        </p:spPr>
      </p:sp>
      <p:sp>
        <p:nvSpPr>
          <p:cNvPr id="13" name="Text 10"/>
          <p:cNvSpPr/>
          <p:nvPr/>
        </p:nvSpPr>
        <p:spPr>
          <a:xfrm>
            <a:off x="6492240" y="228600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1580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FRESH CHAT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6492240" y="2578608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i="1" dirty="0">
                <a:solidFill>
                  <a:srgbClr val="1580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task, new chat — every time.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6492240" y="329184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580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YOU GET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6492240" y="3611880"/>
            <a:ext cx="4754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400" b="1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Light, sharp, on-topic answers. Old chats stay saved; starting fresh loses nothing.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6492240" y="502920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1580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simplest habit on this list.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64008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8A9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REDUCE USAGE, NOT QUALITY · COMPREHENSIVE</a:t>
            </a:r>
            <a:endParaRPr lang="en-US" sz="850" dirty="0"/>
          </a:p>
        </p:txBody>
      </p:sp>
      <p:sp>
        <p:nvSpPr>
          <p:cNvPr id="19" name="Text 16"/>
          <p:cNvSpPr/>
          <p:nvPr/>
        </p:nvSpPr>
        <p:spPr>
          <a:xfrm>
            <a:off x="6519672" y="641908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i="1" dirty="0">
                <a:solidFill>
                  <a:srgbClr val="8A9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Illustrative training material — not an official BJ's publication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841248" cy="841248"/>
          </a:xfrm>
          <a:prstGeom prst="ellipse">
            <a:avLst/>
          </a:prstGeom>
          <a:solidFill>
            <a:srgbClr val="D31242"/>
          </a:solidFill>
          <a:ln/>
          <a:effectLst>
            <a:outerShdw sx="100000" sy="100000" kx="0" ky="0" algn="bl" rotWithShape="0" blurRad="88900" dist="38100" dir="5400000">
              <a:srgbClr val="1F2733">
                <a:alpha val="10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9536" y="786384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664208" y="548640"/>
            <a:ext cx="9875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31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LEVER 2 · KEEP CHATS LEAN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664208" y="841248"/>
            <a:ext cx="10058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spc="-30" kern="0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 back — and when a chat runs long, summarize and restart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640080" y="2103120"/>
            <a:ext cx="63093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650" dirty="0">
                <a:solidFill>
                  <a:srgbClr val="3A4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Inside a chat, don't re-paste what the tool already has. Refer back — “using the table above”, “as mentioned earlier”. It remembers everything in the conversation; repeating it just doubles the weight.</a:t>
            </a:r>
            <a:endParaRPr lang="en-US" sz="1650" dirty="0"/>
          </a:p>
          <a:p>
            <a:pPr indent="0" marL="0">
              <a:lnSpc>
                <a:spcPct val="120000"/>
              </a:lnSpc>
              <a:buNone/>
            </a:pPr>
            <a:endParaRPr lang="en-US" sz="16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650" dirty="0">
                <a:solidFill>
                  <a:srgbClr val="3A4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when a working session runs long (roughly 20–30 messages) but you still need what's in it: ask for a summary of decisions, current state, and open questions — copy it, and paste it as the first message of a fresh chat.</a:t>
            </a:r>
            <a:endParaRPr lang="en-US" sz="1650" dirty="0"/>
          </a:p>
          <a:p>
            <a:pPr indent="0" marL="0">
              <a:lnSpc>
                <a:spcPct val="120000"/>
              </a:lnSpc>
              <a:buNone/>
            </a:pPr>
            <a:endParaRPr lang="en-US" sz="16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650" dirty="0">
                <a:solidFill>
                  <a:srgbClr val="3A4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keep the knowledge and drop the baggage.</a:t>
            </a:r>
            <a:endParaRPr lang="en-US" sz="1650" dirty="0"/>
          </a:p>
        </p:txBody>
      </p:sp>
      <p:sp>
        <p:nvSpPr>
          <p:cNvPr id="7" name="Shape 4"/>
          <p:cNvSpPr/>
          <p:nvPr/>
        </p:nvSpPr>
        <p:spPr>
          <a:xfrm>
            <a:off x="7269480" y="2103120"/>
            <a:ext cx="4251960" cy="3200400"/>
          </a:xfrm>
          <a:prstGeom prst="roundRect">
            <a:avLst>
              <a:gd name="adj" fmla="val 2571"/>
            </a:avLst>
          </a:prstGeom>
          <a:solidFill>
            <a:srgbClr val="F5F6F8"/>
          </a:solidFill>
          <a:ln w="12700">
            <a:solidFill>
              <a:srgbClr val="E7E9EE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589520" y="23774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D31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PRIYA'S MOVE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7589520" y="2834640"/>
            <a:ext cx="365760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i="1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“Summarize what we've settled: final flags, agreed format, open questions — as a brief I can reuse.”
</a:t>
            </a:r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Pasted into a new chat, work continues at a fraction of the weight.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64008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8A9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REDUCE USAGE, NOT QUALITY · COMPREHENSIVE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6519672" y="641908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i="1" dirty="0">
                <a:solidFill>
                  <a:srgbClr val="8A9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Illustrative training material — not an official BJ's publication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841248" cy="841248"/>
          </a:xfrm>
          <a:prstGeom prst="ellipse">
            <a:avLst/>
          </a:prstGeom>
          <a:solidFill>
            <a:srgbClr val="D31242"/>
          </a:solidFill>
          <a:ln/>
          <a:effectLst>
            <a:outerShdw sx="100000" sy="100000" kx="0" ky="0" algn="bl" rotWithShape="0" blurRad="88900" dist="38100" dir="5400000">
              <a:srgbClr val="1F2733">
                <a:alpha val="10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9536" y="786384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664208" y="548640"/>
            <a:ext cx="9875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31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LEVER 3 · ATTACH LESS, SMARTER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664208" y="841248"/>
            <a:ext cx="10058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spc="-30" kern="0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Attach only what matters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2103120"/>
            <a:ext cx="5303520" cy="3611880"/>
          </a:xfrm>
          <a:prstGeom prst="roundRect">
            <a:avLst>
              <a:gd name="adj" fmla="val 2278"/>
            </a:avLst>
          </a:prstGeom>
          <a:solidFill>
            <a:srgbClr val="F5F6F8"/>
          </a:solidFill>
          <a:ln w="12700">
            <a:solidFill>
              <a:srgbClr val="E7E9EE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914400" y="228600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5E6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WHOLE FILE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914400" y="2578608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i="1" dirty="0">
                <a:solidFill>
                  <a:srgbClr val="5E6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Priya attaches all 40 pages to ask about one category.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914400" y="329184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B9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YOU GET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914400" y="3611880"/>
            <a:ext cx="4754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400" b="1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60,000–120,000 tokens gone before she asks anything — pages are billed as text AND page images, roughly double the words alone.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914400" y="502920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E6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fat document can eat most of the space.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6217920" y="2103120"/>
            <a:ext cx="5303520" cy="3611880"/>
          </a:xfrm>
          <a:prstGeom prst="roundRect">
            <a:avLst>
              <a:gd name="adj" fmla="val 2278"/>
            </a:avLst>
          </a:prstGeom>
          <a:solidFill>
            <a:srgbClr val="DCFCE7"/>
          </a:solidFill>
          <a:ln/>
        </p:spPr>
      </p:sp>
      <p:sp>
        <p:nvSpPr>
          <p:cNvPr id="13" name="Text 10"/>
          <p:cNvSpPr/>
          <p:nvPr/>
        </p:nvSpPr>
        <p:spPr>
          <a:xfrm>
            <a:off x="6492240" y="228600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1580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JUST THE RELEVANT PART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6492240" y="2578608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i="1" dirty="0">
                <a:solidFill>
                  <a:srgbClr val="1580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She attaches the 6-page category section she actually needs.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6492240" y="329184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580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YOU GET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6492240" y="3611880"/>
            <a:ext cx="4754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400" b="1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Sharp answers at a fraction of the usage. Whole-document analysis is fine when that's the task — the waste is 40 pages for a 6-page question.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6492240" y="502920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1580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Applies to Word docs, decks, and spreadsheets too.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64008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8A9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REDUCE USAGE, NOT QUALITY · COMPREHENSIVE</a:t>
            </a:r>
            <a:endParaRPr lang="en-US" sz="850" dirty="0"/>
          </a:p>
        </p:txBody>
      </p:sp>
      <p:sp>
        <p:nvSpPr>
          <p:cNvPr id="19" name="Text 16"/>
          <p:cNvSpPr/>
          <p:nvPr/>
        </p:nvSpPr>
        <p:spPr>
          <a:xfrm>
            <a:off x="6519672" y="641908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i="1" dirty="0">
                <a:solidFill>
                  <a:srgbClr val="8A9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Illustrative training material — not an official BJ's publication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841248" cy="841248"/>
          </a:xfrm>
          <a:prstGeom prst="ellipse">
            <a:avLst/>
          </a:prstGeom>
          <a:solidFill>
            <a:srgbClr val="D31242"/>
          </a:solidFill>
          <a:ln/>
          <a:effectLst>
            <a:outerShdw sx="100000" sy="100000" kx="0" ky="0" algn="bl" rotWithShape="0" blurRad="88900" dist="38100" dir="5400000">
              <a:srgbClr val="1F2733">
                <a:alpha val="10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9536" y="786384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664208" y="548640"/>
            <a:ext cx="9875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31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LEVER 3 · ATTACH LESS, SMARTER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664208" y="841248"/>
            <a:ext cx="10058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spc="-30" kern="0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Paste text — don't screenshot it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640080" y="2103120"/>
            <a:ext cx="63093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650" dirty="0">
                <a:solidFill>
                  <a:srgbClr val="3A4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Images are expensive for these tools to read. A screenshot of an email costs many times what the same words cost as pasted text — and the pasted version is read more accurately.</a:t>
            </a:r>
            <a:endParaRPr lang="en-US" sz="1650" dirty="0"/>
          </a:p>
          <a:p>
            <a:pPr indent="0" marL="0">
              <a:lnSpc>
                <a:spcPct val="120000"/>
              </a:lnSpc>
              <a:buNone/>
            </a:pPr>
            <a:endParaRPr lang="en-US" sz="16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650" dirty="0">
                <a:solidFill>
                  <a:srgbClr val="3A4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Upload an image only when the visual itself is the question: a chart to interpret, a shelf photo, a form layout.</a:t>
            </a:r>
            <a:endParaRPr lang="en-US" sz="1650" dirty="0"/>
          </a:p>
          <a:p>
            <a:pPr indent="0" marL="0">
              <a:lnSpc>
                <a:spcPct val="120000"/>
              </a:lnSpc>
              <a:buNone/>
            </a:pPr>
            <a:endParaRPr lang="en-US" sz="16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650" dirty="0">
                <a:solidFill>
                  <a:srgbClr val="3A4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it's words on a screen — an email, a Teams thread, a table — select, copy, paste.</a:t>
            </a:r>
            <a:endParaRPr lang="en-US" sz="1650" dirty="0"/>
          </a:p>
        </p:txBody>
      </p:sp>
      <p:sp>
        <p:nvSpPr>
          <p:cNvPr id="7" name="Shape 4"/>
          <p:cNvSpPr/>
          <p:nvPr/>
        </p:nvSpPr>
        <p:spPr>
          <a:xfrm>
            <a:off x="7269480" y="2103120"/>
            <a:ext cx="4251960" cy="3200400"/>
          </a:xfrm>
          <a:prstGeom prst="roundRect">
            <a:avLst>
              <a:gd name="adj" fmla="val 2571"/>
            </a:avLst>
          </a:prstGeom>
          <a:solidFill>
            <a:srgbClr val="F5F6F8"/>
          </a:solidFill>
          <a:ln w="12700">
            <a:solidFill>
              <a:srgbClr val="E7E9EE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589520" y="23774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D31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RULE OF THUMB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7589520" y="2834640"/>
            <a:ext cx="365760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 the picture the point?
</a:t>
            </a:r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Yes → attach the image.
No, it's just text in a picture → paste the text.
</a:t>
            </a:r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Applies in both tools.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64008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8A9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REDUCE USAGE, NOT QUALITY · COMPREHENSIVE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6519672" y="641908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i="1" dirty="0">
                <a:solidFill>
                  <a:srgbClr val="8A9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Illustrative training material — not an official BJ's publication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841248" cy="841248"/>
          </a:xfrm>
          <a:prstGeom prst="ellipse">
            <a:avLst/>
          </a:prstGeom>
          <a:solidFill>
            <a:srgbClr val="D31242"/>
          </a:solidFill>
          <a:ln/>
          <a:effectLst>
            <a:outerShdw sx="100000" sy="100000" kx="0" ky="0" algn="bl" rotWithShape="0" blurRad="88900" dist="38100" dir="5400000">
              <a:srgbClr val="1F2733">
                <a:alpha val="10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9536" y="786384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664208" y="548640"/>
            <a:ext cx="9875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31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LEVER 3 · ATTACH LESS, SMARTER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664208" y="841248"/>
            <a:ext cx="10058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spc="-30" kern="0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Heavy file, light question? Convert it to plain text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640080" y="2103120"/>
            <a:ext cx="63093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650" dirty="0">
                <a:solidFill>
                  <a:srgbClr val="3A4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only the words matter, a formatted PDF or Word file is expensive packaging — a 15-page PDF re-uploaded across chats can burn 100,000+ tokens where its plain text runs a few thousand.</a:t>
            </a:r>
            <a:endParaRPr lang="en-US" sz="1650" dirty="0"/>
          </a:p>
          <a:p>
            <a:pPr indent="0" marL="0">
              <a:lnSpc>
                <a:spcPct val="120000"/>
              </a:lnSpc>
              <a:buNone/>
            </a:pPr>
            <a:endParaRPr lang="en-US" sz="16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650" dirty="0">
                <a:solidFill>
                  <a:srgbClr val="3A4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Fastest path: open the document, select all, copy, paste the text into the chat — or save it as a .txt/.md file if you'll reuse it.</a:t>
            </a:r>
            <a:endParaRPr lang="en-US" sz="1650" dirty="0"/>
          </a:p>
          <a:p>
            <a:pPr indent="0" marL="0">
              <a:lnSpc>
                <a:spcPct val="120000"/>
              </a:lnSpc>
              <a:buNone/>
            </a:pPr>
            <a:endParaRPr lang="en-US" sz="16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650" dirty="0">
                <a:solidFill>
                  <a:srgbClr val="3A4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 the original file only when layout, tables, or visuals carry meaning.</a:t>
            </a:r>
            <a:endParaRPr lang="en-US" sz="1650" dirty="0"/>
          </a:p>
        </p:txBody>
      </p:sp>
      <p:sp>
        <p:nvSpPr>
          <p:cNvPr id="7" name="Shape 4"/>
          <p:cNvSpPr/>
          <p:nvPr/>
        </p:nvSpPr>
        <p:spPr>
          <a:xfrm>
            <a:off x="7269480" y="2103120"/>
            <a:ext cx="4251960" cy="3200400"/>
          </a:xfrm>
          <a:prstGeom prst="roundRect">
            <a:avLst>
              <a:gd name="adj" fmla="val 2571"/>
            </a:avLst>
          </a:prstGeom>
          <a:solidFill>
            <a:srgbClr val="F5F6F8"/>
          </a:solidFill>
          <a:ln w="12700">
            <a:solidFill>
              <a:srgbClr val="E7E9EE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589520" y="23774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D31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PRIYA'S SHORTCUT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7589520" y="2834640"/>
            <a:ext cx="365760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6-page section pasted as text: about 5,000 tokens — versus tens of thousands attached as PDF.
</a:t>
            </a:r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Reused weekly? Into her Project — next lever.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64008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8A9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REDUCE USAGE, NOT QUALITY · COMPREHENSIVE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6519672" y="641908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i="1" dirty="0">
                <a:solidFill>
                  <a:srgbClr val="8A9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Illustrative training material — not an official BJ's publication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841248" cy="841248"/>
          </a:xfrm>
          <a:prstGeom prst="ellipse">
            <a:avLst/>
          </a:prstGeom>
          <a:solidFill>
            <a:srgbClr val="D31242"/>
          </a:solidFill>
          <a:ln/>
          <a:effectLst>
            <a:outerShdw sx="100000" sy="100000" kx="0" ky="0" algn="bl" rotWithShape="0" blurRad="88900" dist="38100" dir="5400000">
              <a:srgbClr val="1F2733">
                <a:alpha val="10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9536" y="786384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664208" y="548640"/>
            <a:ext cx="9875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31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LEVER 4 · SET IT ONCE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664208" y="841248"/>
            <a:ext cx="10058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spc="-30" kern="0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Projects: upload once, reuse cached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640080" y="2103120"/>
            <a:ext cx="63093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650" dirty="0">
                <a:solidFill>
                  <a:srgbClr val="3A4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you paste or upload the same background every week, you're paying for it every time. Both tools support Projects: shared files and instructions that every chat inside the Project starts with.</a:t>
            </a:r>
            <a:endParaRPr lang="en-US" sz="1650" dirty="0"/>
          </a:p>
          <a:p>
            <a:pPr indent="0" marL="0">
              <a:lnSpc>
                <a:spcPct val="120000"/>
              </a:lnSpc>
              <a:buNone/>
            </a:pPr>
            <a:endParaRPr lang="en-US" sz="16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650" dirty="0">
                <a:solidFill>
                  <a:srgbClr val="3A4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Claude this is a documented saver: project content is cached, so reused content doesn't count against your limits — only new material does.</a:t>
            </a:r>
            <a:endParaRPr lang="en-US" sz="1650" dirty="0"/>
          </a:p>
          <a:p>
            <a:pPr indent="0" marL="0">
              <a:lnSpc>
                <a:spcPct val="120000"/>
              </a:lnSpc>
              <a:buNone/>
            </a:pPr>
            <a:endParaRPr lang="en-US" sz="16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650" dirty="0">
                <a:solidFill>
                  <a:srgbClr val="3A4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upkeep rules: one Project per workstream, and remove files you're no longer using — unused project files still add weight.</a:t>
            </a:r>
            <a:endParaRPr lang="en-US" sz="1650" dirty="0"/>
          </a:p>
        </p:txBody>
      </p:sp>
      <p:sp>
        <p:nvSpPr>
          <p:cNvPr id="7" name="Shape 4"/>
          <p:cNvSpPr/>
          <p:nvPr/>
        </p:nvSpPr>
        <p:spPr>
          <a:xfrm>
            <a:off x="7269480" y="2103120"/>
            <a:ext cx="4251960" cy="3200400"/>
          </a:xfrm>
          <a:prstGeom prst="roundRect">
            <a:avLst>
              <a:gd name="adj" fmla="val 2571"/>
            </a:avLst>
          </a:prstGeom>
          <a:solidFill>
            <a:srgbClr val="F5F6F8"/>
          </a:solidFill>
          <a:ln w="12700">
            <a:solidFill>
              <a:srgbClr val="E7E9EE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589520" y="23774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D31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PRIYA'S SETUP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7589520" y="2834640"/>
            <a:ext cx="365760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“Vendor Reviews” Project:
</a:t>
            </a:r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scorecard template, category glossary, standing report format.
</a:t>
            </a:r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Uploaded once. Every weekly chat starts knowing them, at no re-cost.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64008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8A9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REDUCE USAGE, NOT QUALITY · COMPREHENSIVE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6519672" y="641908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i="1" dirty="0">
                <a:solidFill>
                  <a:srgbClr val="8A9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Illustrative training material — not an official BJ's publication</a:t>
            </a:r>
            <a:endParaRPr lang="en-US" sz="8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841248" cy="841248"/>
          </a:xfrm>
          <a:prstGeom prst="ellipse">
            <a:avLst/>
          </a:prstGeom>
          <a:solidFill>
            <a:srgbClr val="D31242"/>
          </a:solidFill>
          <a:ln/>
          <a:effectLst>
            <a:outerShdw sx="100000" sy="100000" kx="0" ky="0" algn="bl" rotWithShape="0" blurRad="88900" dist="38100" dir="5400000">
              <a:srgbClr val="1F2733">
                <a:alpha val="10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9536" y="786384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664208" y="548640"/>
            <a:ext cx="9875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31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LEVER 4 · SET IT ONCE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664208" y="841248"/>
            <a:ext cx="10058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spc="-30" kern="0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 instructions and memory: your preferences, everywhere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640080" y="2103120"/>
            <a:ext cx="63093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650" dirty="0">
                <a:solidFill>
                  <a:srgbClr val="3A4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Both tools let you write standing preferences that apply to every chat — who you are, how you like answers, what to skip. Two lines there trim every response you'll ever get:</a:t>
            </a:r>
            <a:endParaRPr lang="en-US" sz="1650" dirty="0"/>
          </a:p>
          <a:p>
            <a:pPr indent="0" marL="0">
              <a:lnSpc>
                <a:spcPct val="120000"/>
              </a:lnSpc>
              <a:buNone/>
            </a:pPr>
            <a:endParaRPr lang="en-US" sz="16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650" dirty="0">
                <a:solidFill>
                  <a:srgbClr val="3A4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“Default to short, direct answers. Skip pleasantries, intros, and closing summaries — lead with the answer.”</a:t>
            </a:r>
            <a:endParaRPr lang="en-US" sz="1650" dirty="0"/>
          </a:p>
          <a:p>
            <a:pPr indent="0" marL="0">
              <a:lnSpc>
                <a:spcPct val="120000"/>
              </a:lnSpc>
              <a:buNone/>
            </a:pPr>
            <a:endParaRPr lang="en-US" sz="16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650" dirty="0">
                <a:solidFill>
                  <a:srgbClr val="3A4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Both tools also build a memory of recurring context (your role, ongoing work) automatically, so you stop re-explaining yourself — and repeat workflows can be packaged for reuse instead of re-prompted from scratch.</a:t>
            </a:r>
            <a:endParaRPr lang="en-US" sz="1650" dirty="0"/>
          </a:p>
        </p:txBody>
      </p:sp>
      <p:sp>
        <p:nvSpPr>
          <p:cNvPr id="7" name="Shape 4"/>
          <p:cNvSpPr/>
          <p:nvPr/>
        </p:nvSpPr>
        <p:spPr>
          <a:xfrm>
            <a:off x="7269480" y="2103120"/>
            <a:ext cx="4251960" cy="3200400"/>
          </a:xfrm>
          <a:prstGeom prst="roundRect">
            <a:avLst>
              <a:gd name="adj" fmla="val 2571"/>
            </a:avLst>
          </a:prstGeom>
          <a:solidFill>
            <a:srgbClr val="F5F6F8"/>
          </a:solidFill>
          <a:ln w="12700">
            <a:solidFill>
              <a:srgbClr val="E7E9EE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589520" y="23774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D31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TO SET IT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7589520" y="2834640"/>
            <a:ext cx="365760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Claude: Settings → Instructions for Claude.
</a:t>
            </a:r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ChatGPT: Settings → Personalization.
</a:t>
            </a:r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 once. Every chat, both directions, gets lighter.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64008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8A9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REDUCE USAGE, NOT QUALITY · COMPREHENSIVE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6519672" y="641908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i="1" dirty="0">
                <a:solidFill>
                  <a:srgbClr val="8A9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Illustrative training material — not an official BJ's publication</a:t>
            </a:r>
            <a:endParaRPr lang="en-US" sz="8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841248" cy="841248"/>
          </a:xfrm>
          <a:prstGeom prst="ellipse">
            <a:avLst/>
          </a:prstGeom>
          <a:solidFill>
            <a:srgbClr val="D31242"/>
          </a:solidFill>
          <a:ln/>
          <a:effectLst>
            <a:outerShdw sx="100000" sy="100000" kx="0" ky="0" algn="bl" rotWithShape="0" blurRad="88900" dist="38100" dir="5400000">
              <a:srgbClr val="1F2733">
                <a:alpha val="10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9536" y="786384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664208" y="548640"/>
            <a:ext cx="9875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31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LEVER 5 · MATCH THE EFFORT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664208" y="841248"/>
            <a:ext cx="10058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spc="-30" kern="0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 for quick work, thinking for hard problems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1965960"/>
            <a:ext cx="5349240" cy="1225296"/>
          </a:xfrm>
          <a:prstGeom prst="roundRect">
            <a:avLst>
              <a:gd name="adj" fmla="val 6716"/>
            </a:avLst>
          </a:prstGeom>
          <a:solidFill>
            <a:srgbClr val="F5F6F8"/>
          </a:solidFill>
          <a:ln w="12700">
            <a:solidFill>
              <a:srgbClr val="E7E9EE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914400" y="2350008"/>
            <a:ext cx="457200" cy="457200"/>
          </a:xfrm>
          <a:prstGeom prst="ellipse">
            <a:avLst/>
          </a:prstGeom>
          <a:solidFill>
            <a:srgbClr val="D31242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128" y="2459736"/>
            <a:ext cx="237744" cy="23774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554480" y="2148840"/>
            <a:ext cx="4206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50" b="1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Quick task? Fast mode.</a:t>
            </a:r>
            <a:endParaRPr lang="en-US" sz="15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E6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Summaries, rewrites, emails, lookups. Priya's half-page summary is a fast-mode job.</a:t>
            </a:r>
            <a:endParaRPr lang="en-US" sz="1550" dirty="0"/>
          </a:p>
        </p:txBody>
      </p:sp>
      <p:sp>
        <p:nvSpPr>
          <p:cNvPr id="10" name="Shape 6"/>
          <p:cNvSpPr/>
          <p:nvPr/>
        </p:nvSpPr>
        <p:spPr>
          <a:xfrm>
            <a:off x="6172200" y="1965960"/>
            <a:ext cx="5349240" cy="1225296"/>
          </a:xfrm>
          <a:prstGeom prst="roundRect">
            <a:avLst>
              <a:gd name="adj" fmla="val 6716"/>
            </a:avLst>
          </a:prstGeom>
          <a:solidFill>
            <a:srgbClr val="F5F6F8"/>
          </a:solidFill>
          <a:ln w="12700">
            <a:solidFill>
              <a:srgbClr val="E7E9EE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6446520" y="2350008"/>
            <a:ext cx="457200" cy="457200"/>
          </a:xfrm>
          <a:prstGeom prst="ellipse">
            <a:avLst/>
          </a:prstGeom>
          <a:solidFill>
            <a:srgbClr val="D31242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6248" y="2459736"/>
            <a:ext cx="237744" cy="237744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7086600" y="2148840"/>
            <a:ext cx="4206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50" b="1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 task? Thinking mode.</a:t>
            </a:r>
            <a:endParaRPr lang="en-US" sz="15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E6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Analysis, multi-step plans, tricky numbers. Priya's margin analysis earns the effort.</a:t>
            </a:r>
            <a:endParaRPr lang="en-US" sz="1550" dirty="0"/>
          </a:p>
        </p:txBody>
      </p:sp>
      <p:sp>
        <p:nvSpPr>
          <p:cNvPr id="14" name="Shape 9"/>
          <p:cNvSpPr/>
          <p:nvPr/>
        </p:nvSpPr>
        <p:spPr>
          <a:xfrm>
            <a:off x="640080" y="3355848"/>
            <a:ext cx="5349240" cy="1225296"/>
          </a:xfrm>
          <a:prstGeom prst="roundRect">
            <a:avLst>
              <a:gd name="adj" fmla="val 6716"/>
            </a:avLst>
          </a:prstGeom>
          <a:solidFill>
            <a:srgbClr val="F5F6F8"/>
          </a:solidFill>
          <a:ln w="12700">
            <a:solidFill>
              <a:srgbClr val="E7E9EE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914400" y="3739896"/>
            <a:ext cx="457200" cy="457200"/>
          </a:xfrm>
          <a:prstGeom prst="ellipse">
            <a:avLst/>
          </a:prstGeom>
          <a:solidFill>
            <a:srgbClr val="D31242"/>
          </a:solidFill>
          <a:ln/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4128" y="3849624"/>
            <a:ext cx="237744" cy="237744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554480" y="3538728"/>
            <a:ext cx="4206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50" b="1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Wrong direction #1: heavy mode, light task.</a:t>
            </a:r>
            <a:endParaRPr lang="en-US" sz="15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E6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Pure waste — money on Claude, credits on ChatGPT, and slower answers.</a:t>
            </a:r>
            <a:endParaRPr lang="en-US" sz="1550" dirty="0"/>
          </a:p>
        </p:txBody>
      </p:sp>
      <p:sp>
        <p:nvSpPr>
          <p:cNvPr id="18" name="Shape 12"/>
          <p:cNvSpPr/>
          <p:nvPr/>
        </p:nvSpPr>
        <p:spPr>
          <a:xfrm>
            <a:off x="6172200" y="3355848"/>
            <a:ext cx="5349240" cy="1225296"/>
          </a:xfrm>
          <a:prstGeom prst="roundRect">
            <a:avLst>
              <a:gd name="adj" fmla="val 6716"/>
            </a:avLst>
          </a:prstGeom>
          <a:solidFill>
            <a:srgbClr val="F5F6F8"/>
          </a:solidFill>
          <a:ln w="12700">
            <a:solidFill>
              <a:srgbClr val="E7E9EE"/>
            </a:solidFill>
            <a:prstDash val="solid"/>
          </a:ln>
        </p:spPr>
      </p:sp>
      <p:sp>
        <p:nvSpPr>
          <p:cNvPr id="19" name="Shape 13"/>
          <p:cNvSpPr/>
          <p:nvPr/>
        </p:nvSpPr>
        <p:spPr>
          <a:xfrm>
            <a:off x="6446520" y="3739896"/>
            <a:ext cx="457200" cy="457200"/>
          </a:xfrm>
          <a:prstGeom prst="ellipse">
            <a:avLst/>
          </a:prstGeom>
          <a:solidFill>
            <a:srgbClr val="D31242"/>
          </a:solidFill>
          <a:ln/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56248" y="3849624"/>
            <a:ext cx="237744" cy="237744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7086600" y="3538728"/>
            <a:ext cx="4206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50" b="1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Wrong direction #2: light mode, hard task.</a:t>
            </a:r>
            <a:endParaRPr lang="en-US" sz="15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E6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biggest quality failure — do-overs cost more than thinking would have.</a:t>
            </a:r>
            <a:endParaRPr lang="en-US" sz="1550" dirty="0"/>
          </a:p>
        </p:txBody>
      </p:sp>
      <p:sp>
        <p:nvSpPr>
          <p:cNvPr id="22" name="Text 15"/>
          <p:cNvSpPr/>
          <p:nvPr/>
        </p:nvSpPr>
        <p:spPr>
          <a:xfrm>
            <a:off x="64008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8A9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REDUCE USAGE, NOT QUALITY · COMPREHENSIVE</a:t>
            </a:r>
            <a:endParaRPr lang="en-US" sz="850" dirty="0"/>
          </a:p>
        </p:txBody>
      </p:sp>
      <p:sp>
        <p:nvSpPr>
          <p:cNvPr id="23" name="Text 16"/>
          <p:cNvSpPr/>
          <p:nvPr/>
        </p:nvSpPr>
        <p:spPr>
          <a:xfrm>
            <a:off x="6519672" y="641908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i="1" dirty="0">
                <a:solidFill>
                  <a:srgbClr val="8A9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Illustrative training material — not an official BJ's publication</a:t>
            </a:r>
            <a:endParaRPr lang="en-US" sz="8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841248" cy="841248"/>
          </a:xfrm>
          <a:prstGeom prst="ellipse">
            <a:avLst/>
          </a:prstGeom>
          <a:solidFill>
            <a:srgbClr val="D31242"/>
          </a:solidFill>
          <a:ln/>
          <a:effectLst>
            <a:outerShdw sx="100000" sy="100000" kx="0" ky="0" algn="bl" rotWithShape="0" blurRad="88900" dist="38100" dir="5400000">
              <a:srgbClr val="1F2733">
                <a:alpha val="10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9536" y="786384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664208" y="548640"/>
            <a:ext cx="9875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31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LEVER 5 · MATCH THE EFFORT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664208" y="841248"/>
            <a:ext cx="10058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spc="-30" kern="0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ChatGPT: trust Auto, watch the stickiness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640080" y="2103120"/>
            <a:ext cx="63093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650" dirty="0">
                <a:solidFill>
                  <a:srgbClr val="3A4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Leave the selector on Auto: easy questions route to fast models, and when Auto routes to a light model, zero credits are used (OpenAI's own FAQ). Override only when it under-thinks a genuinely hard task.</a:t>
            </a:r>
            <a:endParaRPr lang="en-US" sz="1650" dirty="0"/>
          </a:p>
          <a:p>
            <a:pPr indent="0" marL="0">
              <a:lnSpc>
                <a:spcPct val="120000"/>
              </a:lnSpc>
              <a:buNone/>
            </a:pPr>
            <a:endParaRPr lang="en-US" sz="16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650" dirty="0">
                <a:solidFill>
                  <a:srgbClr val="3A4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gotcha: selection is sticky. Pick Thinking once and every follow-up in that chat keeps drawing credits — even “thanks, fix the typo.” Ask the hard question, then switch back.</a:t>
            </a:r>
            <a:endParaRPr lang="en-US" sz="1650" dirty="0"/>
          </a:p>
          <a:p>
            <a:pPr indent="0" marL="0">
              <a:lnSpc>
                <a:spcPct val="120000"/>
              </a:lnSpc>
              <a:buNone/>
            </a:pPr>
            <a:endParaRPr lang="en-US" sz="16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650" dirty="0">
                <a:solidFill>
                  <a:srgbClr val="3A4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Effort level doesn't change ChatGPT's price: Medium, High, and Extra High all bill the same per message.</a:t>
            </a:r>
            <a:endParaRPr lang="en-US" sz="1650" dirty="0"/>
          </a:p>
        </p:txBody>
      </p:sp>
      <p:sp>
        <p:nvSpPr>
          <p:cNvPr id="7" name="Shape 4"/>
          <p:cNvSpPr/>
          <p:nvPr/>
        </p:nvSpPr>
        <p:spPr>
          <a:xfrm>
            <a:off x="7269480" y="2103120"/>
            <a:ext cx="4251960" cy="3200400"/>
          </a:xfrm>
          <a:prstGeom prst="roundRect">
            <a:avLst>
              <a:gd name="adj" fmla="val 2571"/>
            </a:avLst>
          </a:prstGeom>
          <a:solidFill>
            <a:srgbClr val="F5F6F8"/>
          </a:solidFill>
          <a:ln w="12700">
            <a:solidFill>
              <a:srgbClr val="E7E9EE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589520" y="23774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D31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 CARD (JULY 2026)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7589520" y="2834640"/>
            <a:ext cx="365760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Regular message: 0 credits
Thinking: 10 / message
Pro: 50 / message
Image generation: 5 / request
Advanced voice: 5 / minute
Agent tasks: 30 / message
Deep Research: 50 / task
</a:t>
            </a:r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OpenAI rate card — verify against our contract.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64008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8A9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REDUCE USAGE, NOT QUALITY · COMPREHENSIVE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6519672" y="641908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i="1" dirty="0">
                <a:solidFill>
                  <a:srgbClr val="8A9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Illustrative training material — not an official BJ's publication</a:t>
            </a:r>
            <a:endParaRPr lang="en-US" sz="8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841248" cy="841248"/>
          </a:xfrm>
          <a:prstGeom prst="ellipse">
            <a:avLst/>
          </a:prstGeom>
          <a:solidFill>
            <a:srgbClr val="D31242"/>
          </a:solidFill>
          <a:ln/>
          <a:effectLst>
            <a:outerShdw sx="100000" sy="100000" kx="0" ky="0" algn="bl" rotWithShape="0" blurRad="88900" dist="38100" dir="5400000">
              <a:srgbClr val="1F2733">
                <a:alpha val="10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9536" y="786384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664208" y="548640"/>
            <a:ext cx="9875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31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LEVER 5 · MATCH THE EFFORT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664208" y="841248"/>
            <a:ext cx="10058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spc="-30" kern="0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Claude: lighter model, lower effort, thinking off by default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640080" y="2103120"/>
            <a:ext cx="63093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650" dirty="0">
                <a:solidFill>
                  <a:srgbClr val="3A4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meters actual work, so every dial matters — and unlike ChatGPT, cost scales with how hard it thinks:</a:t>
            </a:r>
            <a:endParaRPr lang="en-US" sz="1650" dirty="0"/>
          </a:p>
          <a:p>
            <a:pPr indent="0" marL="0">
              <a:lnSpc>
                <a:spcPct val="120000"/>
              </a:lnSpc>
              <a:buNone/>
            </a:pPr>
            <a:endParaRPr lang="en-US" sz="16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650" dirty="0">
                <a:solidFill>
                  <a:srgbClr val="3A4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Pick a lighter model for light tasks — the heavyweight model costs several times more per message.</a:t>
            </a:r>
            <a:endParaRPr lang="en-US" sz="1650" dirty="0"/>
          </a:p>
          <a:p>
            <a:pPr indent="0" marL="0">
              <a:lnSpc>
                <a:spcPct val="120000"/>
              </a:lnSpc>
              <a:buNone/>
            </a:pPr>
            <a:endParaRPr lang="en-US" sz="16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650" dirty="0">
                <a:solidFill>
                  <a:srgbClr val="3A4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Leave extended thinking off until a first attempt comes back not good enough; when on, every answer bills its reasoning. When you do think, pick the effort level the task deserves — higher effort, more billed tokens.</a:t>
            </a:r>
            <a:endParaRPr lang="en-US" sz="1650" dirty="0"/>
          </a:p>
        </p:txBody>
      </p:sp>
      <p:sp>
        <p:nvSpPr>
          <p:cNvPr id="7" name="Shape 4"/>
          <p:cNvSpPr/>
          <p:nvPr/>
        </p:nvSpPr>
        <p:spPr>
          <a:xfrm>
            <a:off x="7269480" y="2103120"/>
            <a:ext cx="4251960" cy="3200400"/>
          </a:xfrm>
          <a:prstGeom prst="roundRect">
            <a:avLst>
              <a:gd name="adj" fmla="val 2571"/>
            </a:avLst>
          </a:prstGeom>
          <a:solidFill>
            <a:srgbClr val="F5F6F8"/>
          </a:solidFill>
          <a:ln w="12700">
            <a:solidFill>
              <a:srgbClr val="E7E9EE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589520" y="23774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D31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ANTHROPIC'S OWN GUIDANCE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7589520" y="2834640"/>
            <a:ext cx="365760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i="1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“Toggle extended thinking off when you don't need enhanced reasoning. Lower the effort level for routine tasks — higher effort uses more tokens.”
</a:t>
            </a:r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the usage-limits help page.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64008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8A9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REDUCE USAGE, NOT QUALITY · COMPREHENSIVE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6519672" y="641908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i="1" dirty="0">
                <a:solidFill>
                  <a:srgbClr val="8A9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Illustrative training material — not an official BJ's publication</a:t>
            </a:r>
            <a:endParaRPr lang="en-US" sz="8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841248" cy="841248"/>
          </a:xfrm>
          <a:prstGeom prst="ellipse">
            <a:avLst/>
          </a:prstGeom>
          <a:solidFill>
            <a:srgbClr val="D31242"/>
          </a:solidFill>
          <a:ln/>
          <a:effectLst>
            <a:outerShdw sx="100000" sy="100000" kx="0" ky="0" algn="bl" rotWithShape="0" blurRad="88900" dist="38100" dir="5400000">
              <a:srgbClr val="1F2733">
                <a:alpha val="10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9536" y="786384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664208" y="548640"/>
            <a:ext cx="9875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31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LEVER 5 · MATCH THE EFFORT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664208" y="841248"/>
            <a:ext cx="10058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spc="-30" kern="0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Turn off what you're not using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640080" y="2103120"/>
            <a:ext cx="63093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650" dirty="0">
                <a:solidFill>
                  <a:srgbClr val="3A4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 search, Research, and connectors add weight to every message while switched on — their instructions and results ride along in working memory even when your task doesn't need them. Anthropic calls tools and connectors “token-intensive” and recommends disabling unused ones.</a:t>
            </a:r>
            <a:endParaRPr lang="en-US" sz="1650" dirty="0"/>
          </a:p>
          <a:p>
            <a:pPr indent="0" marL="0">
              <a:lnSpc>
                <a:spcPct val="120000"/>
              </a:lnSpc>
              <a:buNone/>
            </a:pPr>
            <a:endParaRPr lang="en-US" sz="16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650" dirty="0">
                <a:solidFill>
                  <a:srgbClr val="3A4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Writing a draft from your own material? Search off. Not touching connected apps today? Connectors off.</a:t>
            </a:r>
            <a:endParaRPr lang="en-US" sz="1650" dirty="0"/>
          </a:p>
          <a:p>
            <a:pPr indent="0" marL="0">
              <a:lnSpc>
                <a:spcPct val="120000"/>
              </a:lnSpc>
              <a:buNone/>
            </a:pPr>
            <a:endParaRPr lang="en-US" sz="16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650" dirty="0">
                <a:solidFill>
                  <a:srgbClr val="3A4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rule: if you didn't turn it on for a reason, turn it off.</a:t>
            </a:r>
            <a:endParaRPr lang="en-US" sz="1650" dirty="0"/>
          </a:p>
        </p:txBody>
      </p:sp>
      <p:sp>
        <p:nvSpPr>
          <p:cNvPr id="7" name="Shape 4"/>
          <p:cNvSpPr/>
          <p:nvPr/>
        </p:nvSpPr>
        <p:spPr>
          <a:xfrm>
            <a:off x="7269480" y="2103120"/>
            <a:ext cx="4251960" cy="3200400"/>
          </a:xfrm>
          <a:prstGeom prst="roundRect">
            <a:avLst>
              <a:gd name="adj" fmla="val 2571"/>
            </a:avLst>
          </a:prstGeom>
          <a:solidFill>
            <a:srgbClr val="F5F6F8"/>
          </a:solidFill>
          <a:ln w="12700">
            <a:solidFill>
              <a:srgbClr val="E7E9EE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589520" y="23774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D31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7589520" y="2834640"/>
            <a:ext cx="365760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Claude: “Search and tools” menu in the chat input.
</a:t>
            </a:r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ChatGPT: the tools menu (+) in the composer.
</a:t>
            </a:r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Per-chat, two seconds, real savings.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64008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8A9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REDUCE USAGE, NOT QUALITY · COMPREHENSIVE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6519672" y="641908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i="1" dirty="0">
                <a:solidFill>
                  <a:srgbClr val="8A9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Illustrative training material — not an official BJ's publication</a:t>
            </a:r>
            <a:endParaRPr lang="en-US" sz="8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841248" cy="841248"/>
          </a:xfrm>
          <a:prstGeom prst="ellipse">
            <a:avLst/>
          </a:prstGeom>
          <a:solidFill>
            <a:srgbClr val="D31242"/>
          </a:solidFill>
          <a:ln/>
          <a:effectLst>
            <a:outerShdw sx="100000" sy="100000" kx="0" ky="0" algn="bl" rotWithShape="0" blurRad="88900" dist="38100" dir="5400000">
              <a:srgbClr val="1F2733">
                <a:alpha val="10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9536" y="786384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664208" y="548640"/>
            <a:ext cx="9875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31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LEVER 6 · HEAVY FEATURES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664208" y="841248"/>
            <a:ext cx="10058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spc="-30" kern="0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 Research: the heaviest button in either tool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640080" y="2103120"/>
            <a:ext cx="63093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650" dirty="0">
                <a:solidFill>
                  <a:srgbClr val="3A4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 modes run dozens of searches and write long cited reports. One task costs 50 credits in ChatGPT — more than most people's normal week — and a large usage draw in Claude.</a:t>
            </a:r>
            <a:endParaRPr lang="en-US" sz="1650" dirty="0"/>
          </a:p>
          <a:p>
            <a:pPr indent="0" marL="0">
              <a:lnSpc>
                <a:spcPct val="120000"/>
              </a:lnSpc>
              <a:buNone/>
            </a:pPr>
            <a:endParaRPr lang="en-US" sz="16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650" dirty="0">
                <a:solidFill>
                  <a:srgbClr val="3A4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them when you genuinely need a researched, sourced report. Never as a fancier way to ask a normal question.</a:t>
            </a:r>
            <a:endParaRPr lang="en-US" sz="1650" dirty="0"/>
          </a:p>
          <a:p>
            <a:pPr indent="0" marL="0">
              <a:lnSpc>
                <a:spcPct val="120000"/>
              </a:lnSpc>
              <a:buNone/>
            </a:pPr>
            <a:endParaRPr lang="en-US" sz="16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650" dirty="0">
                <a:solidFill>
                  <a:srgbClr val="3A4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aim before you fire: draft the research question with the regular model first — scope, sources, format — then spend the expensive run once, well-directed.</a:t>
            </a:r>
            <a:endParaRPr lang="en-US" sz="1650" dirty="0"/>
          </a:p>
        </p:txBody>
      </p:sp>
      <p:sp>
        <p:nvSpPr>
          <p:cNvPr id="7" name="Shape 4"/>
          <p:cNvSpPr/>
          <p:nvPr/>
        </p:nvSpPr>
        <p:spPr>
          <a:xfrm>
            <a:off x="7269480" y="2103120"/>
            <a:ext cx="4251960" cy="3200400"/>
          </a:xfrm>
          <a:prstGeom prst="roundRect">
            <a:avLst>
              <a:gd name="adj" fmla="val 2571"/>
            </a:avLst>
          </a:prstGeom>
          <a:solidFill>
            <a:srgbClr val="F5F6F8"/>
          </a:solidFill>
          <a:ln w="12700">
            <a:solidFill>
              <a:srgbClr val="E7E9EE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589520" y="23774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D31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PRIYA'S RULE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7589520" y="2834640"/>
            <a:ext cx="365760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Competitor pricing scan across 20 sources → Deep Research, once, with a prepared brief.
</a:t>
            </a:r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“What does net margin mean?” → a regular message. Zero credits.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64008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8A9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REDUCE USAGE, NOT QUALITY · COMPREHENSIVE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6519672" y="641908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i="1" dirty="0">
                <a:solidFill>
                  <a:srgbClr val="8A9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Illustrative training material — not an official BJ's publication</a:t>
            </a:r>
            <a:endParaRPr lang="en-US" sz="8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841248" cy="841248"/>
          </a:xfrm>
          <a:prstGeom prst="ellipse">
            <a:avLst/>
          </a:prstGeom>
          <a:solidFill>
            <a:srgbClr val="D31242"/>
          </a:solidFill>
          <a:ln/>
          <a:effectLst>
            <a:outerShdw sx="100000" sy="100000" kx="0" ky="0" algn="bl" rotWithShape="0" blurRad="88900" dist="38100" dir="5400000">
              <a:srgbClr val="1F2733">
                <a:alpha val="10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9536" y="786384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664208" y="548640"/>
            <a:ext cx="9875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31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LEVER 6 · HEAVY FEATURES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664208" y="841248"/>
            <a:ext cx="10058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spc="-30" kern="0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Creating files costs more than chatting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640080" y="2103120"/>
            <a:ext cx="63093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650" dirty="0">
                <a:solidFill>
                  <a:srgbClr val="3A4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Generating actual files — spreadsheets, documents, slide decks — uses more of your Claude limit than the same content as a chat answer; Anthropic confirms file creation is among the heavier requests.</a:t>
            </a:r>
            <a:endParaRPr lang="en-US" sz="1650" dirty="0"/>
          </a:p>
          <a:p>
            <a:pPr indent="0" marL="0">
              <a:lnSpc>
                <a:spcPct val="120000"/>
              </a:lnSpc>
              <a:buNone/>
            </a:pPr>
            <a:endParaRPr lang="en-US" sz="16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650" dirty="0">
                <a:solidFill>
                  <a:srgbClr val="3A4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 don't open with “build me the model.” Plan in conversation first: agree the structure, sections, and assumptions in cheap, fast messages.</a:t>
            </a:r>
            <a:endParaRPr lang="en-US" sz="1650" dirty="0"/>
          </a:p>
          <a:p>
            <a:pPr indent="0" marL="0">
              <a:lnSpc>
                <a:spcPct val="120000"/>
              </a:lnSpc>
              <a:buNone/>
            </a:pPr>
            <a:endParaRPr lang="en-US" sz="16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650" dirty="0">
                <a:solidFill>
                  <a:srgbClr val="3A4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Then ask for the file once, built to the agreed plan. The same pattern applies to image generation in ChatGPT: 5 credits per request — settle the description before you generate.</a:t>
            </a:r>
            <a:endParaRPr lang="en-US" sz="1650" dirty="0"/>
          </a:p>
        </p:txBody>
      </p:sp>
      <p:sp>
        <p:nvSpPr>
          <p:cNvPr id="7" name="Shape 4"/>
          <p:cNvSpPr/>
          <p:nvPr/>
        </p:nvSpPr>
        <p:spPr>
          <a:xfrm>
            <a:off x="7269480" y="2103120"/>
            <a:ext cx="4251960" cy="3200400"/>
          </a:xfrm>
          <a:prstGeom prst="roundRect">
            <a:avLst>
              <a:gd name="adj" fmla="val 2571"/>
            </a:avLst>
          </a:prstGeom>
          <a:solidFill>
            <a:srgbClr val="F5F6F8"/>
          </a:solidFill>
          <a:ln w="12700">
            <a:solidFill>
              <a:srgbClr val="E7E9EE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589520" y="23774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D31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 CHEAP, BUILD ONCE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7589520" y="2834640"/>
            <a:ext cx="365760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Priya settles the scorecard's columns and logic in chat — five light messages.
</a:t>
            </a:r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Then: “Build this exact spreadsheet.” One heavy generation instead of four.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64008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8A9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REDUCE USAGE, NOT QUALITY · COMPREHENSIVE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6519672" y="641908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i="1" dirty="0">
                <a:solidFill>
                  <a:srgbClr val="8A9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Illustrative training material — not an official BJ's publication</a:t>
            </a:r>
            <a:endParaRPr lang="en-US" sz="8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841248" cy="841248"/>
          </a:xfrm>
          <a:prstGeom prst="ellipse">
            <a:avLst/>
          </a:prstGeom>
          <a:solidFill>
            <a:srgbClr val="D31242"/>
          </a:solidFill>
          <a:ln/>
          <a:effectLst>
            <a:outerShdw sx="100000" sy="100000" kx="0" ky="0" algn="bl" rotWithShape="0" blurRad="88900" dist="38100" dir="5400000">
              <a:srgbClr val="1F2733">
                <a:alpha val="10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9536" y="786384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664208" y="548640"/>
            <a:ext cx="9875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31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PUTTING IT TOGETHER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664208" y="841248"/>
            <a:ext cx="10058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spc="-30" kern="0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the money actually goes at BJ's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1965960"/>
            <a:ext cx="5349240" cy="1225296"/>
          </a:xfrm>
          <a:prstGeom prst="roundRect">
            <a:avLst>
              <a:gd name="adj" fmla="val 6716"/>
            </a:avLst>
          </a:prstGeom>
          <a:solidFill>
            <a:srgbClr val="F5F6F8"/>
          </a:solidFill>
          <a:ln w="12700">
            <a:solidFill>
              <a:srgbClr val="E7E9EE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914400" y="2350008"/>
            <a:ext cx="457200" cy="457200"/>
          </a:xfrm>
          <a:prstGeom prst="ellipse">
            <a:avLst/>
          </a:prstGeom>
          <a:solidFill>
            <a:srgbClr val="D31242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128" y="2459736"/>
            <a:ext cx="237744" cy="23774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554480" y="2148840"/>
            <a:ext cx="4206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50" b="1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Claude's biggest silent spenders:</a:t>
            </a:r>
            <a:endParaRPr lang="en-US" sz="15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E6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Long threads, fat uploads, thinking left on, and rebuilt files.</a:t>
            </a:r>
            <a:endParaRPr lang="en-US" sz="1550" dirty="0"/>
          </a:p>
        </p:txBody>
      </p:sp>
      <p:sp>
        <p:nvSpPr>
          <p:cNvPr id="10" name="Shape 6"/>
          <p:cNvSpPr/>
          <p:nvPr/>
        </p:nvSpPr>
        <p:spPr>
          <a:xfrm>
            <a:off x="6172200" y="1965960"/>
            <a:ext cx="5349240" cy="1225296"/>
          </a:xfrm>
          <a:prstGeom prst="roundRect">
            <a:avLst>
              <a:gd name="adj" fmla="val 6716"/>
            </a:avLst>
          </a:prstGeom>
          <a:solidFill>
            <a:srgbClr val="F5F6F8"/>
          </a:solidFill>
          <a:ln w="12700">
            <a:solidFill>
              <a:srgbClr val="E7E9EE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6446520" y="2350008"/>
            <a:ext cx="457200" cy="457200"/>
          </a:xfrm>
          <a:prstGeom prst="ellipse">
            <a:avLst/>
          </a:prstGeom>
          <a:solidFill>
            <a:srgbClr val="D31242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6248" y="2459736"/>
            <a:ext cx="237744" cy="237744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7086600" y="2148840"/>
            <a:ext cx="4206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50" b="1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ChatGPT's biggest credit drains:</a:t>
            </a:r>
            <a:endParaRPr lang="en-US" sz="15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E6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Sticky Thinking on follow-ups, casual Deep Research, image generation.</a:t>
            </a:r>
            <a:endParaRPr lang="en-US" sz="1550" dirty="0"/>
          </a:p>
        </p:txBody>
      </p:sp>
      <p:sp>
        <p:nvSpPr>
          <p:cNvPr id="14" name="Shape 9"/>
          <p:cNvSpPr/>
          <p:nvPr/>
        </p:nvSpPr>
        <p:spPr>
          <a:xfrm>
            <a:off x="640080" y="3355848"/>
            <a:ext cx="5349240" cy="1225296"/>
          </a:xfrm>
          <a:prstGeom prst="roundRect">
            <a:avLst>
              <a:gd name="adj" fmla="val 6716"/>
            </a:avLst>
          </a:prstGeom>
          <a:solidFill>
            <a:srgbClr val="F5F6F8"/>
          </a:solidFill>
          <a:ln w="12700">
            <a:solidFill>
              <a:srgbClr val="E7E9EE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914400" y="3739896"/>
            <a:ext cx="457200" cy="457200"/>
          </a:xfrm>
          <a:prstGeom prst="ellipse">
            <a:avLst/>
          </a:prstGeom>
          <a:solidFill>
            <a:srgbClr val="D31242"/>
          </a:solidFill>
          <a:ln/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4128" y="3849624"/>
            <a:ext cx="237744" cy="237744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554480" y="3538728"/>
            <a:ext cx="4206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50" b="1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 nothing in ChatGPT:</a:t>
            </a:r>
            <a:endParaRPr lang="en-US" sz="15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E6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Ordinary messages, however long the chat — spend your care on quality there.</a:t>
            </a:r>
            <a:endParaRPr lang="en-US" sz="1550" dirty="0"/>
          </a:p>
        </p:txBody>
      </p:sp>
      <p:sp>
        <p:nvSpPr>
          <p:cNvPr id="18" name="Shape 12"/>
          <p:cNvSpPr/>
          <p:nvPr/>
        </p:nvSpPr>
        <p:spPr>
          <a:xfrm>
            <a:off x="6172200" y="3355848"/>
            <a:ext cx="5349240" cy="1225296"/>
          </a:xfrm>
          <a:prstGeom prst="roundRect">
            <a:avLst>
              <a:gd name="adj" fmla="val 6716"/>
            </a:avLst>
          </a:prstGeom>
          <a:solidFill>
            <a:srgbClr val="F5F6F8"/>
          </a:solidFill>
          <a:ln w="12700">
            <a:solidFill>
              <a:srgbClr val="E7E9EE"/>
            </a:solidFill>
            <a:prstDash val="solid"/>
          </a:ln>
        </p:spPr>
      </p:sp>
      <p:sp>
        <p:nvSpPr>
          <p:cNvPr id="19" name="Shape 13"/>
          <p:cNvSpPr/>
          <p:nvPr/>
        </p:nvSpPr>
        <p:spPr>
          <a:xfrm>
            <a:off x="6446520" y="3739896"/>
            <a:ext cx="457200" cy="457200"/>
          </a:xfrm>
          <a:prstGeom prst="ellipse">
            <a:avLst/>
          </a:prstGeom>
          <a:solidFill>
            <a:srgbClr val="D31242"/>
          </a:solidFill>
          <a:ln/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56248" y="3849624"/>
            <a:ext cx="237744" cy="237744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7086600" y="3538728"/>
            <a:ext cx="4206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50" b="1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 quality in both:</a:t>
            </a:r>
            <a:endParaRPr lang="en-US" sz="15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E6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Bloated working memory. Every lever in this deck protects it.</a:t>
            </a:r>
            <a:endParaRPr lang="en-US" sz="1550" dirty="0"/>
          </a:p>
        </p:txBody>
      </p:sp>
      <p:sp>
        <p:nvSpPr>
          <p:cNvPr id="22" name="Text 15"/>
          <p:cNvSpPr/>
          <p:nvPr/>
        </p:nvSpPr>
        <p:spPr>
          <a:xfrm>
            <a:off x="64008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8A9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REDUCE USAGE, NOT QUALITY · COMPREHENSIVE</a:t>
            </a:r>
            <a:endParaRPr lang="en-US" sz="850" dirty="0"/>
          </a:p>
        </p:txBody>
      </p:sp>
      <p:sp>
        <p:nvSpPr>
          <p:cNvPr id="23" name="Text 16"/>
          <p:cNvSpPr/>
          <p:nvPr/>
        </p:nvSpPr>
        <p:spPr>
          <a:xfrm>
            <a:off x="6519672" y="641908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i="1" dirty="0">
                <a:solidFill>
                  <a:srgbClr val="8A9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Illustrative training material — not an official BJ's publication</a:t>
            </a:r>
            <a:endParaRPr lang="en-US" sz="8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841248" cy="841248"/>
          </a:xfrm>
          <a:prstGeom prst="ellipse">
            <a:avLst/>
          </a:prstGeom>
          <a:solidFill>
            <a:srgbClr val="D31242"/>
          </a:solidFill>
          <a:ln/>
          <a:effectLst>
            <a:outerShdw sx="100000" sy="100000" kx="0" ky="0" algn="bl" rotWithShape="0" blurRad="88900" dist="38100" dir="5400000">
              <a:srgbClr val="1F2733">
                <a:alpha val="10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9536" y="786384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664208" y="548640"/>
            <a:ext cx="9875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31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 THIS AT YOUR DESK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664208" y="841248"/>
            <a:ext cx="10058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spc="-30" kern="0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six levers on one card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1965960"/>
            <a:ext cx="5349240" cy="1225296"/>
          </a:xfrm>
          <a:prstGeom prst="roundRect">
            <a:avLst>
              <a:gd name="adj" fmla="val 6716"/>
            </a:avLst>
          </a:prstGeom>
          <a:solidFill>
            <a:srgbClr val="F5F6F8"/>
          </a:solidFill>
          <a:ln w="12700">
            <a:solidFill>
              <a:srgbClr val="E7E9EE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914400" y="2350008"/>
            <a:ext cx="457200" cy="457200"/>
          </a:xfrm>
          <a:prstGeom prst="ellipse">
            <a:avLst/>
          </a:prstGeom>
          <a:solidFill>
            <a:srgbClr val="D31242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128" y="2459736"/>
            <a:ext cx="237744" cy="23774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554480" y="2148840"/>
            <a:ext cx="4206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50" b="1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Ask better</a:t>
            </a:r>
            <a:endParaRPr lang="en-US" sz="15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E6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Complete, right-sized, batched — and edit misses instead of correcting.</a:t>
            </a:r>
            <a:endParaRPr lang="en-US" sz="1550" dirty="0"/>
          </a:p>
        </p:txBody>
      </p:sp>
      <p:sp>
        <p:nvSpPr>
          <p:cNvPr id="10" name="Shape 6"/>
          <p:cNvSpPr/>
          <p:nvPr/>
        </p:nvSpPr>
        <p:spPr>
          <a:xfrm>
            <a:off x="6172200" y="1965960"/>
            <a:ext cx="5349240" cy="1225296"/>
          </a:xfrm>
          <a:prstGeom prst="roundRect">
            <a:avLst>
              <a:gd name="adj" fmla="val 6716"/>
            </a:avLst>
          </a:prstGeom>
          <a:solidFill>
            <a:srgbClr val="F5F6F8"/>
          </a:solidFill>
          <a:ln w="12700">
            <a:solidFill>
              <a:srgbClr val="E7E9EE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6446520" y="2350008"/>
            <a:ext cx="457200" cy="457200"/>
          </a:xfrm>
          <a:prstGeom prst="ellipse">
            <a:avLst/>
          </a:prstGeom>
          <a:solidFill>
            <a:srgbClr val="D31242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6248" y="2459736"/>
            <a:ext cx="237744" cy="237744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7086600" y="2148840"/>
            <a:ext cx="4206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50" b="1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Keep chats lean</a:t>
            </a:r>
            <a:endParaRPr lang="en-US" sz="15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E6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chat per task; refer back; summarize-and-restart.</a:t>
            </a:r>
            <a:endParaRPr lang="en-US" sz="1550" dirty="0"/>
          </a:p>
        </p:txBody>
      </p:sp>
      <p:sp>
        <p:nvSpPr>
          <p:cNvPr id="14" name="Shape 9"/>
          <p:cNvSpPr/>
          <p:nvPr/>
        </p:nvSpPr>
        <p:spPr>
          <a:xfrm>
            <a:off x="640080" y="3355848"/>
            <a:ext cx="5349240" cy="1225296"/>
          </a:xfrm>
          <a:prstGeom prst="roundRect">
            <a:avLst>
              <a:gd name="adj" fmla="val 6716"/>
            </a:avLst>
          </a:prstGeom>
          <a:solidFill>
            <a:srgbClr val="F5F6F8"/>
          </a:solidFill>
          <a:ln w="12700">
            <a:solidFill>
              <a:srgbClr val="E7E9EE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914400" y="3739896"/>
            <a:ext cx="457200" cy="457200"/>
          </a:xfrm>
          <a:prstGeom prst="ellipse">
            <a:avLst/>
          </a:prstGeom>
          <a:solidFill>
            <a:srgbClr val="D31242"/>
          </a:solidFill>
          <a:ln/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4128" y="3849624"/>
            <a:ext cx="237744" cy="237744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554480" y="3538728"/>
            <a:ext cx="4206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50" b="1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Attach less, smarter</a:t>
            </a:r>
            <a:endParaRPr lang="en-US" sz="15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E6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 needed pages; paste text over screenshots; convert heavy files.</a:t>
            </a:r>
            <a:endParaRPr lang="en-US" sz="1550" dirty="0"/>
          </a:p>
        </p:txBody>
      </p:sp>
      <p:sp>
        <p:nvSpPr>
          <p:cNvPr id="18" name="Shape 12"/>
          <p:cNvSpPr/>
          <p:nvPr/>
        </p:nvSpPr>
        <p:spPr>
          <a:xfrm>
            <a:off x="6172200" y="3355848"/>
            <a:ext cx="5349240" cy="1225296"/>
          </a:xfrm>
          <a:prstGeom prst="roundRect">
            <a:avLst>
              <a:gd name="adj" fmla="val 6716"/>
            </a:avLst>
          </a:prstGeom>
          <a:solidFill>
            <a:srgbClr val="F5F6F8"/>
          </a:solidFill>
          <a:ln w="12700">
            <a:solidFill>
              <a:srgbClr val="E7E9EE"/>
            </a:solidFill>
            <a:prstDash val="solid"/>
          </a:ln>
        </p:spPr>
      </p:sp>
      <p:sp>
        <p:nvSpPr>
          <p:cNvPr id="19" name="Shape 13"/>
          <p:cNvSpPr/>
          <p:nvPr/>
        </p:nvSpPr>
        <p:spPr>
          <a:xfrm>
            <a:off x="6446520" y="3739896"/>
            <a:ext cx="457200" cy="457200"/>
          </a:xfrm>
          <a:prstGeom prst="ellipse">
            <a:avLst/>
          </a:prstGeom>
          <a:solidFill>
            <a:srgbClr val="D31242"/>
          </a:solidFill>
          <a:ln/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56248" y="3849624"/>
            <a:ext cx="237744" cy="237744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7086600" y="3538728"/>
            <a:ext cx="4206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50" b="1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Set it once</a:t>
            </a:r>
            <a:endParaRPr lang="en-US" sz="15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E6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Projects (cached), custom instructions, memory.</a:t>
            </a:r>
            <a:endParaRPr lang="en-US" sz="1550" dirty="0"/>
          </a:p>
        </p:txBody>
      </p:sp>
      <p:sp>
        <p:nvSpPr>
          <p:cNvPr id="22" name="Shape 15"/>
          <p:cNvSpPr/>
          <p:nvPr/>
        </p:nvSpPr>
        <p:spPr>
          <a:xfrm>
            <a:off x="640080" y="4745736"/>
            <a:ext cx="5349240" cy="1225296"/>
          </a:xfrm>
          <a:prstGeom prst="roundRect">
            <a:avLst>
              <a:gd name="adj" fmla="val 6716"/>
            </a:avLst>
          </a:prstGeom>
          <a:solidFill>
            <a:srgbClr val="F5F6F8"/>
          </a:solidFill>
          <a:ln w="12700">
            <a:solidFill>
              <a:srgbClr val="E7E9EE"/>
            </a:solidFill>
            <a:prstDash val="solid"/>
          </a:ln>
        </p:spPr>
      </p:sp>
      <p:sp>
        <p:nvSpPr>
          <p:cNvPr id="23" name="Shape 16"/>
          <p:cNvSpPr/>
          <p:nvPr/>
        </p:nvSpPr>
        <p:spPr>
          <a:xfrm>
            <a:off x="914400" y="5129784"/>
            <a:ext cx="457200" cy="457200"/>
          </a:xfrm>
          <a:prstGeom prst="ellipse">
            <a:avLst/>
          </a:prstGeom>
          <a:solidFill>
            <a:srgbClr val="D31242"/>
          </a:solidFill>
          <a:ln/>
        </p:spPr>
      </p:sp>
      <p:pic>
        <p:nvPicPr>
          <p:cNvPr id="2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4128" y="5239512"/>
            <a:ext cx="237744" cy="237744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1554480" y="4928616"/>
            <a:ext cx="4206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50" b="1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Match the effort</a:t>
            </a:r>
            <a:endParaRPr lang="en-US" sz="15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E6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 vs. thinking deliberately; watch ChatGPT's stickiness; extras off.</a:t>
            </a:r>
            <a:endParaRPr lang="en-US" sz="1550" dirty="0"/>
          </a:p>
        </p:txBody>
      </p:sp>
      <p:sp>
        <p:nvSpPr>
          <p:cNvPr id="26" name="Shape 18"/>
          <p:cNvSpPr/>
          <p:nvPr/>
        </p:nvSpPr>
        <p:spPr>
          <a:xfrm>
            <a:off x="6172200" y="4745736"/>
            <a:ext cx="5349240" cy="1225296"/>
          </a:xfrm>
          <a:prstGeom prst="roundRect">
            <a:avLst>
              <a:gd name="adj" fmla="val 6716"/>
            </a:avLst>
          </a:prstGeom>
          <a:solidFill>
            <a:srgbClr val="F5F6F8"/>
          </a:solidFill>
          <a:ln w="12700">
            <a:solidFill>
              <a:srgbClr val="E7E9EE"/>
            </a:solidFill>
            <a:prstDash val="solid"/>
          </a:ln>
        </p:spPr>
      </p:sp>
      <p:sp>
        <p:nvSpPr>
          <p:cNvPr id="27" name="Shape 19"/>
          <p:cNvSpPr/>
          <p:nvPr/>
        </p:nvSpPr>
        <p:spPr>
          <a:xfrm>
            <a:off x="6446520" y="5129784"/>
            <a:ext cx="457200" cy="457200"/>
          </a:xfrm>
          <a:prstGeom prst="ellipse">
            <a:avLst/>
          </a:prstGeom>
          <a:solidFill>
            <a:srgbClr val="D31242"/>
          </a:solidFill>
          <a:ln/>
        </p:spPr>
      </p:sp>
      <p:pic>
        <p:nvPicPr>
          <p:cNvPr id="2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56248" y="5239512"/>
            <a:ext cx="237744" cy="237744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7086600" y="4928616"/>
            <a:ext cx="4206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50" b="1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Heavy features on purpose</a:t>
            </a:r>
            <a:endParaRPr lang="en-US" sz="15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E6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 Research and file/image generation: aimed, planned, once.</a:t>
            </a:r>
            <a:endParaRPr lang="en-US" sz="1550" dirty="0"/>
          </a:p>
        </p:txBody>
      </p:sp>
      <p:sp>
        <p:nvSpPr>
          <p:cNvPr id="30" name="Text 21"/>
          <p:cNvSpPr/>
          <p:nvPr/>
        </p:nvSpPr>
        <p:spPr>
          <a:xfrm>
            <a:off x="64008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8A9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REDUCE USAGE, NOT QUALITY · COMPREHENSIVE</a:t>
            </a:r>
            <a:endParaRPr lang="en-US" sz="850" dirty="0"/>
          </a:p>
        </p:txBody>
      </p:sp>
      <p:sp>
        <p:nvSpPr>
          <p:cNvPr id="31" name="Text 22"/>
          <p:cNvSpPr/>
          <p:nvPr/>
        </p:nvSpPr>
        <p:spPr>
          <a:xfrm>
            <a:off x="6519672" y="641908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i="1" dirty="0">
                <a:solidFill>
                  <a:srgbClr val="8A9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Illustrative training material — not an official BJ's publication</a:t>
            </a:r>
            <a:endParaRPr lang="en-US" sz="8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841248" cy="841248"/>
          </a:xfrm>
          <a:prstGeom prst="ellipse">
            <a:avLst/>
          </a:prstGeom>
          <a:solidFill>
            <a:srgbClr val="D31242"/>
          </a:solidFill>
          <a:ln/>
          <a:effectLst>
            <a:outerShdw sx="100000" sy="100000" kx="0" ky="0" algn="bl" rotWithShape="0" blurRad="88900" dist="38100" dir="5400000">
              <a:srgbClr val="1F2733">
                <a:alpha val="10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9536" y="786384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664208" y="548640"/>
            <a:ext cx="9875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31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YOU CAN NOW DO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664208" y="841248"/>
            <a:ext cx="10058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spc="-30" kern="0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can now do everything we promised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2148840"/>
            <a:ext cx="5349240" cy="1600200"/>
          </a:xfrm>
          <a:prstGeom prst="roundRect">
            <a:avLst>
              <a:gd name="adj" fmla="val 5143"/>
            </a:avLst>
          </a:prstGeom>
          <a:solidFill>
            <a:srgbClr val="F5F6F8"/>
          </a:solidFill>
          <a:ln w="12700">
            <a:solidFill>
              <a:srgbClr val="E7E9EE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914400" y="2651760"/>
            <a:ext cx="548640" cy="548640"/>
          </a:xfrm>
          <a:prstGeom prst="ellipse">
            <a:avLst/>
          </a:prstGeom>
          <a:solidFill>
            <a:srgbClr val="D31242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2416" y="2779776"/>
            <a:ext cx="292608" cy="29260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645920" y="2377440"/>
            <a:ext cx="4114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know what answers cost</a:t>
            </a:r>
            <a:endParaRPr lang="en-US" sz="1600" dirty="0"/>
          </a:p>
          <a:p>
            <a:pPr indent="0" marL="0">
              <a:lnSpc>
                <a:spcPct val="110000"/>
              </a:lnSpc>
              <a:buNone/>
            </a:pPr>
            <a:endParaRPr lang="en-US" sz="16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5E6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Tokens, working memory, and the two billing models behind our tools.</a:t>
            </a:r>
            <a:endParaRPr lang="en-US" sz="1600" dirty="0"/>
          </a:p>
        </p:txBody>
      </p:sp>
      <p:sp>
        <p:nvSpPr>
          <p:cNvPr id="10" name="Shape 6"/>
          <p:cNvSpPr/>
          <p:nvPr/>
        </p:nvSpPr>
        <p:spPr>
          <a:xfrm>
            <a:off x="6172200" y="2148840"/>
            <a:ext cx="5349240" cy="1600200"/>
          </a:xfrm>
          <a:prstGeom prst="roundRect">
            <a:avLst>
              <a:gd name="adj" fmla="val 5143"/>
            </a:avLst>
          </a:prstGeom>
          <a:solidFill>
            <a:srgbClr val="F5F6F8"/>
          </a:solidFill>
          <a:ln w="12700">
            <a:solidFill>
              <a:srgbClr val="E7E9EE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6446520" y="2651760"/>
            <a:ext cx="548640" cy="548640"/>
          </a:xfrm>
          <a:prstGeom prst="ellipse">
            <a:avLst/>
          </a:prstGeom>
          <a:solidFill>
            <a:srgbClr val="D31242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74536" y="2779776"/>
            <a:ext cx="292608" cy="292608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7178040" y="2377440"/>
            <a:ext cx="4114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asks land the first time</a:t>
            </a:r>
            <a:endParaRPr lang="en-US" sz="1600" dirty="0"/>
          </a:p>
          <a:p>
            <a:pPr indent="0" marL="0">
              <a:lnSpc>
                <a:spcPct val="110000"/>
              </a:lnSpc>
              <a:buNone/>
            </a:pPr>
            <a:endParaRPr lang="en-US" sz="16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5E6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Front-loaded, right-sized, repaired by editing — never starved.</a:t>
            </a:r>
            <a:endParaRPr lang="en-US" sz="1600" dirty="0"/>
          </a:p>
        </p:txBody>
      </p:sp>
      <p:sp>
        <p:nvSpPr>
          <p:cNvPr id="14" name="Shape 9"/>
          <p:cNvSpPr/>
          <p:nvPr/>
        </p:nvSpPr>
        <p:spPr>
          <a:xfrm>
            <a:off x="640080" y="3931920"/>
            <a:ext cx="5349240" cy="1600200"/>
          </a:xfrm>
          <a:prstGeom prst="roundRect">
            <a:avLst>
              <a:gd name="adj" fmla="val 5143"/>
            </a:avLst>
          </a:prstGeom>
          <a:solidFill>
            <a:srgbClr val="F5F6F8"/>
          </a:solidFill>
          <a:ln w="12700">
            <a:solidFill>
              <a:srgbClr val="E7E9EE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914400" y="4434840"/>
            <a:ext cx="548640" cy="548640"/>
          </a:xfrm>
          <a:prstGeom prst="ellipse">
            <a:avLst/>
          </a:prstGeom>
          <a:solidFill>
            <a:srgbClr val="D31242"/>
          </a:solidFill>
          <a:ln/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2416" y="4562856"/>
            <a:ext cx="292608" cy="292608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645920" y="4160520"/>
            <a:ext cx="4114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chats and files stay lean</a:t>
            </a:r>
            <a:endParaRPr lang="en-US" sz="1600" dirty="0"/>
          </a:p>
          <a:p>
            <a:pPr indent="0" marL="0">
              <a:lnSpc>
                <a:spcPct val="110000"/>
              </a:lnSpc>
              <a:buNone/>
            </a:pPr>
            <a:endParaRPr lang="en-US" sz="16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5E6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Fresh chats, lean attachments, Projects, custom instructions.</a:t>
            </a:r>
            <a:endParaRPr lang="en-US" sz="1600" dirty="0"/>
          </a:p>
        </p:txBody>
      </p:sp>
      <p:sp>
        <p:nvSpPr>
          <p:cNvPr id="18" name="Shape 12"/>
          <p:cNvSpPr/>
          <p:nvPr/>
        </p:nvSpPr>
        <p:spPr>
          <a:xfrm>
            <a:off x="6172200" y="3931920"/>
            <a:ext cx="5349240" cy="1600200"/>
          </a:xfrm>
          <a:prstGeom prst="roundRect">
            <a:avLst>
              <a:gd name="adj" fmla="val 5143"/>
            </a:avLst>
          </a:prstGeom>
          <a:solidFill>
            <a:srgbClr val="F5F6F8"/>
          </a:solidFill>
          <a:ln w="12700">
            <a:solidFill>
              <a:srgbClr val="E7E9EE"/>
            </a:solidFill>
            <a:prstDash val="solid"/>
          </a:ln>
        </p:spPr>
      </p:sp>
      <p:sp>
        <p:nvSpPr>
          <p:cNvPr id="19" name="Shape 13"/>
          <p:cNvSpPr/>
          <p:nvPr/>
        </p:nvSpPr>
        <p:spPr>
          <a:xfrm>
            <a:off x="6446520" y="4434840"/>
            <a:ext cx="548640" cy="548640"/>
          </a:xfrm>
          <a:prstGeom prst="ellipse">
            <a:avLst/>
          </a:prstGeom>
          <a:solidFill>
            <a:srgbClr val="D31242"/>
          </a:solidFill>
          <a:ln/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74536" y="4562856"/>
            <a:ext cx="292608" cy="292608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7178040" y="4160520"/>
            <a:ext cx="4114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spend effort deliberately</a:t>
            </a:r>
            <a:endParaRPr lang="en-US" sz="1600" dirty="0"/>
          </a:p>
          <a:p>
            <a:pPr indent="0" marL="0">
              <a:lnSpc>
                <a:spcPct val="110000"/>
              </a:lnSpc>
              <a:buNone/>
            </a:pPr>
            <a:endParaRPr lang="en-US" sz="16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5E6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Modes, models, toggles, and heavy features matched to the task.</a:t>
            </a:r>
            <a:endParaRPr lang="en-US" sz="1600" dirty="0"/>
          </a:p>
        </p:txBody>
      </p:sp>
      <p:sp>
        <p:nvSpPr>
          <p:cNvPr id="22" name="Text 15"/>
          <p:cNvSpPr/>
          <p:nvPr/>
        </p:nvSpPr>
        <p:spPr>
          <a:xfrm>
            <a:off x="64008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8A9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REDUCE USAGE, NOT QUALITY · COMPREHENSIVE</a:t>
            </a:r>
            <a:endParaRPr lang="en-US" sz="850" dirty="0"/>
          </a:p>
        </p:txBody>
      </p:sp>
      <p:sp>
        <p:nvSpPr>
          <p:cNvPr id="23" name="Text 16"/>
          <p:cNvSpPr/>
          <p:nvPr/>
        </p:nvSpPr>
        <p:spPr>
          <a:xfrm>
            <a:off x="6519672" y="641908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i="1" dirty="0">
                <a:solidFill>
                  <a:srgbClr val="8A9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Illustrative training material — not an official BJ's publication</a:t>
            </a:r>
            <a:endParaRPr lang="en-US" sz="8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1F27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48640"/>
            <a:ext cx="137160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88900" dist="38100" dir="5400000">
              <a:srgbClr val="1F2733">
                <a:alpha val="10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640080" y="548640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2000" b="1" spc="-100" kern="0" dirty="0">
                <a:solidFill>
                  <a:srgbClr val="D31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BJ's</a:t>
            </a:r>
            <a:endParaRPr lang="en-US" sz="2000" dirty="0"/>
          </a:p>
          <a:p>
            <a:pPr algn="ctr" indent="0" marL="0">
              <a:lnSpc>
                <a:spcPct val="90000"/>
              </a:lnSpc>
              <a:buNone/>
            </a:pPr>
            <a:r>
              <a:rPr lang="en-US" sz="600" b="1" spc="200" kern="0" dirty="0">
                <a:solidFill>
                  <a:srgbClr val="D312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WHOLESALE CLUB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658368" y="2148840"/>
            <a:ext cx="3246120" cy="457200"/>
          </a:xfrm>
          <a:prstGeom prst="roundRect">
            <a:avLst>
              <a:gd name="adj" fmla="val 24000"/>
            </a:avLst>
          </a:prstGeom>
          <a:solidFill>
            <a:srgbClr val="D31242"/>
          </a:solidFill>
          <a:ln/>
        </p:spPr>
      </p:sp>
      <p:sp>
        <p:nvSpPr>
          <p:cNvPr id="5" name="Text 3"/>
          <p:cNvSpPr/>
          <p:nvPr/>
        </p:nvSpPr>
        <p:spPr>
          <a:xfrm>
            <a:off x="658368" y="214884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OPTIONAL — GO DEEPER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21792" y="2788920"/>
            <a:ext cx="10881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spc="-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</a:t>
            </a:r>
            <a:endParaRPr lang="en-US" sz="5000" dirty="0"/>
          </a:p>
        </p:txBody>
      </p:sp>
      <p:sp>
        <p:nvSpPr>
          <p:cNvPr id="7" name="Text 5"/>
          <p:cNvSpPr/>
          <p:nvPr/>
        </p:nvSpPr>
        <p:spPr>
          <a:xfrm>
            <a:off x="658368" y="3977640"/>
            <a:ext cx="9601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C8CD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AI Champions and admins — the controls behind the habits, plus the math on one real week.</a:t>
            </a:r>
            <a:endParaRPr lang="en-US" sz="18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841248" cy="841248"/>
          </a:xfrm>
          <a:prstGeom prst="ellipse">
            <a:avLst/>
          </a:prstGeom>
          <a:solidFill>
            <a:srgbClr val="5E6A78"/>
          </a:solidFill>
          <a:ln/>
          <a:effectLst>
            <a:outerShdw sx="100000" sy="100000" kx="0" ky="0" algn="bl" rotWithShape="0" blurRad="88900" dist="38100" dir="5400000">
              <a:srgbClr val="1F2733">
                <a:alpha val="10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9536" y="786384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664208" y="548640"/>
            <a:ext cx="9875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E6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OPTIONAL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664208" y="841248"/>
            <a:ext cx="10058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spc="-30" kern="0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 controls: alerts, limits, and access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640080" y="2103120"/>
            <a:ext cx="63093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650" dirty="0">
                <a:solidFill>
                  <a:srgbClr val="3A4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levers are the demand-side fix. The workspace settings are the supply-side guardrails:</a:t>
            </a:r>
            <a:endParaRPr lang="en-US" sz="1650" dirty="0"/>
          </a:p>
          <a:p>
            <a:pPr indent="0" marL="0">
              <a:lnSpc>
                <a:spcPct val="120000"/>
              </a:lnSpc>
              <a:buNone/>
            </a:pPr>
            <a:endParaRPr lang="en-US" sz="16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650" dirty="0">
                <a:solidFill>
                  <a:srgbClr val="3A4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ChatGPT Enterprise: set credit usage alerts and hard overage limits in Workspace settings → Billing — an overage limit of zero blocks overages entirely — and use role-based access to gate Deep Research and heavy features by group.</a:t>
            </a:r>
            <a:endParaRPr lang="en-US" sz="1650" dirty="0"/>
          </a:p>
          <a:p>
            <a:pPr indent="0" marL="0">
              <a:lnSpc>
                <a:spcPct val="120000"/>
              </a:lnSpc>
              <a:buNone/>
            </a:pPr>
            <a:endParaRPr lang="en-US" sz="16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650" dirty="0">
                <a:solidFill>
                  <a:srgbClr val="3A4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Enterprise: review usage by team and set expectations where the meter runs hottest.</a:t>
            </a:r>
            <a:endParaRPr lang="en-US" sz="1650" dirty="0"/>
          </a:p>
          <a:p>
            <a:pPr indent="0" marL="0">
              <a:lnSpc>
                <a:spcPct val="120000"/>
              </a:lnSpc>
              <a:buNone/>
            </a:pPr>
            <a:endParaRPr lang="en-US" sz="16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650" dirty="0">
                <a:solidFill>
                  <a:srgbClr val="3A44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Coach the top spenders before raising any ceiling.</a:t>
            </a:r>
            <a:endParaRPr lang="en-US" sz="1650" dirty="0"/>
          </a:p>
        </p:txBody>
      </p:sp>
      <p:sp>
        <p:nvSpPr>
          <p:cNvPr id="7" name="Shape 4"/>
          <p:cNvSpPr/>
          <p:nvPr/>
        </p:nvSpPr>
        <p:spPr>
          <a:xfrm>
            <a:off x="7269480" y="2103120"/>
            <a:ext cx="4251960" cy="3200400"/>
          </a:xfrm>
          <a:prstGeom prst="roundRect">
            <a:avLst>
              <a:gd name="adj" fmla="val 2571"/>
            </a:avLst>
          </a:prstGeom>
          <a:solidFill>
            <a:srgbClr val="F5F6F8"/>
          </a:solidFill>
          <a:ln w="12700">
            <a:solidFill>
              <a:srgbClr val="E7E9EE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589520" y="23774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5E6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PRACTICE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7589520" y="2834640"/>
            <a:ext cx="365760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limit-extension request becomes a five-minute look at what drained it — then a pointer to the right lever in this deck.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64008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8A9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REDUCE USAGE, NOT QUALITY · COMPREHENSIVE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6519672" y="641908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i="1" dirty="0">
                <a:solidFill>
                  <a:srgbClr val="8A9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Illustrative training material — not an official BJ's publication</a:t>
            </a:r>
            <a:endParaRPr lang="en-US" sz="8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841248" cy="841248"/>
          </a:xfrm>
          <a:prstGeom prst="ellipse">
            <a:avLst/>
          </a:prstGeom>
          <a:solidFill>
            <a:srgbClr val="5E6A78"/>
          </a:solidFill>
          <a:ln/>
          <a:effectLst>
            <a:outerShdw sx="100000" sy="100000" kx="0" ky="0" algn="bl" rotWithShape="0" blurRad="88900" dist="38100" dir="5400000">
              <a:srgbClr val="1F2733">
                <a:alpha val="10000"/>
              </a:srgbClr>
            </a:outerShdw>
          </a:effectLst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9536" y="786384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664208" y="548640"/>
            <a:ext cx="9875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E6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664208" y="841248"/>
            <a:ext cx="10058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spc="-30" kern="0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math on one real week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640080" y="2103120"/>
            <a:ext cx="5303520" cy="3611880"/>
          </a:xfrm>
          <a:prstGeom prst="roundRect">
            <a:avLst>
              <a:gd name="adj" fmla="val 2278"/>
            </a:avLst>
          </a:prstGeom>
          <a:solidFill>
            <a:srgbClr val="F5F6F8"/>
          </a:solidFill>
          <a:ln w="12700">
            <a:solidFill>
              <a:srgbClr val="E7E9EE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914400" y="228600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5E6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PRIYA, BEFORE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914400" y="2578608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i="1" dirty="0">
                <a:solidFill>
                  <a:srgbClr val="5E6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giant chat, 40-page PDF attached twice, thinking always on, five stacked corrections.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914400" y="329184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B91C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ROUGH WEIGHT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914400" y="3611880"/>
            <a:ext cx="4754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400" b="1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300,000+ tokens for one review — the PDF alone is 60,000–120,000 per attach, re-read on every message.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914400" y="502920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E6A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 of it re-reading history and unread pages.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6217920" y="2103120"/>
            <a:ext cx="5303520" cy="3611880"/>
          </a:xfrm>
          <a:prstGeom prst="roundRect">
            <a:avLst>
              <a:gd name="adj" fmla="val 2278"/>
            </a:avLst>
          </a:prstGeom>
          <a:solidFill>
            <a:srgbClr val="DCFCE7"/>
          </a:solidFill>
          <a:ln/>
        </p:spPr>
      </p:sp>
      <p:sp>
        <p:nvSpPr>
          <p:cNvPr id="13" name="Text 10"/>
          <p:cNvSpPr/>
          <p:nvPr/>
        </p:nvSpPr>
        <p:spPr>
          <a:xfrm>
            <a:off x="6492240" y="228600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1580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PRIYA, AFTER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6492240" y="2578608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i="1" dirty="0">
                <a:solidFill>
                  <a:srgbClr val="1580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Template cached in her Project; fresh chat; 6 pages as text; one complete ask; thinking only for the analysis.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6492240" y="329184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580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ROUGH WEIGHT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6492240" y="3611880"/>
            <a:ext cx="4754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400" b="1" dirty="0">
                <a:solidFill>
                  <a:srgbClr val="1F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 30,000 tokens — a tenth of the usage, and a better report.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6492240" y="502920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1580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task. Same person. Different habits.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640080" y="64190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8A9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REDUCE USAGE, NOT QUALITY · COMPREHENSIVE</a:t>
            </a:r>
            <a:endParaRPr lang="en-US" sz="850" dirty="0"/>
          </a:p>
        </p:txBody>
      </p:sp>
      <p:sp>
        <p:nvSpPr>
          <p:cNvPr id="19" name="Text 16"/>
          <p:cNvSpPr/>
          <p:nvPr/>
        </p:nvSpPr>
        <p:spPr>
          <a:xfrm>
            <a:off x="6519672" y="641908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i="1" dirty="0">
                <a:solidFill>
                  <a:srgbClr val="8A9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Illustrative training material — not an official BJ's publication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28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Reduce Usage, Not Quality — Comprehensive</dc:title>
  <dc:subject>PptxGenJS Presentation</dc:subject>
  <dc:creator>BJ's AI Enablement</dc:creator>
  <cp:lastModifiedBy>BJ's AI Enablement</cp:lastModifiedBy>
  <cp:revision>1</cp:revision>
  <dcterms:created xsi:type="dcterms:W3CDTF">2026-07-14T01:38:29Z</dcterms:created>
  <dcterms:modified xsi:type="dcterms:W3CDTF">2026-07-14T01:38:29Z</dcterms:modified>
</cp:coreProperties>
</file>